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Lst>
  <p:sldSz cx="10080625" cy="7559675"/>
  <p:notesSz cx="7772400" cy="10058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381">
          <p15:clr>
            <a:srgbClr val="A4A3A4"/>
          </p15:clr>
        </p15:guide>
        <p15:guide id="2" pos="317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horzBarState="maximized">
    <p:restoredLeft sz="19412" autoAdjust="0"/>
    <p:restoredTop sz="91011" autoAdjust="0"/>
  </p:normalViewPr>
  <p:slideViewPr>
    <p:cSldViewPr snapToGrid="0" snapToObjects="1">
      <p:cViewPr varScale="1">
        <p:scale>
          <a:sx n="100" d="100"/>
          <a:sy n="100" d="100"/>
        </p:scale>
        <p:origin x="-1176" y="-112"/>
      </p:cViewPr>
      <p:guideLst>
        <p:guide orient="horz" pos="2381"/>
        <p:guide pos="317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slide" Target="slides/slide62.xml"/><Relationship Id="rId67" Type="http://schemas.openxmlformats.org/officeDocument/2006/relationships/slide" Target="slides/slide63.xml"/><Relationship Id="rId68" Type="http://schemas.openxmlformats.org/officeDocument/2006/relationships/slide" Target="slides/slide64.xml"/><Relationship Id="rId69" Type="http://schemas.openxmlformats.org/officeDocument/2006/relationships/slide" Target="slides/slide6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70" Type="http://schemas.openxmlformats.org/officeDocument/2006/relationships/slide" Target="slides/slide66.xml"/><Relationship Id="rId71" Type="http://schemas.openxmlformats.org/officeDocument/2006/relationships/slide" Target="slides/slide67.xml"/><Relationship Id="rId72" Type="http://schemas.openxmlformats.org/officeDocument/2006/relationships/slide" Target="slides/slide68.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73" Type="http://schemas.openxmlformats.org/officeDocument/2006/relationships/slide" Target="slides/slide69.xml"/><Relationship Id="rId74" Type="http://schemas.openxmlformats.org/officeDocument/2006/relationships/printerSettings" Target="printerSettings/printerSettings1.bin"/><Relationship Id="rId75" Type="http://schemas.openxmlformats.org/officeDocument/2006/relationships/presProps" Target="presProps.xml"/><Relationship Id="rId76" Type="http://schemas.openxmlformats.org/officeDocument/2006/relationships/viewProps" Target="viewProps.xml"/><Relationship Id="rId77" Type="http://schemas.openxmlformats.org/officeDocument/2006/relationships/theme" Target="theme/theme1.xml"/><Relationship Id="rId78" Type="http://schemas.openxmlformats.org/officeDocument/2006/relationships/tableStyles" Target="tableStyles.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3" name="PlaceHolder 2"/>
          <p:cNvSpPr>
            <a:spLocks noGrp="1"/>
          </p:cNvSpPr>
          <p:nvPr>
            <p:ph type="subTitle"/>
          </p:nvPr>
        </p:nvSpPr>
        <p:spPr>
          <a:xfrm>
            <a:off x="504000" y="1769040"/>
            <a:ext cx="9070920" cy="438372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5" name="PlaceHolder 2"/>
          <p:cNvSpPr>
            <a:spLocks noGrp="1"/>
          </p:cNvSpPr>
          <p:nvPr>
            <p:ph type="body"/>
          </p:nvPr>
        </p:nvSpPr>
        <p:spPr>
          <a:xfrm>
            <a:off x="504000" y="1769040"/>
            <a:ext cx="9070920" cy="438372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7" name="PlaceHolder 2"/>
          <p:cNvSpPr>
            <a:spLocks noGrp="1"/>
          </p:cNvSpPr>
          <p:nvPr>
            <p:ph type="body"/>
          </p:nvPr>
        </p:nvSpPr>
        <p:spPr>
          <a:xfrm>
            <a:off x="504000" y="1769040"/>
            <a:ext cx="4426560" cy="438372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8" name="PlaceHolder 3"/>
          <p:cNvSpPr>
            <a:spLocks noGrp="1"/>
          </p:cNvSpPr>
          <p:nvPr>
            <p:ph type="body"/>
          </p:nvPr>
        </p:nvSpPr>
        <p:spPr>
          <a:xfrm>
            <a:off x="5152320" y="1769040"/>
            <a:ext cx="4426560" cy="438372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504000" y="301320"/>
            <a:ext cx="9070920" cy="584856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2" name="PlaceHolder 2"/>
          <p:cNvSpPr>
            <a:spLocks noGrp="1"/>
          </p:cNvSpPr>
          <p:nvPr>
            <p:ph type="body"/>
          </p:nvPr>
        </p:nvSpPr>
        <p:spPr>
          <a:xfrm>
            <a:off x="504000" y="176904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3" name="PlaceHolder 3"/>
          <p:cNvSpPr>
            <a:spLocks noGrp="1"/>
          </p:cNvSpPr>
          <p:nvPr>
            <p:ph type="body"/>
          </p:nvPr>
        </p:nvSpPr>
        <p:spPr>
          <a:xfrm>
            <a:off x="504000" y="405900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4" name="PlaceHolder 4"/>
          <p:cNvSpPr>
            <a:spLocks noGrp="1"/>
          </p:cNvSpPr>
          <p:nvPr>
            <p:ph type="body"/>
          </p:nvPr>
        </p:nvSpPr>
        <p:spPr>
          <a:xfrm>
            <a:off x="5152320" y="1769040"/>
            <a:ext cx="4426560" cy="438372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6" name="PlaceHolder 2"/>
          <p:cNvSpPr>
            <a:spLocks noGrp="1"/>
          </p:cNvSpPr>
          <p:nvPr>
            <p:ph type="body"/>
          </p:nvPr>
        </p:nvSpPr>
        <p:spPr>
          <a:xfrm>
            <a:off x="504000" y="1769040"/>
            <a:ext cx="4426560" cy="438372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7" name="PlaceHolder 3"/>
          <p:cNvSpPr>
            <a:spLocks noGrp="1"/>
          </p:cNvSpPr>
          <p:nvPr>
            <p:ph type="body"/>
          </p:nvPr>
        </p:nvSpPr>
        <p:spPr>
          <a:xfrm>
            <a:off x="5152320" y="176904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8" name="PlaceHolder 4"/>
          <p:cNvSpPr>
            <a:spLocks noGrp="1"/>
          </p:cNvSpPr>
          <p:nvPr>
            <p:ph type="body"/>
          </p:nvPr>
        </p:nvSpPr>
        <p:spPr>
          <a:xfrm>
            <a:off x="5152320" y="405900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20" name="PlaceHolder 2"/>
          <p:cNvSpPr>
            <a:spLocks noGrp="1"/>
          </p:cNvSpPr>
          <p:nvPr>
            <p:ph type="body"/>
          </p:nvPr>
        </p:nvSpPr>
        <p:spPr>
          <a:xfrm>
            <a:off x="504000" y="176904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21" name="PlaceHolder 3"/>
          <p:cNvSpPr>
            <a:spLocks noGrp="1"/>
          </p:cNvSpPr>
          <p:nvPr>
            <p:ph type="body"/>
          </p:nvPr>
        </p:nvSpPr>
        <p:spPr>
          <a:xfrm>
            <a:off x="5152320" y="176904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22" name="PlaceHolder 4"/>
          <p:cNvSpPr>
            <a:spLocks noGrp="1"/>
          </p:cNvSpPr>
          <p:nvPr>
            <p:ph type="body"/>
          </p:nvPr>
        </p:nvSpPr>
        <p:spPr>
          <a:xfrm>
            <a:off x="504000" y="4059000"/>
            <a:ext cx="907092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24" name="PlaceHolder 2"/>
          <p:cNvSpPr>
            <a:spLocks noGrp="1"/>
          </p:cNvSpPr>
          <p:nvPr>
            <p:ph type="body"/>
          </p:nvPr>
        </p:nvSpPr>
        <p:spPr>
          <a:xfrm>
            <a:off x="504000" y="1769040"/>
            <a:ext cx="907092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25" name="PlaceHolder 3"/>
          <p:cNvSpPr>
            <a:spLocks noGrp="1"/>
          </p:cNvSpPr>
          <p:nvPr>
            <p:ph type="body"/>
          </p:nvPr>
        </p:nvSpPr>
        <p:spPr>
          <a:xfrm>
            <a:off x="504000" y="4059000"/>
            <a:ext cx="907092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27" name="PlaceHolder 2"/>
          <p:cNvSpPr>
            <a:spLocks noGrp="1"/>
          </p:cNvSpPr>
          <p:nvPr>
            <p:ph type="body"/>
          </p:nvPr>
        </p:nvSpPr>
        <p:spPr>
          <a:xfrm>
            <a:off x="504000" y="176904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28" name="PlaceHolder 3"/>
          <p:cNvSpPr>
            <a:spLocks noGrp="1"/>
          </p:cNvSpPr>
          <p:nvPr>
            <p:ph type="body"/>
          </p:nvPr>
        </p:nvSpPr>
        <p:spPr>
          <a:xfrm>
            <a:off x="5152320" y="176904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29" name="PlaceHolder 4"/>
          <p:cNvSpPr>
            <a:spLocks noGrp="1"/>
          </p:cNvSpPr>
          <p:nvPr>
            <p:ph type="body"/>
          </p:nvPr>
        </p:nvSpPr>
        <p:spPr>
          <a:xfrm>
            <a:off x="5152320" y="405900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30" name="PlaceHolder 5"/>
          <p:cNvSpPr>
            <a:spLocks noGrp="1"/>
          </p:cNvSpPr>
          <p:nvPr>
            <p:ph type="body"/>
          </p:nvPr>
        </p:nvSpPr>
        <p:spPr>
          <a:xfrm>
            <a:off x="504000" y="405900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32" name="PlaceHolder 2"/>
          <p:cNvSpPr>
            <a:spLocks noGrp="1"/>
          </p:cNvSpPr>
          <p:nvPr>
            <p:ph type="body"/>
          </p:nvPr>
        </p:nvSpPr>
        <p:spPr>
          <a:xfrm>
            <a:off x="504000" y="1769040"/>
            <a:ext cx="9070920" cy="438372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33" name="PlaceHolder 3"/>
          <p:cNvSpPr>
            <a:spLocks noGrp="1"/>
          </p:cNvSpPr>
          <p:nvPr>
            <p:ph type="body"/>
          </p:nvPr>
        </p:nvSpPr>
        <p:spPr>
          <a:xfrm>
            <a:off x="504000" y="1769040"/>
            <a:ext cx="9070920" cy="438372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pic>
        <p:nvPicPr>
          <p:cNvPr id="34" name="Picture 33"/>
          <p:cNvPicPr/>
          <p:nvPr/>
        </p:nvPicPr>
        <p:blipFill>
          <a:blip r:embed="rId2"/>
          <a:stretch/>
        </p:blipFill>
        <p:spPr>
          <a:xfrm>
            <a:off x="2292120" y="1768680"/>
            <a:ext cx="5494320" cy="4383720"/>
          </a:xfrm>
          <a:prstGeom prst="rect">
            <a:avLst/>
          </a:prstGeom>
          <a:ln>
            <a:noFill/>
          </a:ln>
        </p:spPr>
      </p:pic>
      <p:pic>
        <p:nvPicPr>
          <p:cNvPr id="35" name="Picture 34"/>
          <p:cNvPicPr/>
          <p:nvPr/>
        </p:nvPicPr>
        <p:blipFill>
          <a:blip r:embed="rId2"/>
          <a:stretch/>
        </p:blipFill>
        <p:spPr>
          <a:xfrm>
            <a:off x="2292120" y="1768680"/>
            <a:ext cx="5494320" cy="4383720"/>
          </a:xfrm>
          <a:prstGeom prst="rect">
            <a:avLst/>
          </a:prstGeom>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8"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39" name="PlaceHolder 2"/>
          <p:cNvSpPr>
            <a:spLocks noGrp="1"/>
          </p:cNvSpPr>
          <p:nvPr>
            <p:ph type="subTitle"/>
          </p:nvPr>
        </p:nvSpPr>
        <p:spPr>
          <a:xfrm>
            <a:off x="504000" y="1769040"/>
            <a:ext cx="9070920" cy="438372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0"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41" name="PlaceHolder 2"/>
          <p:cNvSpPr>
            <a:spLocks noGrp="1"/>
          </p:cNvSpPr>
          <p:nvPr>
            <p:ph type="body"/>
          </p:nvPr>
        </p:nvSpPr>
        <p:spPr>
          <a:xfrm>
            <a:off x="504000" y="1769040"/>
            <a:ext cx="9070920" cy="438372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43" name="PlaceHolder 2"/>
          <p:cNvSpPr>
            <a:spLocks noGrp="1"/>
          </p:cNvSpPr>
          <p:nvPr>
            <p:ph type="body"/>
          </p:nvPr>
        </p:nvSpPr>
        <p:spPr>
          <a:xfrm>
            <a:off x="504000" y="1769040"/>
            <a:ext cx="4426560" cy="438372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44" name="PlaceHolder 3"/>
          <p:cNvSpPr>
            <a:spLocks noGrp="1"/>
          </p:cNvSpPr>
          <p:nvPr>
            <p:ph type="body"/>
          </p:nvPr>
        </p:nvSpPr>
        <p:spPr>
          <a:xfrm>
            <a:off x="5152320" y="1769040"/>
            <a:ext cx="4426560" cy="438372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5"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46" name="PlaceHolder 1"/>
          <p:cNvSpPr>
            <a:spLocks noGrp="1"/>
          </p:cNvSpPr>
          <p:nvPr>
            <p:ph type="subTitle"/>
          </p:nvPr>
        </p:nvSpPr>
        <p:spPr>
          <a:xfrm>
            <a:off x="504000" y="301320"/>
            <a:ext cx="9070920" cy="584856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48" name="PlaceHolder 2"/>
          <p:cNvSpPr>
            <a:spLocks noGrp="1"/>
          </p:cNvSpPr>
          <p:nvPr>
            <p:ph type="body"/>
          </p:nvPr>
        </p:nvSpPr>
        <p:spPr>
          <a:xfrm>
            <a:off x="504000" y="176904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49" name="PlaceHolder 3"/>
          <p:cNvSpPr>
            <a:spLocks noGrp="1"/>
          </p:cNvSpPr>
          <p:nvPr>
            <p:ph type="body"/>
          </p:nvPr>
        </p:nvSpPr>
        <p:spPr>
          <a:xfrm>
            <a:off x="504000" y="405900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50" name="PlaceHolder 4"/>
          <p:cNvSpPr>
            <a:spLocks noGrp="1"/>
          </p:cNvSpPr>
          <p:nvPr>
            <p:ph type="body"/>
          </p:nvPr>
        </p:nvSpPr>
        <p:spPr>
          <a:xfrm>
            <a:off x="5152320" y="1769040"/>
            <a:ext cx="4426560" cy="438372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52" name="PlaceHolder 2"/>
          <p:cNvSpPr>
            <a:spLocks noGrp="1"/>
          </p:cNvSpPr>
          <p:nvPr>
            <p:ph type="body"/>
          </p:nvPr>
        </p:nvSpPr>
        <p:spPr>
          <a:xfrm>
            <a:off x="504000" y="1769040"/>
            <a:ext cx="4426560" cy="438372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53" name="PlaceHolder 3"/>
          <p:cNvSpPr>
            <a:spLocks noGrp="1"/>
          </p:cNvSpPr>
          <p:nvPr>
            <p:ph type="body"/>
          </p:nvPr>
        </p:nvSpPr>
        <p:spPr>
          <a:xfrm>
            <a:off x="5152320" y="176904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54" name="PlaceHolder 4"/>
          <p:cNvSpPr>
            <a:spLocks noGrp="1"/>
          </p:cNvSpPr>
          <p:nvPr>
            <p:ph type="body"/>
          </p:nvPr>
        </p:nvSpPr>
        <p:spPr>
          <a:xfrm>
            <a:off x="5152320" y="405900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56" name="PlaceHolder 2"/>
          <p:cNvSpPr>
            <a:spLocks noGrp="1"/>
          </p:cNvSpPr>
          <p:nvPr>
            <p:ph type="body"/>
          </p:nvPr>
        </p:nvSpPr>
        <p:spPr>
          <a:xfrm>
            <a:off x="504000" y="176904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57" name="PlaceHolder 3"/>
          <p:cNvSpPr>
            <a:spLocks noGrp="1"/>
          </p:cNvSpPr>
          <p:nvPr>
            <p:ph type="body"/>
          </p:nvPr>
        </p:nvSpPr>
        <p:spPr>
          <a:xfrm>
            <a:off x="5152320" y="176904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58" name="PlaceHolder 4"/>
          <p:cNvSpPr>
            <a:spLocks noGrp="1"/>
          </p:cNvSpPr>
          <p:nvPr>
            <p:ph type="body"/>
          </p:nvPr>
        </p:nvSpPr>
        <p:spPr>
          <a:xfrm>
            <a:off x="504000" y="4059000"/>
            <a:ext cx="907092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60" name="PlaceHolder 2"/>
          <p:cNvSpPr>
            <a:spLocks noGrp="1"/>
          </p:cNvSpPr>
          <p:nvPr>
            <p:ph type="body"/>
          </p:nvPr>
        </p:nvSpPr>
        <p:spPr>
          <a:xfrm>
            <a:off x="504000" y="1769040"/>
            <a:ext cx="907092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61" name="PlaceHolder 3"/>
          <p:cNvSpPr>
            <a:spLocks noGrp="1"/>
          </p:cNvSpPr>
          <p:nvPr>
            <p:ph type="body"/>
          </p:nvPr>
        </p:nvSpPr>
        <p:spPr>
          <a:xfrm>
            <a:off x="504000" y="4059000"/>
            <a:ext cx="907092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63" name="PlaceHolder 2"/>
          <p:cNvSpPr>
            <a:spLocks noGrp="1"/>
          </p:cNvSpPr>
          <p:nvPr>
            <p:ph type="body"/>
          </p:nvPr>
        </p:nvSpPr>
        <p:spPr>
          <a:xfrm>
            <a:off x="504000" y="176904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64" name="PlaceHolder 3"/>
          <p:cNvSpPr>
            <a:spLocks noGrp="1"/>
          </p:cNvSpPr>
          <p:nvPr>
            <p:ph type="body"/>
          </p:nvPr>
        </p:nvSpPr>
        <p:spPr>
          <a:xfrm>
            <a:off x="5152320" y="176904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65" name="PlaceHolder 4"/>
          <p:cNvSpPr>
            <a:spLocks noGrp="1"/>
          </p:cNvSpPr>
          <p:nvPr>
            <p:ph type="body"/>
          </p:nvPr>
        </p:nvSpPr>
        <p:spPr>
          <a:xfrm>
            <a:off x="5152320" y="405900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66" name="PlaceHolder 5"/>
          <p:cNvSpPr>
            <a:spLocks noGrp="1"/>
          </p:cNvSpPr>
          <p:nvPr>
            <p:ph type="body"/>
          </p:nvPr>
        </p:nvSpPr>
        <p:spPr>
          <a:xfrm>
            <a:off x="504000" y="405900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68" name="PlaceHolder 2"/>
          <p:cNvSpPr>
            <a:spLocks noGrp="1"/>
          </p:cNvSpPr>
          <p:nvPr>
            <p:ph type="body"/>
          </p:nvPr>
        </p:nvSpPr>
        <p:spPr>
          <a:xfrm>
            <a:off x="504000" y="1769040"/>
            <a:ext cx="9070920" cy="438372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69" name="PlaceHolder 3"/>
          <p:cNvSpPr>
            <a:spLocks noGrp="1"/>
          </p:cNvSpPr>
          <p:nvPr>
            <p:ph type="body"/>
          </p:nvPr>
        </p:nvSpPr>
        <p:spPr>
          <a:xfrm>
            <a:off x="504000" y="1769040"/>
            <a:ext cx="9070920" cy="438372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pic>
        <p:nvPicPr>
          <p:cNvPr id="70" name="Picture 69"/>
          <p:cNvPicPr/>
          <p:nvPr/>
        </p:nvPicPr>
        <p:blipFill>
          <a:blip r:embed="rId2"/>
          <a:stretch/>
        </p:blipFill>
        <p:spPr>
          <a:xfrm>
            <a:off x="2292120" y="1768680"/>
            <a:ext cx="5494320" cy="4383720"/>
          </a:xfrm>
          <a:prstGeom prst="rect">
            <a:avLst/>
          </a:prstGeom>
          <a:ln>
            <a:noFill/>
          </a:ln>
        </p:spPr>
      </p:pic>
      <p:pic>
        <p:nvPicPr>
          <p:cNvPr id="71" name="Picture 70"/>
          <p:cNvPicPr/>
          <p:nvPr/>
        </p:nvPicPr>
        <p:blipFill>
          <a:blip r:embed="rId2"/>
          <a:stretch/>
        </p:blipFill>
        <p:spPr>
          <a:xfrm>
            <a:off x="2292120" y="1768680"/>
            <a:ext cx="5494320" cy="4383720"/>
          </a:xfrm>
          <a:prstGeom prst="rect">
            <a:avLst/>
          </a:prstGeom>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4"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75" name="PlaceHolder 2"/>
          <p:cNvSpPr>
            <a:spLocks noGrp="1"/>
          </p:cNvSpPr>
          <p:nvPr>
            <p:ph type="subTitle"/>
          </p:nvPr>
        </p:nvSpPr>
        <p:spPr>
          <a:xfrm>
            <a:off x="504000" y="1769040"/>
            <a:ext cx="9070920" cy="438372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77" name="PlaceHolder 2"/>
          <p:cNvSpPr>
            <a:spLocks noGrp="1"/>
          </p:cNvSpPr>
          <p:nvPr>
            <p:ph type="body"/>
          </p:nvPr>
        </p:nvSpPr>
        <p:spPr>
          <a:xfrm>
            <a:off x="504000" y="1769040"/>
            <a:ext cx="9070920" cy="438372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8"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79" name="PlaceHolder 2"/>
          <p:cNvSpPr>
            <a:spLocks noGrp="1"/>
          </p:cNvSpPr>
          <p:nvPr>
            <p:ph type="body"/>
          </p:nvPr>
        </p:nvSpPr>
        <p:spPr>
          <a:xfrm>
            <a:off x="504000" y="1769040"/>
            <a:ext cx="4426560" cy="438372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80" name="PlaceHolder 3"/>
          <p:cNvSpPr>
            <a:spLocks noGrp="1"/>
          </p:cNvSpPr>
          <p:nvPr>
            <p:ph type="body"/>
          </p:nvPr>
        </p:nvSpPr>
        <p:spPr>
          <a:xfrm>
            <a:off x="5152320" y="1769040"/>
            <a:ext cx="4426560" cy="438372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1"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2" name="PlaceHolder 1"/>
          <p:cNvSpPr>
            <a:spLocks noGrp="1"/>
          </p:cNvSpPr>
          <p:nvPr>
            <p:ph type="subTitle"/>
          </p:nvPr>
        </p:nvSpPr>
        <p:spPr>
          <a:xfrm>
            <a:off x="504000" y="301320"/>
            <a:ext cx="9070920" cy="584856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3"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84" name="PlaceHolder 2"/>
          <p:cNvSpPr>
            <a:spLocks noGrp="1"/>
          </p:cNvSpPr>
          <p:nvPr>
            <p:ph type="body"/>
          </p:nvPr>
        </p:nvSpPr>
        <p:spPr>
          <a:xfrm>
            <a:off x="504000" y="176904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85" name="PlaceHolder 3"/>
          <p:cNvSpPr>
            <a:spLocks noGrp="1"/>
          </p:cNvSpPr>
          <p:nvPr>
            <p:ph type="body"/>
          </p:nvPr>
        </p:nvSpPr>
        <p:spPr>
          <a:xfrm>
            <a:off x="504000" y="405900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86" name="PlaceHolder 4"/>
          <p:cNvSpPr>
            <a:spLocks noGrp="1"/>
          </p:cNvSpPr>
          <p:nvPr>
            <p:ph type="body"/>
          </p:nvPr>
        </p:nvSpPr>
        <p:spPr>
          <a:xfrm>
            <a:off x="5152320" y="1769040"/>
            <a:ext cx="4426560" cy="438372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88" name="PlaceHolder 2"/>
          <p:cNvSpPr>
            <a:spLocks noGrp="1"/>
          </p:cNvSpPr>
          <p:nvPr>
            <p:ph type="body"/>
          </p:nvPr>
        </p:nvSpPr>
        <p:spPr>
          <a:xfrm>
            <a:off x="504000" y="1769040"/>
            <a:ext cx="4426560" cy="438372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89" name="PlaceHolder 3"/>
          <p:cNvSpPr>
            <a:spLocks noGrp="1"/>
          </p:cNvSpPr>
          <p:nvPr>
            <p:ph type="body"/>
          </p:nvPr>
        </p:nvSpPr>
        <p:spPr>
          <a:xfrm>
            <a:off x="5152320" y="176904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90" name="PlaceHolder 4"/>
          <p:cNvSpPr>
            <a:spLocks noGrp="1"/>
          </p:cNvSpPr>
          <p:nvPr>
            <p:ph type="body"/>
          </p:nvPr>
        </p:nvSpPr>
        <p:spPr>
          <a:xfrm>
            <a:off x="5152320" y="405900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92" name="PlaceHolder 2"/>
          <p:cNvSpPr>
            <a:spLocks noGrp="1"/>
          </p:cNvSpPr>
          <p:nvPr>
            <p:ph type="body"/>
          </p:nvPr>
        </p:nvSpPr>
        <p:spPr>
          <a:xfrm>
            <a:off x="504000" y="176904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93" name="PlaceHolder 3"/>
          <p:cNvSpPr>
            <a:spLocks noGrp="1"/>
          </p:cNvSpPr>
          <p:nvPr>
            <p:ph type="body"/>
          </p:nvPr>
        </p:nvSpPr>
        <p:spPr>
          <a:xfrm>
            <a:off x="5152320" y="176904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94" name="PlaceHolder 4"/>
          <p:cNvSpPr>
            <a:spLocks noGrp="1"/>
          </p:cNvSpPr>
          <p:nvPr>
            <p:ph type="body"/>
          </p:nvPr>
        </p:nvSpPr>
        <p:spPr>
          <a:xfrm>
            <a:off x="504000" y="4059000"/>
            <a:ext cx="907092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96" name="PlaceHolder 2"/>
          <p:cNvSpPr>
            <a:spLocks noGrp="1"/>
          </p:cNvSpPr>
          <p:nvPr>
            <p:ph type="body"/>
          </p:nvPr>
        </p:nvSpPr>
        <p:spPr>
          <a:xfrm>
            <a:off x="504000" y="1769040"/>
            <a:ext cx="907092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97" name="PlaceHolder 3"/>
          <p:cNvSpPr>
            <a:spLocks noGrp="1"/>
          </p:cNvSpPr>
          <p:nvPr>
            <p:ph type="body"/>
          </p:nvPr>
        </p:nvSpPr>
        <p:spPr>
          <a:xfrm>
            <a:off x="504000" y="4059000"/>
            <a:ext cx="907092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99" name="PlaceHolder 2"/>
          <p:cNvSpPr>
            <a:spLocks noGrp="1"/>
          </p:cNvSpPr>
          <p:nvPr>
            <p:ph type="body"/>
          </p:nvPr>
        </p:nvSpPr>
        <p:spPr>
          <a:xfrm>
            <a:off x="504000" y="176904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00" name="PlaceHolder 3"/>
          <p:cNvSpPr>
            <a:spLocks noGrp="1"/>
          </p:cNvSpPr>
          <p:nvPr>
            <p:ph type="body"/>
          </p:nvPr>
        </p:nvSpPr>
        <p:spPr>
          <a:xfrm>
            <a:off x="5152320" y="176904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01" name="PlaceHolder 4"/>
          <p:cNvSpPr>
            <a:spLocks noGrp="1"/>
          </p:cNvSpPr>
          <p:nvPr>
            <p:ph type="body"/>
          </p:nvPr>
        </p:nvSpPr>
        <p:spPr>
          <a:xfrm>
            <a:off x="5152320" y="405900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02" name="PlaceHolder 5"/>
          <p:cNvSpPr>
            <a:spLocks noGrp="1"/>
          </p:cNvSpPr>
          <p:nvPr>
            <p:ph type="body"/>
          </p:nvPr>
        </p:nvSpPr>
        <p:spPr>
          <a:xfrm>
            <a:off x="504000" y="405900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04" name="PlaceHolder 2"/>
          <p:cNvSpPr>
            <a:spLocks noGrp="1"/>
          </p:cNvSpPr>
          <p:nvPr>
            <p:ph type="body"/>
          </p:nvPr>
        </p:nvSpPr>
        <p:spPr>
          <a:xfrm>
            <a:off x="504000" y="1769040"/>
            <a:ext cx="9070920" cy="438372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05" name="PlaceHolder 3"/>
          <p:cNvSpPr>
            <a:spLocks noGrp="1"/>
          </p:cNvSpPr>
          <p:nvPr>
            <p:ph type="body"/>
          </p:nvPr>
        </p:nvSpPr>
        <p:spPr>
          <a:xfrm>
            <a:off x="504000" y="1769040"/>
            <a:ext cx="9070920" cy="438372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pic>
        <p:nvPicPr>
          <p:cNvPr id="106" name="Picture 105"/>
          <p:cNvPicPr/>
          <p:nvPr/>
        </p:nvPicPr>
        <p:blipFill>
          <a:blip r:embed="rId2"/>
          <a:stretch/>
        </p:blipFill>
        <p:spPr>
          <a:xfrm>
            <a:off x="2292120" y="1768680"/>
            <a:ext cx="5494320" cy="4383720"/>
          </a:xfrm>
          <a:prstGeom prst="rect">
            <a:avLst/>
          </a:prstGeom>
          <a:ln>
            <a:noFill/>
          </a:ln>
        </p:spPr>
      </p:pic>
      <p:pic>
        <p:nvPicPr>
          <p:cNvPr id="107" name="Picture 106"/>
          <p:cNvPicPr/>
          <p:nvPr/>
        </p:nvPicPr>
        <p:blipFill>
          <a:blip r:embed="rId2"/>
          <a:stretch/>
        </p:blipFill>
        <p:spPr>
          <a:xfrm>
            <a:off x="2292120" y="1768680"/>
            <a:ext cx="5494320" cy="4383720"/>
          </a:xfrm>
          <a:prstGeom prst="rect">
            <a:avLst/>
          </a:prstGeom>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11"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12" name="PlaceHolder 2"/>
          <p:cNvSpPr>
            <a:spLocks noGrp="1"/>
          </p:cNvSpPr>
          <p:nvPr>
            <p:ph type="subTitle"/>
          </p:nvPr>
        </p:nvSpPr>
        <p:spPr>
          <a:xfrm>
            <a:off x="504000" y="1769040"/>
            <a:ext cx="9070920" cy="438372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14" name="PlaceHolder 2"/>
          <p:cNvSpPr>
            <a:spLocks noGrp="1"/>
          </p:cNvSpPr>
          <p:nvPr>
            <p:ph type="body"/>
          </p:nvPr>
        </p:nvSpPr>
        <p:spPr>
          <a:xfrm>
            <a:off x="504000" y="1769040"/>
            <a:ext cx="9070920" cy="438372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15"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16" name="PlaceHolder 2"/>
          <p:cNvSpPr>
            <a:spLocks noGrp="1"/>
          </p:cNvSpPr>
          <p:nvPr>
            <p:ph type="body"/>
          </p:nvPr>
        </p:nvSpPr>
        <p:spPr>
          <a:xfrm>
            <a:off x="504000" y="1769040"/>
            <a:ext cx="4426560" cy="438372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17" name="PlaceHolder 3"/>
          <p:cNvSpPr>
            <a:spLocks noGrp="1"/>
          </p:cNvSpPr>
          <p:nvPr>
            <p:ph type="body"/>
          </p:nvPr>
        </p:nvSpPr>
        <p:spPr>
          <a:xfrm>
            <a:off x="5152320" y="1769040"/>
            <a:ext cx="4426560" cy="438372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18"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9" name="PlaceHolder 1"/>
          <p:cNvSpPr>
            <a:spLocks noGrp="1"/>
          </p:cNvSpPr>
          <p:nvPr>
            <p:ph type="subTitle"/>
          </p:nvPr>
        </p:nvSpPr>
        <p:spPr>
          <a:xfrm>
            <a:off x="504000" y="301320"/>
            <a:ext cx="9070920" cy="584856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0"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21" name="PlaceHolder 2"/>
          <p:cNvSpPr>
            <a:spLocks noGrp="1"/>
          </p:cNvSpPr>
          <p:nvPr>
            <p:ph type="body"/>
          </p:nvPr>
        </p:nvSpPr>
        <p:spPr>
          <a:xfrm>
            <a:off x="504000" y="176904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22" name="PlaceHolder 3"/>
          <p:cNvSpPr>
            <a:spLocks noGrp="1"/>
          </p:cNvSpPr>
          <p:nvPr>
            <p:ph type="body"/>
          </p:nvPr>
        </p:nvSpPr>
        <p:spPr>
          <a:xfrm>
            <a:off x="504000" y="405900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23" name="PlaceHolder 4"/>
          <p:cNvSpPr>
            <a:spLocks noGrp="1"/>
          </p:cNvSpPr>
          <p:nvPr>
            <p:ph type="body"/>
          </p:nvPr>
        </p:nvSpPr>
        <p:spPr>
          <a:xfrm>
            <a:off x="5152320" y="1769040"/>
            <a:ext cx="4426560" cy="438372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24"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25" name="PlaceHolder 2"/>
          <p:cNvSpPr>
            <a:spLocks noGrp="1"/>
          </p:cNvSpPr>
          <p:nvPr>
            <p:ph type="body"/>
          </p:nvPr>
        </p:nvSpPr>
        <p:spPr>
          <a:xfrm>
            <a:off x="504000" y="1769040"/>
            <a:ext cx="4426560" cy="438372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26" name="PlaceHolder 3"/>
          <p:cNvSpPr>
            <a:spLocks noGrp="1"/>
          </p:cNvSpPr>
          <p:nvPr>
            <p:ph type="body"/>
          </p:nvPr>
        </p:nvSpPr>
        <p:spPr>
          <a:xfrm>
            <a:off x="5152320" y="176904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27" name="PlaceHolder 4"/>
          <p:cNvSpPr>
            <a:spLocks noGrp="1"/>
          </p:cNvSpPr>
          <p:nvPr>
            <p:ph type="body"/>
          </p:nvPr>
        </p:nvSpPr>
        <p:spPr>
          <a:xfrm>
            <a:off x="5152320" y="405900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28"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29" name="PlaceHolder 2"/>
          <p:cNvSpPr>
            <a:spLocks noGrp="1"/>
          </p:cNvSpPr>
          <p:nvPr>
            <p:ph type="body"/>
          </p:nvPr>
        </p:nvSpPr>
        <p:spPr>
          <a:xfrm>
            <a:off x="504000" y="176904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30" name="PlaceHolder 3"/>
          <p:cNvSpPr>
            <a:spLocks noGrp="1"/>
          </p:cNvSpPr>
          <p:nvPr>
            <p:ph type="body"/>
          </p:nvPr>
        </p:nvSpPr>
        <p:spPr>
          <a:xfrm>
            <a:off x="5152320" y="176904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31" name="PlaceHolder 4"/>
          <p:cNvSpPr>
            <a:spLocks noGrp="1"/>
          </p:cNvSpPr>
          <p:nvPr>
            <p:ph type="body"/>
          </p:nvPr>
        </p:nvSpPr>
        <p:spPr>
          <a:xfrm>
            <a:off x="504000" y="4059000"/>
            <a:ext cx="907092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32"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33" name="PlaceHolder 2"/>
          <p:cNvSpPr>
            <a:spLocks noGrp="1"/>
          </p:cNvSpPr>
          <p:nvPr>
            <p:ph type="body"/>
          </p:nvPr>
        </p:nvSpPr>
        <p:spPr>
          <a:xfrm>
            <a:off x="504000" y="1769040"/>
            <a:ext cx="907092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34" name="PlaceHolder 3"/>
          <p:cNvSpPr>
            <a:spLocks noGrp="1"/>
          </p:cNvSpPr>
          <p:nvPr>
            <p:ph type="body"/>
          </p:nvPr>
        </p:nvSpPr>
        <p:spPr>
          <a:xfrm>
            <a:off x="504000" y="4059000"/>
            <a:ext cx="907092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35"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36" name="PlaceHolder 2"/>
          <p:cNvSpPr>
            <a:spLocks noGrp="1"/>
          </p:cNvSpPr>
          <p:nvPr>
            <p:ph type="body"/>
          </p:nvPr>
        </p:nvSpPr>
        <p:spPr>
          <a:xfrm>
            <a:off x="504000" y="176904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37" name="PlaceHolder 3"/>
          <p:cNvSpPr>
            <a:spLocks noGrp="1"/>
          </p:cNvSpPr>
          <p:nvPr>
            <p:ph type="body"/>
          </p:nvPr>
        </p:nvSpPr>
        <p:spPr>
          <a:xfrm>
            <a:off x="5152320" y="176904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38" name="PlaceHolder 4"/>
          <p:cNvSpPr>
            <a:spLocks noGrp="1"/>
          </p:cNvSpPr>
          <p:nvPr>
            <p:ph type="body"/>
          </p:nvPr>
        </p:nvSpPr>
        <p:spPr>
          <a:xfrm>
            <a:off x="5152320" y="405900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39" name="PlaceHolder 5"/>
          <p:cNvSpPr>
            <a:spLocks noGrp="1"/>
          </p:cNvSpPr>
          <p:nvPr>
            <p:ph type="body"/>
          </p:nvPr>
        </p:nvSpPr>
        <p:spPr>
          <a:xfrm>
            <a:off x="504000" y="4059000"/>
            <a:ext cx="4426560" cy="20908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41" name="PlaceHolder 2"/>
          <p:cNvSpPr>
            <a:spLocks noGrp="1"/>
          </p:cNvSpPr>
          <p:nvPr>
            <p:ph type="body"/>
          </p:nvPr>
        </p:nvSpPr>
        <p:spPr>
          <a:xfrm>
            <a:off x="504000" y="1769040"/>
            <a:ext cx="9070920" cy="438372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42" name="PlaceHolder 3"/>
          <p:cNvSpPr>
            <a:spLocks noGrp="1"/>
          </p:cNvSpPr>
          <p:nvPr>
            <p:ph type="body"/>
          </p:nvPr>
        </p:nvSpPr>
        <p:spPr>
          <a:xfrm>
            <a:off x="504000" y="1769040"/>
            <a:ext cx="9070920" cy="438372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pic>
        <p:nvPicPr>
          <p:cNvPr id="143" name="Picture 142"/>
          <p:cNvPicPr/>
          <p:nvPr/>
        </p:nvPicPr>
        <p:blipFill>
          <a:blip r:embed="rId2"/>
          <a:stretch/>
        </p:blipFill>
        <p:spPr>
          <a:xfrm>
            <a:off x="2292120" y="1768680"/>
            <a:ext cx="5494320" cy="4383720"/>
          </a:xfrm>
          <a:prstGeom prst="rect">
            <a:avLst/>
          </a:prstGeom>
          <a:ln>
            <a:noFill/>
          </a:ln>
        </p:spPr>
      </p:pic>
      <p:pic>
        <p:nvPicPr>
          <p:cNvPr id="144" name="Picture 143"/>
          <p:cNvPicPr/>
          <p:nvPr/>
        </p:nvPicPr>
        <p:blipFill>
          <a:blip r:embed="rId2"/>
          <a:stretch/>
        </p:blipFill>
        <p:spPr>
          <a:xfrm>
            <a:off x="2292120" y="1768680"/>
            <a:ext cx="5494320" cy="4383720"/>
          </a:xfrm>
          <a:prstGeom prst="rect">
            <a:avLst/>
          </a:prstGeom>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jpe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2.xml"/><Relationship Id="rId14" Type="http://schemas.openxmlformats.org/officeDocument/2006/relationships/image" Target="../media/image1.jpeg"/><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5.xml"/><Relationship Id="rId12" Type="http://schemas.openxmlformats.org/officeDocument/2006/relationships/slideLayout" Target="../slideLayouts/slideLayout36.xml"/><Relationship Id="rId13" Type="http://schemas.openxmlformats.org/officeDocument/2006/relationships/theme" Target="../theme/theme3.xml"/><Relationship Id="rId14" Type="http://schemas.openxmlformats.org/officeDocument/2006/relationships/image" Target="../media/image1.jpeg"/><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9" Type="http://schemas.openxmlformats.org/officeDocument/2006/relationships/slideLayout" Target="../slideLayouts/slideLayout33.xml"/><Relationship Id="rId10"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7.xml"/><Relationship Id="rId12" Type="http://schemas.openxmlformats.org/officeDocument/2006/relationships/slideLayout" Target="../slideLayouts/slideLayout48.xml"/><Relationship Id="rId13" Type="http://schemas.openxmlformats.org/officeDocument/2006/relationships/theme" Target="../theme/theme4.xml"/><Relationship Id="rId14" Type="http://schemas.openxmlformats.org/officeDocument/2006/relationships/image" Target="../media/image1.jpeg"/><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 Id="rId9" Type="http://schemas.openxmlformats.org/officeDocument/2006/relationships/slideLayout" Target="../slideLayouts/slideLayout45.xml"/><Relationship Id="rId10"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stretch>
            <a:fillRect/>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504000" y="301320"/>
            <a:ext cx="9072000" cy="1261800"/>
          </a:xfrm>
          <a:prstGeom prst="rect">
            <a:avLst/>
          </a:prstGeom>
        </p:spPr>
        <p:txBody>
          <a:bodyPr lIns="0" tIns="0" rIns="0" bIns="0" anchor="ctr"/>
          <a:lstStyle/>
          <a:p>
            <a:pPr algn="ctr"/>
            <a:r>
              <a:rPr lang="en-US" sz="4400" b="0" strike="noStrike" spc="-1">
                <a:solidFill>
                  <a:srgbClr val="000000"/>
                </a:solidFill>
                <a:uFill>
                  <a:solidFill>
                    <a:srgbClr val="FFFFFF"/>
                  </a:solidFill>
                </a:uFill>
                <a:latin typeface="Arial"/>
              </a:rPr>
              <a:t>Click to edit the title text format</a:t>
            </a:r>
          </a:p>
        </p:txBody>
      </p:sp>
      <p:sp>
        <p:nvSpPr>
          <p:cNvPr id="3" name="PlaceHolder 2"/>
          <p:cNvSpPr>
            <a:spLocks noGrp="1"/>
          </p:cNvSpPr>
          <p:nvPr>
            <p:ph type="body"/>
          </p:nvPr>
        </p:nvSpPr>
        <p:spPr>
          <a:xfrm>
            <a:off x="504000" y="1768680"/>
            <a:ext cx="9072000" cy="4384080"/>
          </a:xfrm>
          <a:prstGeom prst="rect">
            <a:avLst/>
          </a:prstGeom>
        </p:spPr>
        <p:txBody>
          <a:bodyPr lIns="0" tIns="0" rIns="0" bIns="0"/>
          <a:lstStyle/>
          <a:p>
            <a:pPr marL="432000" indent="-324000">
              <a:buClr>
                <a:srgbClr val="000000"/>
              </a:buClr>
              <a:buSzPct val="45000"/>
              <a:buFont typeface="Wingdings" charset="2"/>
              <a:buChar char=""/>
            </a:pPr>
            <a:r>
              <a:rPr lang="en-US" sz="3200" b="0" strike="noStrike" spc="-1">
                <a:solidFill>
                  <a:srgbClr val="000000"/>
                </a:solidFill>
                <a:uFill>
                  <a:solidFill>
                    <a:srgbClr val="FFFFFF"/>
                  </a:solidFill>
                </a:uFill>
                <a:latin typeface="Arial"/>
              </a:rPr>
              <a:t>Click to edit the outline text format</a:t>
            </a:r>
          </a:p>
          <a:p>
            <a:pPr marL="864000" lvl="1" indent="-324000">
              <a:buClr>
                <a:srgbClr val="000000"/>
              </a:buClr>
              <a:buSzPct val="75000"/>
              <a:buFont typeface="Symbol" charset="2"/>
              <a:buChar char=""/>
            </a:pPr>
            <a:r>
              <a:rPr lang="en-US" sz="2800" b="0" strike="noStrike" spc="-1">
                <a:solidFill>
                  <a:srgbClr val="000000"/>
                </a:solidFill>
                <a:uFill>
                  <a:solidFill>
                    <a:srgbClr val="FFFFFF"/>
                  </a:solidFill>
                </a:uFill>
                <a:latin typeface="Arial"/>
              </a:rPr>
              <a:t>Second Outline Level</a:t>
            </a:r>
          </a:p>
          <a:p>
            <a:pPr marL="1296000" lvl="2" indent="-288000">
              <a:buClr>
                <a:srgbClr val="000000"/>
              </a:buClr>
              <a:buSzPct val="45000"/>
              <a:buFont typeface="Wingdings" charset="2"/>
              <a:buChar char=""/>
            </a:pPr>
            <a:r>
              <a:rPr lang="en-US" sz="2400" b="0" strike="noStrike" spc="-1">
                <a:solidFill>
                  <a:srgbClr val="000000"/>
                </a:solidFill>
                <a:uFill>
                  <a:solidFill>
                    <a:srgbClr val="FFFFFF"/>
                  </a:solidFill>
                </a:uFill>
                <a:latin typeface="Arial"/>
              </a:rPr>
              <a:t>Third Outline Level</a:t>
            </a:r>
          </a:p>
          <a:p>
            <a:pPr marL="1728000" lvl="3" indent="-216000">
              <a:buClr>
                <a:srgbClr val="000000"/>
              </a:buClr>
              <a:buSzPct val="75000"/>
              <a:buFont typeface="Symbol" charset="2"/>
              <a:buChar char=""/>
            </a:pPr>
            <a:r>
              <a:rPr lang="en-US" sz="2000" b="0" strike="noStrike" spc="-1">
                <a:solidFill>
                  <a:srgbClr val="000000"/>
                </a:solidFill>
                <a:uFill>
                  <a:solidFill>
                    <a:srgbClr val="FFFFFF"/>
                  </a:solidFill>
                </a:uFill>
                <a:latin typeface="Arial"/>
              </a:rPr>
              <a:t>Fourth Outline Level</a:t>
            </a:r>
          </a:p>
          <a:p>
            <a:pPr marL="2160000" lvl="4"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Fifth Outline Level</a:t>
            </a:r>
          </a:p>
          <a:p>
            <a:pPr marL="2592000" lvl="5"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Sixth Outline Level</a:t>
            </a:r>
          </a:p>
          <a:p>
            <a:pPr marL="3024000" lvl="6"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4"/>
          <a:stretch>
            <a:fillRect/>
          </a:stretch>
        </a:blipFill>
        <a:effectLst/>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504000" y="301320"/>
            <a:ext cx="9072000" cy="1261800"/>
          </a:xfrm>
          <a:prstGeom prst="rect">
            <a:avLst/>
          </a:prstGeom>
        </p:spPr>
        <p:txBody>
          <a:bodyPr lIns="0" tIns="0" rIns="0" bIns="0" anchor="ctr"/>
          <a:lstStyle/>
          <a:p>
            <a:pPr algn="ctr"/>
            <a:r>
              <a:rPr lang="en-US" sz="4400" b="0" strike="noStrike" spc="-1">
                <a:solidFill>
                  <a:srgbClr val="000000"/>
                </a:solidFill>
                <a:uFill>
                  <a:solidFill>
                    <a:srgbClr val="FFFFFF"/>
                  </a:solidFill>
                </a:uFill>
                <a:latin typeface="Arial"/>
              </a:rPr>
              <a:t>Click to edit the title text format</a:t>
            </a:r>
          </a:p>
        </p:txBody>
      </p:sp>
      <p:sp>
        <p:nvSpPr>
          <p:cNvPr id="37" name="PlaceHolder 2"/>
          <p:cNvSpPr>
            <a:spLocks noGrp="1"/>
          </p:cNvSpPr>
          <p:nvPr>
            <p:ph type="body"/>
          </p:nvPr>
        </p:nvSpPr>
        <p:spPr>
          <a:xfrm>
            <a:off x="504000" y="1768680"/>
            <a:ext cx="9072000" cy="4384080"/>
          </a:xfrm>
          <a:prstGeom prst="rect">
            <a:avLst/>
          </a:prstGeom>
        </p:spPr>
        <p:txBody>
          <a:bodyPr lIns="0" tIns="0" rIns="0" bIns="0"/>
          <a:lstStyle/>
          <a:p>
            <a:pPr marL="432000" indent="-324000">
              <a:buClr>
                <a:srgbClr val="000000"/>
              </a:buClr>
              <a:buSzPct val="45000"/>
              <a:buFont typeface="Wingdings" charset="2"/>
              <a:buChar char=""/>
            </a:pPr>
            <a:r>
              <a:rPr lang="en-US" sz="3200" b="0" strike="noStrike" spc="-1">
                <a:solidFill>
                  <a:srgbClr val="000000"/>
                </a:solidFill>
                <a:uFill>
                  <a:solidFill>
                    <a:srgbClr val="FFFFFF"/>
                  </a:solidFill>
                </a:uFill>
                <a:latin typeface="Arial"/>
              </a:rPr>
              <a:t>Click to edit the outline text format</a:t>
            </a:r>
          </a:p>
          <a:p>
            <a:pPr marL="864000" lvl="1" indent="-324000">
              <a:buClr>
                <a:srgbClr val="000000"/>
              </a:buClr>
              <a:buSzPct val="75000"/>
              <a:buFont typeface="Symbol" charset="2"/>
              <a:buChar char=""/>
            </a:pPr>
            <a:r>
              <a:rPr lang="en-US" sz="2800" b="0" strike="noStrike" spc="-1">
                <a:solidFill>
                  <a:srgbClr val="000000"/>
                </a:solidFill>
                <a:uFill>
                  <a:solidFill>
                    <a:srgbClr val="FFFFFF"/>
                  </a:solidFill>
                </a:uFill>
                <a:latin typeface="Arial"/>
              </a:rPr>
              <a:t>Second Outline Level</a:t>
            </a:r>
          </a:p>
          <a:p>
            <a:pPr marL="1296000" lvl="2" indent="-288000">
              <a:buClr>
                <a:srgbClr val="000000"/>
              </a:buClr>
              <a:buSzPct val="45000"/>
              <a:buFont typeface="Wingdings" charset="2"/>
              <a:buChar char=""/>
            </a:pPr>
            <a:r>
              <a:rPr lang="en-US" sz="2400" b="0" strike="noStrike" spc="-1">
                <a:solidFill>
                  <a:srgbClr val="000000"/>
                </a:solidFill>
                <a:uFill>
                  <a:solidFill>
                    <a:srgbClr val="FFFFFF"/>
                  </a:solidFill>
                </a:uFill>
                <a:latin typeface="Arial"/>
              </a:rPr>
              <a:t>Third Outline Level</a:t>
            </a:r>
          </a:p>
          <a:p>
            <a:pPr marL="1728000" lvl="3" indent="-216000">
              <a:buClr>
                <a:srgbClr val="000000"/>
              </a:buClr>
              <a:buSzPct val="75000"/>
              <a:buFont typeface="Symbol" charset="2"/>
              <a:buChar char=""/>
            </a:pPr>
            <a:r>
              <a:rPr lang="en-US" sz="2000" b="0" strike="noStrike" spc="-1">
                <a:solidFill>
                  <a:srgbClr val="000000"/>
                </a:solidFill>
                <a:uFill>
                  <a:solidFill>
                    <a:srgbClr val="FFFFFF"/>
                  </a:solidFill>
                </a:uFill>
                <a:latin typeface="Arial"/>
              </a:rPr>
              <a:t>Fourth Outline Level</a:t>
            </a:r>
          </a:p>
          <a:p>
            <a:pPr marL="2160000" lvl="4"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Fifth Outline Level</a:t>
            </a:r>
          </a:p>
          <a:p>
            <a:pPr marL="2592000" lvl="5"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Sixth Outline Level</a:t>
            </a:r>
          </a:p>
          <a:p>
            <a:pPr marL="3024000" lvl="6"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14"/>
          <a:stretch>
            <a:fillRect/>
          </a:stretch>
        </a:blipFill>
        <a:effectLst/>
      </p:bgPr>
    </p:bg>
    <p:spTree>
      <p:nvGrpSpPr>
        <p:cNvPr id="1" name=""/>
        <p:cNvGrpSpPr/>
        <p:nvPr/>
      </p:nvGrpSpPr>
      <p:grpSpPr>
        <a:xfrm>
          <a:off x="0" y="0"/>
          <a:ext cx="0" cy="0"/>
          <a:chOff x="0" y="0"/>
          <a:chExt cx="0" cy="0"/>
        </a:xfrm>
      </p:grpSpPr>
      <p:sp>
        <p:nvSpPr>
          <p:cNvPr id="72"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73" name="PlaceHolder 2"/>
          <p:cNvSpPr>
            <a:spLocks noGrp="1"/>
          </p:cNvSpPr>
          <p:nvPr>
            <p:ph type="body"/>
          </p:nvPr>
        </p:nvSpPr>
        <p:spPr>
          <a:xfrm>
            <a:off x="504000" y="1769040"/>
            <a:ext cx="9070920" cy="4383720"/>
          </a:xfrm>
          <a:prstGeom prst="rect">
            <a:avLst/>
          </a:prstGeom>
        </p:spPr>
        <p:txBody>
          <a:bodyPr lIns="0" tIns="0" rIns="0" bIns="0"/>
          <a:lstStyle/>
          <a:p>
            <a:pPr marL="432000" indent="-324000">
              <a:buClr>
                <a:srgbClr val="000000"/>
              </a:buClr>
              <a:buSzPct val="45000"/>
              <a:buFont typeface="Wingdings" charset="2"/>
              <a:buChar char=""/>
            </a:pPr>
            <a:r>
              <a:rPr lang="en-US" sz="1800" b="0" strike="noStrike" spc="-1">
                <a:solidFill>
                  <a:srgbClr val="000000"/>
                </a:solidFill>
                <a:uFill>
                  <a:solidFill>
                    <a:srgbClr val="FFFFFF"/>
                  </a:solidFill>
                </a:uFill>
                <a:latin typeface="Arial"/>
              </a:rPr>
              <a:t>Click to edit the outline text format</a:t>
            </a:r>
          </a:p>
          <a:p>
            <a:pPr marL="864000" lvl="1" indent="-324000">
              <a:buClr>
                <a:srgbClr val="000000"/>
              </a:buClr>
              <a:buSzPct val="75000"/>
              <a:buFont typeface="Symbol" charset="2"/>
              <a:buChar char=""/>
            </a:pPr>
            <a:r>
              <a:rPr lang="en-US" sz="1800" b="0" strike="noStrike" spc="-1">
                <a:solidFill>
                  <a:srgbClr val="000000"/>
                </a:solidFill>
                <a:uFill>
                  <a:solidFill>
                    <a:srgbClr val="FFFFFF"/>
                  </a:solidFill>
                </a:uFill>
                <a:latin typeface="Arial"/>
              </a:rPr>
              <a:t>Second Outline Level</a:t>
            </a:r>
          </a:p>
          <a:p>
            <a:pPr marL="1296000" lvl="2" indent="-288000">
              <a:buClr>
                <a:srgbClr val="000000"/>
              </a:buClr>
              <a:buSzPct val="45000"/>
              <a:buFont typeface="Wingdings" charset="2"/>
              <a:buChar char=""/>
            </a:pPr>
            <a:r>
              <a:rPr lang="en-US" sz="1800" b="0" strike="noStrike" spc="-1">
                <a:solidFill>
                  <a:srgbClr val="000000"/>
                </a:solidFill>
                <a:uFill>
                  <a:solidFill>
                    <a:srgbClr val="FFFFFF"/>
                  </a:solidFill>
                </a:uFill>
                <a:latin typeface="Arial"/>
              </a:rPr>
              <a:t>Third Outline Level</a:t>
            </a:r>
          </a:p>
          <a:p>
            <a:pPr marL="1728000" lvl="3" indent="-216000">
              <a:buClr>
                <a:srgbClr val="000000"/>
              </a:buClr>
              <a:buSzPct val="75000"/>
              <a:buFont typeface="Symbol" charset="2"/>
              <a:buChar char=""/>
            </a:pPr>
            <a:r>
              <a:rPr lang="en-US" sz="1800" b="0" strike="noStrike" spc="-1">
                <a:solidFill>
                  <a:srgbClr val="000000"/>
                </a:solidFill>
                <a:uFill>
                  <a:solidFill>
                    <a:srgbClr val="FFFFFF"/>
                  </a:solidFill>
                </a:uFill>
                <a:latin typeface="Arial"/>
              </a:rPr>
              <a:t>Fourth Outline Level</a:t>
            </a:r>
          </a:p>
          <a:p>
            <a:pPr marL="2160000" lvl="4" indent="-216000">
              <a:buClr>
                <a:srgbClr val="000000"/>
              </a:buClr>
              <a:buSzPct val="45000"/>
              <a:buFont typeface="Wingdings" charset="2"/>
              <a:buChar char=""/>
            </a:pPr>
            <a:r>
              <a:rPr lang="en-US" sz="1800" b="0" strike="noStrike" spc="-1">
                <a:solidFill>
                  <a:srgbClr val="000000"/>
                </a:solidFill>
                <a:uFill>
                  <a:solidFill>
                    <a:srgbClr val="FFFFFF"/>
                  </a:solidFill>
                </a:uFill>
                <a:latin typeface="Arial"/>
              </a:rPr>
              <a:t>Fifth Outline Level</a:t>
            </a:r>
          </a:p>
          <a:p>
            <a:pPr marL="2592000" lvl="5" indent="-216000">
              <a:buClr>
                <a:srgbClr val="000000"/>
              </a:buClr>
              <a:buSzPct val="45000"/>
              <a:buFont typeface="Wingdings" charset="2"/>
              <a:buChar char=""/>
            </a:pPr>
            <a:r>
              <a:rPr lang="en-US" sz="1800" b="0" strike="noStrike" spc="-1">
                <a:solidFill>
                  <a:srgbClr val="000000"/>
                </a:solidFill>
                <a:uFill>
                  <a:solidFill>
                    <a:srgbClr val="FFFFFF"/>
                  </a:solidFill>
                </a:uFill>
                <a:latin typeface="Arial"/>
              </a:rPr>
              <a:t>Sixth Outline Level</a:t>
            </a:r>
          </a:p>
          <a:p>
            <a:pPr marL="3024000" lvl="6" indent="-216000">
              <a:buClr>
                <a:srgbClr val="000000"/>
              </a:buClr>
              <a:buSzPct val="45000"/>
              <a:buFont typeface="Wingdings" charset="2"/>
              <a:buChar char=""/>
            </a:pPr>
            <a:r>
              <a:rPr lang="en-US" sz="1800" b="0" strike="noStrike" spc="-1">
                <a:solidFill>
                  <a:srgbClr val="000000"/>
                </a:solidFill>
                <a:uFill>
                  <a:solidFill>
                    <a:srgbClr val="FFFFFF"/>
                  </a:solidFill>
                </a:u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a:blip r:embed="rId14"/>
          <a:stretch>
            <a:fillRect/>
          </a:stretch>
        </a:blipFill>
        <a:effectLst/>
      </p:bgPr>
    </p:bg>
    <p:spTree>
      <p:nvGrpSpPr>
        <p:cNvPr id="1" name=""/>
        <p:cNvGrpSpPr/>
        <p:nvPr/>
      </p:nvGrpSpPr>
      <p:grpSpPr>
        <a:xfrm>
          <a:off x="0" y="0"/>
          <a:ext cx="0" cy="0"/>
          <a:chOff x="0" y="0"/>
          <a:chExt cx="0" cy="0"/>
        </a:xfrm>
      </p:grpSpPr>
      <p:sp>
        <p:nvSpPr>
          <p:cNvPr id="108" name="PlaceHolder 1"/>
          <p:cNvSpPr>
            <a:spLocks noGrp="1"/>
          </p:cNvSpPr>
          <p:nvPr>
            <p:ph type="title"/>
          </p:nvPr>
        </p:nvSpPr>
        <p:spPr>
          <a:xfrm>
            <a:off x="504000" y="301320"/>
            <a:ext cx="9070920" cy="126144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09" name="PlaceHolder 2"/>
          <p:cNvSpPr>
            <a:spLocks noGrp="1"/>
          </p:cNvSpPr>
          <p:nvPr>
            <p:ph type="body"/>
          </p:nvPr>
        </p:nvSpPr>
        <p:spPr>
          <a:xfrm>
            <a:off x="504000" y="1769040"/>
            <a:ext cx="9070920" cy="2090520"/>
          </a:xfrm>
          <a:prstGeom prst="rect">
            <a:avLst/>
          </a:prstGeom>
        </p:spPr>
        <p:txBody>
          <a:bodyPr lIns="0" tIns="0" rIns="0" bIns="0"/>
          <a:lstStyle/>
          <a:p>
            <a:pPr marL="432000" indent="-324000">
              <a:buClr>
                <a:srgbClr val="000000"/>
              </a:buClr>
              <a:buSzPct val="45000"/>
              <a:buFont typeface="Wingdings" charset="2"/>
              <a:buChar char=""/>
            </a:pPr>
            <a:r>
              <a:rPr lang="en-US" sz="1800" b="0" strike="noStrike" spc="-1">
                <a:solidFill>
                  <a:srgbClr val="000000"/>
                </a:solidFill>
                <a:uFill>
                  <a:solidFill>
                    <a:srgbClr val="FFFFFF"/>
                  </a:solidFill>
                </a:uFill>
                <a:latin typeface="Arial"/>
              </a:rPr>
              <a:t>Click to edit the outline text format</a:t>
            </a:r>
          </a:p>
          <a:p>
            <a:pPr marL="864000" lvl="1" indent="-324000">
              <a:buClr>
                <a:srgbClr val="000000"/>
              </a:buClr>
              <a:buSzPct val="75000"/>
              <a:buFont typeface="Symbol" charset="2"/>
              <a:buChar char=""/>
            </a:pPr>
            <a:r>
              <a:rPr lang="en-US" sz="1800" b="0" strike="noStrike" spc="-1">
                <a:solidFill>
                  <a:srgbClr val="000000"/>
                </a:solidFill>
                <a:uFill>
                  <a:solidFill>
                    <a:srgbClr val="FFFFFF"/>
                  </a:solidFill>
                </a:uFill>
                <a:latin typeface="Arial"/>
              </a:rPr>
              <a:t>Second Outline Level</a:t>
            </a:r>
          </a:p>
          <a:p>
            <a:pPr marL="1296000" lvl="2" indent="-288000">
              <a:buClr>
                <a:srgbClr val="000000"/>
              </a:buClr>
              <a:buSzPct val="45000"/>
              <a:buFont typeface="Wingdings" charset="2"/>
              <a:buChar char=""/>
            </a:pPr>
            <a:r>
              <a:rPr lang="en-US" sz="1800" b="0" strike="noStrike" spc="-1">
                <a:solidFill>
                  <a:srgbClr val="000000"/>
                </a:solidFill>
                <a:uFill>
                  <a:solidFill>
                    <a:srgbClr val="FFFFFF"/>
                  </a:solidFill>
                </a:uFill>
                <a:latin typeface="Arial"/>
              </a:rPr>
              <a:t>Third Outline Level</a:t>
            </a:r>
          </a:p>
          <a:p>
            <a:pPr marL="1728000" lvl="3" indent="-216000">
              <a:buClr>
                <a:srgbClr val="000000"/>
              </a:buClr>
              <a:buSzPct val="75000"/>
              <a:buFont typeface="Symbol" charset="2"/>
              <a:buChar char=""/>
            </a:pPr>
            <a:r>
              <a:rPr lang="en-US" sz="1800" b="0" strike="noStrike" spc="-1">
                <a:solidFill>
                  <a:srgbClr val="000000"/>
                </a:solidFill>
                <a:uFill>
                  <a:solidFill>
                    <a:srgbClr val="FFFFFF"/>
                  </a:solidFill>
                </a:uFill>
                <a:latin typeface="Arial"/>
              </a:rPr>
              <a:t>Fourth Outline Level</a:t>
            </a:r>
          </a:p>
          <a:p>
            <a:pPr marL="2160000" lvl="4" indent="-216000">
              <a:buClr>
                <a:srgbClr val="000000"/>
              </a:buClr>
              <a:buSzPct val="45000"/>
              <a:buFont typeface="Wingdings" charset="2"/>
              <a:buChar char=""/>
            </a:pPr>
            <a:r>
              <a:rPr lang="en-US" sz="1800" b="0" strike="noStrike" spc="-1">
                <a:solidFill>
                  <a:srgbClr val="000000"/>
                </a:solidFill>
                <a:uFill>
                  <a:solidFill>
                    <a:srgbClr val="FFFFFF"/>
                  </a:solidFill>
                </a:uFill>
                <a:latin typeface="Arial"/>
              </a:rPr>
              <a:t>Fifth Outline Level</a:t>
            </a:r>
          </a:p>
          <a:p>
            <a:pPr marL="2592000" lvl="5" indent="-216000">
              <a:buClr>
                <a:srgbClr val="000000"/>
              </a:buClr>
              <a:buSzPct val="45000"/>
              <a:buFont typeface="Wingdings" charset="2"/>
              <a:buChar char=""/>
            </a:pPr>
            <a:r>
              <a:rPr lang="en-US" sz="1800" b="0" strike="noStrike" spc="-1">
                <a:solidFill>
                  <a:srgbClr val="000000"/>
                </a:solidFill>
                <a:uFill>
                  <a:solidFill>
                    <a:srgbClr val="FFFFFF"/>
                  </a:solidFill>
                </a:uFill>
                <a:latin typeface="Arial"/>
              </a:rPr>
              <a:t>Sixth Outline Level</a:t>
            </a:r>
          </a:p>
          <a:p>
            <a:pPr marL="3024000" lvl="6" indent="-216000">
              <a:buClr>
                <a:srgbClr val="000000"/>
              </a:buClr>
              <a:buSzPct val="45000"/>
              <a:buFont typeface="Wingdings" charset="2"/>
              <a:buChar char=""/>
            </a:pPr>
            <a:r>
              <a:rPr lang="en-US" sz="1800" b="0" strike="noStrike" spc="-1">
                <a:solidFill>
                  <a:srgbClr val="000000"/>
                </a:solidFill>
                <a:uFill>
                  <a:solidFill>
                    <a:srgbClr val="FFFFFF"/>
                  </a:solidFill>
                </a:uFill>
                <a:latin typeface="Arial"/>
              </a:rPr>
              <a:t>Seventh Outline Level</a:t>
            </a:r>
          </a:p>
        </p:txBody>
      </p:sp>
      <p:sp>
        <p:nvSpPr>
          <p:cNvPr id="110" name="PlaceHolder 3"/>
          <p:cNvSpPr>
            <a:spLocks noGrp="1"/>
          </p:cNvSpPr>
          <p:nvPr>
            <p:ph type="body"/>
          </p:nvPr>
        </p:nvSpPr>
        <p:spPr>
          <a:xfrm>
            <a:off x="504000" y="4059000"/>
            <a:ext cx="9070920" cy="2090520"/>
          </a:xfrm>
          <a:prstGeom prst="rect">
            <a:avLst/>
          </a:prstGeom>
        </p:spPr>
        <p:txBody>
          <a:bodyPr lIns="0" tIns="0" rIns="0" bIns="0"/>
          <a:lstStyle/>
          <a:p>
            <a:pPr marL="432000" indent="-324000">
              <a:buClr>
                <a:srgbClr val="000000"/>
              </a:buClr>
              <a:buSzPct val="45000"/>
              <a:buFont typeface="Wingdings" charset="2"/>
              <a:buChar char=""/>
            </a:pPr>
            <a:r>
              <a:rPr lang="en-US" sz="1800" b="0" strike="noStrike" spc="-1">
                <a:solidFill>
                  <a:srgbClr val="000000"/>
                </a:solidFill>
                <a:uFill>
                  <a:solidFill>
                    <a:srgbClr val="FFFFFF"/>
                  </a:solidFill>
                </a:uFill>
                <a:latin typeface="Arial"/>
              </a:rPr>
              <a:t>Click to edit the outline text format</a:t>
            </a:r>
          </a:p>
          <a:p>
            <a:pPr marL="864000" lvl="1" indent="-324000">
              <a:buClr>
                <a:srgbClr val="000000"/>
              </a:buClr>
              <a:buSzPct val="75000"/>
              <a:buFont typeface="Symbol" charset="2"/>
              <a:buChar char=""/>
            </a:pPr>
            <a:r>
              <a:rPr lang="en-US" sz="1800" b="0" strike="noStrike" spc="-1">
                <a:solidFill>
                  <a:srgbClr val="000000"/>
                </a:solidFill>
                <a:uFill>
                  <a:solidFill>
                    <a:srgbClr val="FFFFFF"/>
                  </a:solidFill>
                </a:uFill>
                <a:latin typeface="Arial"/>
              </a:rPr>
              <a:t>Second Outline Level</a:t>
            </a:r>
          </a:p>
          <a:p>
            <a:pPr marL="1296000" lvl="2" indent="-288000">
              <a:buClr>
                <a:srgbClr val="000000"/>
              </a:buClr>
              <a:buSzPct val="45000"/>
              <a:buFont typeface="Wingdings" charset="2"/>
              <a:buChar char=""/>
            </a:pPr>
            <a:r>
              <a:rPr lang="en-US" sz="1800" b="0" strike="noStrike" spc="-1">
                <a:solidFill>
                  <a:srgbClr val="000000"/>
                </a:solidFill>
                <a:uFill>
                  <a:solidFill>
                    <a:srgbClr val="FFFFFF"/>
                  </a:solidFill>
                </a:uFill>
                <a:latin typeface="Arial"/>
              </a:rPr>
              <a:t>Third Outline Level</a:t>
            </a:r>
          </a:p>
          <a:p>
            <a:pPr marL="1728000" lvl="3" indent="-216000">
              <a:buClr>
                <a:srgbClr val="000000"/>
              </a:buClr>
              <a:buSzPct val="75000"/>
              <a:buFont typeface="Symbol" charset="2"/>
              <a:buChar char=""/>
            </a:pPr>
            <a:r>
              <a:rPr lang="en-US" sz="1800" b="0" strike="noStrike" spc="-1">
                <a:solidFill>
                  <a:srgbClr val="000000"/>
                </a:solidFill>
                <a:uFill>
                  <a:solidFill>
                    <a:srgbClr val="FFFFFF"/>
                  </a:solidFill>
                </a:uFill>
                <a:latin typeface="Arial"/>
              </a:rPr>
              <a:t>Fourth Outline Level</a:t>
            </a:r>
          </a:p>
          <a:p>
            <a:pPr marL="2160000" lvl="4" indent="-216000">
              <a:buClr>
                <a:srgbClr val="000000"/>
              </a:buClr>
              <a:buSzPct val="45000"/>
              <a:buFont typeface="Wingdings" charset="2"/>
              <a:buChar char=""/>
            </a:pPr>
            <a:r>
              <a:rPr lang="en-US" sz="1800" b="0" strike="noStrike" spc="-1">
                <a:solidFill>
                  <a:srgbClr val="000000"/>
                </a:solidFill>
                <a:uFill>
                  <a:solidFill>
                    <a:srgbClr val="FFFFFF"/>
                  </a:solidFill>
                </a:uFill>
                <a:latin typeface="Arial"/>
              </a:rPr>
              <a:t>Fifth Outline Level</a:t>
            </a:r>
          </a:p>
          <a:p>
            <a:pPr marL="2592000" lvl="5" indent="-216000">
              <a:buClr>
                <a:srgbClr val="000000"/>
              </a:buClr>
              <a:buSzPct val="45000"/>
              <a:buFont typeface="Wingdings" charset="2"/>
              <a:buChar char=""/>
            </a:pPr>
            <a:r>
              <a:rPr lang="en-US" sz="1800" b="0" strike="noStrike" spc="-1">
                <a:solidFill>
                  <a:srgbClr val="000000"/>
                </a:solidFill>
                <a:uFill>
                  <a:solidFill>
                    <a:srgbClr val="FFFFFF"/>
                  </a:solidFill>
                </a:uFill>
                <a:latin typeface="Arial"/>
              </a:rPr>
              <a:t>Sixth Outline Level</a:t>
            </a:r>
          </a:p>
          <a:p>
            <a:pPr marL="3024000" lvl="6" indent="-216000">
              <a:buClr>
                <a:srgbClr val="000000"/>
              </a:buClr>
              <a:buSzPct val="45000"/>
              <a:buFont typeface="Wingdings" charset="2"/>
              <a:buChar char=""/>
            </a:pPr>
            <a:r>
              <a:rPr lang="en-US" sz="1800" b="0" strike="noStrike" spc="-1">
                <a:solidFill>
                  <a:srgbClr val="000000"/>
                </a:solidFill>
                <a:uFill>
                  <a:solidFill>
                    <a:srgbClr val="FFFFFF"/>
                  </a:solidFill>
                </a:u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5.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6.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7.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145" name="CustomShape 1"/>
          <p:cNvSpPr/>
          <p:nvPr/>
        </p:nvSpPr>
        <p:spPr>
          <a:xfrm>
            <a:off x="1005840" y="2082600"/>
            <a:ext cx="3151800" cy="1225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3200" b="1" strike="noStrike" spc="-1" dirty="0">
                <a:solidFill>
                  <a:srgbClr val="FFFFFF"/>
                </a:solidFill>
                <a:uFill>
                  <a:solidFill>
                    <a:srgbClr val="FFFFFF"/>
                  </a:solidFill>
                </a:uFill>
                <a:latin typeface="Arial"/>
                <a:ea typeface="DejaVu Sans"/>
              </a:rPr>
              <a:t>Chapter 7</a:t>
            </a:r>
            <a:endParaRPr lang="en-US" sz="1800" b="0" strike="noStrike" spc="-1" dirty="0">
              <a:solidFill>
                <a:srgbClr val="000000"/>
              </a:solidFill>
              <a:uFill>
                <a:solidFill>
                  <a:srgbClr val="FFFFFF"/>
                </a:solidFill>
              </a:uFill>
              <a:latin typeface="Arial"/>
            </a:endParaRPr>
          </a:p>
          <a:p>
            <a:pPr algn="ctr">
              <a:lnSpc>
                <a:spcPct val="100000"/>
              </a:lnSpc>
            </a:pPr>
            <a:r>
              <a:rPr lang="en-US" sz="2400" b="1" i="1" strike="noStrike" spc="-1" dirty="0">
                <a:solidFill>
                  <a:srgbClr val="FFFFFF"/>
                </a:solidFill>
                <a:uFill>
                  <a:solidFill>
                    <a:srgbClr val="FFFFFF"/>
                  </a:solidFill>
                </a:uFill>
                <a:latin typeface="Arial"/>
                <a:ea typeface="DejaVu Sans"/>
              </a:rPr>
              <a:t>Programming with Recursion</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dirty="0">
                <a:solidFill>
                  <a:srgbClr val="000000"/>
                </a:solidFill>
                <a:uFill>
                  <a:solidFill>
                    <a:srgbClr val="FFFFFF"/>
                  </a:solidFill>
                </a:uFill>
                <a:latin typeface="Arial"/>
                <a:ea typeface="DejaVu Sans"/>
              </a:rPr>
              <a:t>What</a:t>
            </a:r>
            <a:r>
              <a:rPr lang="en-US" sz="4400" b="0" strike="noStrike" spc="-1" dirty="0" smtClean="0">
                <a:solidFill>
                  <a:srgbClr val="000000"/>
                </a:solidFill>
                <a:uFill>
                  <a:solidFill>
                    <a:srgbClr val="FFFFFF"/>
                  </a:solidFill>
                </a:uFill>
                <a:latin typeface="Arial"/>
                <a:ea typeface="DejaVu Sans"/>
              </a:rPr>
              <a:t> Is </a:t>
            </a:r>
            <a:r>
              <a:rPr lang="en-US" sz="4400" b="0" strike="noStrike" spc="-1" dirty="0">
                <a:solidFill>
                  <a:srgbClr val="000000"/>
                </a:solidFill>
                <a:uFill>
                  <a:solidFill>
                    <a:srgbClr val="FFFFFF"/>
                  </a:solidFill>
                </a:uFill>
                <a:latin typeface="Arial"/>
                <a:ea typeface="DejaVu Sans"/>
              </a:rPr>
              <a:t>Recursion?</a:t>
            </a:r>
            <a:endParaRPr lang="en-US" sz="1800" b="0" strike="noStrike" spc="-1" dirty="0">
              <a:solidFill>
                <a:srgbClr val="000000"/>
              </a:solidFill>
              <a:uFill>
                <a:solidFill>
                  <a:srgbClr val="FFFFFF"/>
                </a:solidFill>
              </a:uFill>
              <a:latin typeface="Arial"/>
            </a:endParaRPr>
          </a:p>
        </p:txBody>
      </p:sp>
      <p:sp>
        <p:nvSpPr>
          <p:cNvPr id="147"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280">
              <a:lnSpc>
                <a:spcPct val="100000"/>
              </a:lnSpc>
              <a:buClr>
                <a:srgbClr val="000000"/>
              </a:buClr>
              <a:buSzPct val="45000"/>
              <a:buFont typeface="Wingdings" charset="2"/>
              <a:buChar char=""/>
            </a:pPr>
            <a:r>
              <a:rPr lang="en-US" sz="3200" b="1" strike="noStrike" spc="-1">
                <a:solidFill>
                  <a:srgbClr val="000000"/>
                </a:solidFill>
                <a:uFill>
                  <a:solidFill>
                    <a:srgbClr val="FFFFFF"/>
                  </a:solidFill>
                </a:uFill>
                <a:latin typeface="Arial"/>
                <a:ea typeface="DejaVu Sans"/>
              </a:rPr>
              <a:t>Recursion:</a:t>
            </a:r>
            <a:r>
              <a:rPr lang="en-US" sz="3200" b="0" strike="noStrike" spc="-1">
                <a:solidFill>
                  <a:srgbClr val="000000"/>
                </a:solidFill>
                <a:uFill>
                  <a:solidFill>
                    <a:srgbClr val="FFFFFF"/>
                  </a:solidFill>
                </a:uFill>
                <a:latin typeface="Arial"/>
                <a:ea typeface="DejaVu Sans"/>
              </a:rPr>
              <a:t> A power programming technique in which a function calls itself in order to divide work into smaller portions</a:t>
            </a:r>
            <a:endParaRPr lang="en-US" sz="1800" b="0" strike="noStrike" spc="-1">
              <a:solidFill>
                <a:srgbClr val="000000"/>
              </a:solidFill>
              <a:uFill>
                <a:solidFill>
                  <a:srgbClr val="FFFFFF"/>
                </a:solidFill>
              </a:uFill>
              <a:latin typeface="Arial"/>
            </a:endParaRPr>
          </a:p>
          <a:p>
            <a:pPr marL="864000" lvl="1" indent="-323280">
              <a:lnSpc>
                <a:spcPct val="100000"/>
              </a:lnSpc>
              <a:buClr>
                <a:srgbClr val="000000"/>
              </a:buClr>
              <a:buSzPct val="75000"/>
              <a:buFont typeface="Symbol"/>
              <a:buChar char=""/>
            </a:pPr>
            <a:r>
              <a:rPr lang="en-US" sz="2800" b="1" strike="noStrike" spc="-1">
                <a:solidFill>
                  <a:srgbClr val="000000"/>
                </a:solidFill>
                <a:uFill>
                  <a:solidFill>
                    <a:srgbClr val="FFFFFF"/>
                  </a:solidFill>
                </a:uFill>
                <a:latin typeface="Arial"/>
                <a:ea typeface="DejaVu Sans"/>
              </a:rPr>
              <a:t>Recursive call:</a:t>
            </a:r>
            <a:r>
              <a:rPr lang="en-US" sz="2800" b="0" strike="noStrike" spc="-1">
                <a:solidFill>
                  <a:srgbClr val="000000"/>
                </a:solidFill>
                <a:uFill>
                  <a:solidFill>
                    <a:srgbClr val="FFFFFF"/>
                  </a:solidFill>
                </a:uFill>
                <a:latin typeface="Arial"/>
                <a:ea typeface="DejaVu Sans"/>
              </a:rPr>
              <a:t> When the function being called is the same as the one making the call</a:t>
            </a:r>
            <a:endParaRPr lang="en-US" sz="1800" b="0" strike="noStrike" spc="-1">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1" strike="noStrike" spc="-1">
                <a:solidFill>
                  <a:srgbClr val="000000"/>
                </a:solidFill>
                <a:uFill>
                  <a:solidFill>
                    <a:srgbClr val="FFFFFF"/>
                  </a:solidFill>
                </a:uFill>
                <a:latin typeface="Arial"/>
                <a:ea typeface="DejaVu Sans"/>
              </a:rPr>
              <a:t>Direct Recursion:</a:t>
            </a:r>
            <a:r>
              <a:rPr lang="en-US" sz="3200" b="0" strike="noStrike" spc="-1">
                <a:solidFill>
                  <a:srgbClr val="000000"/>
                </a:solidFill>
                <a:uFill>
                  <a:solidFill>
                    <a:srgbClr val="FFFFFF"/>
                  </a:solidFill>
                </a:uFill>
                <a:latin typeface="Arial"/>
                <a:ea typeface="DejaVu Sans"/>
              </a:rPr>
              <a:t> When a function calls itself</a:t>
            </a:r>
            <a:endParaRPr lang="en-US" sz="1800" b="0" strike="noStrike" spc="-1">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1" strike="noStrike" spc="-1">
                <a:solidFill>
                  <a:srgbClr val="000000"/>
                </a:solidFill>
                <a:uFill>
                  <a:solidFill>
                    <a:srgbClr val="FFFFFF"/>
                  </a:solidFill>
                </a:uFill>
                <a:latin typeface="Arial"/>
                <a:ea typeface="DejaVu Sans"/>
              </a:rPr>
              <a:t>Indirect Recursion:</a:t>
            </a:r>
            <a:r>
              <a:rPr lang="en-US" sz="3200" b="0" strike="noStrike" spc="-1">
                <a:solidFill>
                  <a:srgbClr val="000000"/>
                </a:solidFill>
                <a:uFill>
                  <a:solidFill>
                    <a:srgbClr val="FFFFFF"/>
                  </a:solidFill>
                </a:uFill>
                <a:latin typeface="Arial"/>
                <a:ea typeface="DejaVu Sans"/>
              </a:rPr>
              <a:t> When a chain of function calls leads back to the function that started it</a:t>
            </a:r>
            <a:endParaRPr lang="en-US" sz="1800" b="0" strike="noStrike" spc="-1">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ea typeface="DejaVu Sans"/>
              </a:rPr>
              <a:t>The Classic Example</a:t>
            </a:r>
            <a:endParaRPr lang="en-US" sz="1800" b="0" strike="noStrike" spc="-1">
              <a:solidFill>
                <a:srgbClr val="000000"/>
              </a:solidFill>
              <a:uFill>
                <a:solidFill>
                  <a:srgbClr val="FFFFFF"/>
                </a:solidFill>
              </a:uFill>
              <a:latin typeface="Arial"/>
            </a:endParaRPr>
          </a:p>
        </p:txBody>
      </p:sp>
      <p:sp>
        <p:nvSpPr>
          <p:cNvPr id="149"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28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ea typeface="DejaVu Sans"/>
              </a:rPr>
              <a:t>The factorial function, n!, is a classic example of recursion in mathematics</a:t>
            </a:r>
            <a:endParaRPr lang="en-US" sz="1800" b="0" strike="noStrike" spc="-1">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ea typeface="DejaVu Sans"/>
              </a:rPr>
              <a:t>4! = 4 * 3 * 2 * 1 = 24</a:t>
            </a:r>
            <a:endParaRPr lang="en-US" sz="1800" b="0" strike="noStrike" spc="-1">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ea typeface="DejaVu Sans"/>
              </a:rPr>
              <a:t>The </a:t>
            </a:r>
            <a:r>
              <a:rPr lang="en-US" sz="3200" b="1" strike="noStrike" spc="-1">
                <a:solidFill>
                  <a:srgbClr val="000000"/>
                </a:solidFill>
                <a:uFill>
                  <a:solidFill>
                    <a:srgbClr val="FFFFFF"/>
                  </a:solidFill>
                </a:uFill>
                <a:latin typeface="Arial"/>
                <a:ea typeface="DejaVu Sans"/>
              </a:rPr>
              <a:t>recursive definition</a:t>
            </a:r>
            <a:r>
              <a:rPr lang="en-US" sz="3200" b="0" strike="noStrike" spc="-1">
                <a:solidFill>
                  <a:srgbClr val="000000"/>
                </a:solidFill>
                <a:uFill>
                  <a:solidFill>
                    <a:srgbClr val="FFFFFF"/>
                  </a:solidFill>
                </a:uFill>
                <a:latin typeface="Arial"/>
                <a:ea typeface="DejaVu Sans"/>
              </a:rPr>
              <a:t> is:</a:t>
            </a:r>
            <a:endParaRPr lang="en-US" sz="1800" b="0" strike="noStrike" spc="-1">
              <a:solidFill>
                <a:srgbClr val="000000"/>
              </a:solidFill>
              <a:uFill>
                <a:solidFill>
                  <a:srgbClr val="FFFFFF"/>
                </a:solidFill>
              </a:uFill>
              <a:latin typeface="Arial"/>
            </a:endParaRPr>
          </a:p>
          <a:p>
            <a:pPr marL="864000" lvl="1" indent="-323280">
              <a:lnSpc>
                <a:spcPct val="100000"/>
              </a:lnSpc>
              <a:buClr>
                <a:srgbClr val="000000"/>
              </a:buClr>
              <a:buSzPct val="75000"/>
              <a:buFont typeface="Symbol"/>
              <a:buChar char=""/>
            </a:pPr>
            <a:r>
              <a:rPr lang="en-US" sz="2800" b="0" strike="noStrike" spc="-1">
                <a:solidFill>
                  <a:srgbClr val="000000"/>
                </a:solidFill>
                <a:uFill>
                  <a:solidFill>
                    <a:srgbClr val="FFFFFF"/>
                  </a:solidFill>
                </a:uFill>
                <a:latin typeface="Arial"/>
                <a:ea typeface="DejaVu Sans"/>
              </a:rPr>
              <a:t>n! = 1 if n = 0</a:t>
            </a:r>
            <a:endParaRPr lang="en-US" sz="1800" b="0" strike="noStrike" spc="-1">
              <a:solidFill>
                <a:srgbClr val="000000"/>
              </a:solidFill>
              <a:uFill>
                <a:solidFill>
                  <a:srgbClr val="FFFFFF"/>
                </a:solidFill>
              </a:uFill>
              <a:latin typeface="Arial"/>
            </a:endParaRPr>
          </a:p>
          <a:p>
            <a:pPr marL="864000" lvl="1" indent="-323280">
              <a:lnSpc>
                <a:spcPct val="100000"/>
              </a:lnSpc>
              <a:buClr>
                <a:srgbClr val="000000"/>
              </a:buClr>
              <a:buSzPct val="75000"/>
              <a:buFont typeface="Symbol"/>
              <a:buChar char=""/>
            </a:pPr>
            <a:r>
              <a:rPr lang="en-US" sz="2800" b="0" strike="noStrike" spc="-1">
                <a:solidFill>
                  <a:srgbClr val="000000"/>
                </a:solidFill>
                <a:uFill>
                  <a:solidFill>
                    <a:srgbClr val="FFFFFF"/>
                  </a:solidFill>
                </a:uFill>
                <a:latin typeface="Arial"/>
                <a:ea typeface="DejaVu Sans"/>
              </a:rPr>
              <a:t>n! = n * (n-1)! if n &gt; 0</a:t>
            </a:r>
            <a:endParaRPr lang="en-US" sz="1800" b="0" strike="noStrike" spc="-1">
              <a:solidFill>
                <a:srgbClr val="000000"/>
              </a:solidFill>
              <a:uFill>
                <a:solidFill>
                  <a:srgbClr val="FFFFFF"/>
                </a:solidFill>
              </a:uFill>
              <a:latin typeface="Arial"/>
            </a:endParaRPr>
          </a:p>
          <a:p>
            <a:pPr marL="864000" lvl="1" indent="-323280">
              <a:lnSpc>
                <a:spcPct val="100000"/>
              </a:lnSpc>
              <a:buClr>
                <a:srgbClr val="000000"/>
              </a:buClr>
              <a:buSzPct val="75000"/>
              <a:buFont typeface="Symbol"/>
              <a:buChar char=""/>
            </a:pPr>
            <a:r>
              <a:rPr lang="en-US" sz="3200" b="1" strike="noStrike" spc="-1">
                <a:solidFill>
                  <a:srgbClr val="000000"/>
                </a:solidFill>
                <a:uFill>
                  <a:solidFill>
                    <a:srgbClr val="FFFFFF"/>
                  </a:solidFill>
                </a:uFill>
                <a:latin typeface="Arial"/>
                <a:ea typeface="DejaVu Sans"/>
              </a:rPr>
              <a:t>4!</a:t>
            </a:r>
            <a:r>
              <a:rPr lang="en-US" sz="3200" b="0" strike="noStrike" spc="-1">
                <a:solidFill>
                  <a:srgbClr val="000000"/>
                </a:solidFill>
                <a:uFill>
                  <a:solidFill>
                    <a:srgbClr val="FFFFFF"/>
                  </a:solidFill>
                </a:uFill>
                <a:latin typeface="Arial"/>
                <a:ea typeface="DejaVu Sans"/>
              </a:rPr>
              <a:t> = 4 * </a:t>
            </a:r>
            <a:r>
              <a:rPr lang="en-US" sz="3200" b="1" strike="noStrike" spc="-1">
                <a:solidFill>
                  <a:srgbClr val="000000"/>
                </a:solidFill>
                <a:uFill>
                  <a:solidFill>
                    <a:srgbClr val="FFFFFF"/>
                  </a:solidFill>
                </a:uFill>
                <a:latin typeface="Arial"/>
                <a:ea typeface="DejaVu Sans"/>
              </a:rPr>
              <a:t>3!</a:t>
            </a:r>
            <a:r>
              <a:rPr lang="en-US" sz="3200" b="0" strike="noStrike" spc="-1">
                <a:solidFill>
                  <a:srgbClr val="000000"/>
                </a:solidFill>
                <a:uFill>
                  <a:solidFill>
                    <a:srgbClr val="FFFFFF"/>
                  </a:solidFill>
                </a:uFill>
                <a:latin typeface="Arial"/>
                <a:ea typeface="DejaVu Sans"/>
              </a:rPr>
              <a:t> = 4 * 3 * </a:t>
            </a:r>
            <a:r>
              <a:rPr lang="en-US" sz="3200" b="1" strike="noStrike" spc="-1">
                <a:solidFill>
                  <a:srgbClr val="000000"/>
                </a:solidFill>
                <a:uFill>
                  <a:solidFill>
                    <a:srgbClr val="FFFFFF"/>
                  </a:solidFill>
                </a:uFill>
                <a:latin typeface="Arial"/>
                <a:ea typeface="DejaVu Sans"/>
              </a:rPr>
              <a:t>2!</a:t>
            </a:r>
            <a:r>
              <a:rPr lang="en-US" sz="3200" b="0" strike="noStrike" spc="-1">
                <a:solidFill>
                  <a:srgbClr val="000000"/>
                </a:solidFill>
                <a:uFill>
                  <a:solidFill>
                    <a:srgbClr val="FFFFFF"/>
                  </a:solidFill>
                </a:uFill>
                <a:latin typeface="Arial"/>
                <a:ea typeface="DejaVu Sans"/>
              </a:rPr>
              <a:t> = 4 * 3 * 2 * </a:t>
            </a:r>
            <a:r>
              <a:rPr lang="en-US" sz="3200" b="1" strike="noStrike" spc="-1">
                <a:solidFill>
                  <a:srgbClr val="000000"/>
                </a:solidFill>
                <a:uFill>
                  <a:solidFill>
                    <a:srgbClr val="FFFFFF"/>
                  </a:solidFill>
                </a:uFill>
                <a:latin typeface="Arial"/>
                <a:ea typeface="DejaVu Sans"/>
              </a:rPr>
              <a:t>1!</a:t>
            </a:r>
            <a:r>
              <a:rPr lang="en-US" sz="3200" b="0" strike="noStrike" spc="-1">
                <a:solidFill>
                  <a:srgbClr val="000000"/>
                </a:solidFill>
                <a:uFill>
                  <a:solidFill>
                    <a:srgbClr val="FFFFFF"/>
                  </a:solidFill>
                </a:uFill>
                <a:latin typeface="Arial"/>
                <a:ea typeface="DejaVu Sans"/>
              </a:rPr>
              <a:t> = 
4 * 3 * 2 * 1 * </a:t>
            </a:r>
            <a:r>
              <a:rPr lang="en-US" sz="3200" b="1" strike="noStrike" spc="-1">
                <a:solidFill>
                  <a:srgbClr val="000000"/>
                </a:solidFill>
                <a:uFill>
                  <a:solidFill>
                    <a:srgbClr val="FFFFFF"/>
                  </a:solidFill>
                </a:uFill>
                <a:latin typeface="Arial"/>
                <a:ea typeface="DejaVu Sans"/>
              </a:rPr>
              <a:t>0!</a:t>
            </a:r>
            <a:r>
              <a:rPr lang="en-US" sz="3200" b="0" strike="noStrike" spc="-1">
                <a:solidFill>
                  <a:srgbClr val="000000"/>
                </a:solidFill>
                <a:uFill>
                  <a:solidFill>
                    <a:srgbClr val="FFFFFF"/>
                  </a:solidFill>
                </a:uFill>
                <a:latin typeface="Arial"/>
                <a:ea typeface="DejaVu Sans"/>
              </a:rPr>
              <a:t> = 4 * 3 * 2 * 1 * 1 = </a:t>
            </a:r>
            <a:r>
              <a:rPr lang="en-US" sz="3200" b="1" strike="noStrike" spc="-1">
                <a:solidFill>
                  <a:srgbClr val="000000"/>
                </a:solidFill>
                <a:uFill>
                  <a:solidFill>
                    <a:srgbClr val="FFFFFF"/>
                  </a:solidFill>
                </a:uFill>
                <a:latin typeface="Arial"/>
                <a:ea typeface="DejaVu Sans"/>
              </a:rPr>
              <a:t>24</a:t>
            </a:r>
            <a:endParaRPr lang="en-US" sz="1800" b="0" strike="noStrike" spc="-1">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ea typeface="DejaVu Sans"/>
              </a:rPr>
              <a:t>Recursion Terms</a:t>
            </a:r>
            <a:endParaRPr lang="en-US" sz="1800" b="0" strike="noStrike" spc="-1">
              <a:solidFill>
                <a:srgbClr val="000000"/>
              </a:solidFill>
              <a:uFill>
                <a:solidFill>
                  <a:srgbClr val="FFFFFF"/>
                </a:solidFill>
              </a:uFill>
              <a:latin typeface="Arial"/>
            </a:endParaRPr>
          </a:p>
        </p:txBody>
      </p:sp>
      <p:sp>
        <p:nvSpPr>
          <p:cNvPr id="151"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280">
              <a:lnSpc>
                <a:spcPct val="100000"/>
              </a:lnSpc>
              <a:buClr>
                <a:srgbClr val="000000"/>
              </a:buClr>
              <a:buSzPct val="45000"/>
              <a:buFont typeface="Wingdings" charset="2"/>
              <a:buChar char=""/>
            </a:pPr>
            <a:r>
              <a:rPr lang="en-US" sz="3200" b="1" strike="noStrike" spc="-1" dirty="0">
                <a:solidFill>
                  <a:srgbClr val="000000"/>
                </a:solidFill>
                <a:uFill>
                  <a:solidFill>
                    <a:srgbClr val="FFFFFF"/>
                  </a:solidFill>
                </a:uFill>
                <a:latin typeface="Arial"/>
                <a:ea typeface="DejaVu Sans"/>
              </a:rPr>
              <a:t>Recursive</a:t>
            </a:r>
            <a:r>
              <a:rPr lang="en-US" sz="3200" b="1" strike="noStrike" spc="-1" dirty="0" smtClean="0">
                <a:solidFill>
                  <a:srgbClr val="000000"/>
                </a:solidFill>
                <a:uFill>
                  <a:solidFill>
                    <a:srgbClr val="FFFFFF"/>
                  </a:solidFill>
                </a:uFill>
                <a:latin typeface="Arial"/>
                <a:ea typeface="DejaVu Sans"/>
              </a:rPr>
              <a:t> definition</a:t>
            </a:r>
            <a:r>
              <a:rPr lang="en-US" sz="3200" b="1" strike="noStrike" spc="-1" dirty="0">
                <a:solidFill>
                  <a:srgbClr val="000000"/>
                </a:solidFill>
                <a:uFill>
                  <a:solidFill>
                    <a:srgbClr val="FFFFFF"/>
                  </a:solidFill>
                </a:uFill>
                <a:latin typeface="Arial"/>
                <a:ea typeface="DejaVu Sans"/>
              </a:rPr>
              <a:t>:</a:t>
            </a:r>
            <a:r>
              <a:rPr lang="en-US" sz="3200" b="0" strike="noStrike" spc="-1" dirty="0">
                <a:solidFill>
                  <a:srgbClr val="000000"/>
                </a:solidFill>
                <a:uFill>
                  <a:solidFill>
                    <a:srgbClr val="FFFFFF"/>
                  </a:solidFill>
                </a:uFill>
                <a:latin typeface="Arial"/>
                <a:ea typeface="DejaVu Sans"/>
              </a:rPr>
              <a:t> When something is defined in terms of a smaller version of itself</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1" strike="noStrike" spc="-1" dirty="0">
                <a:solidFill>
                  <a:srgbClr val="000000"/>
                </a:solidFill>
                <a:uFill>
                  <a:solidFill>
                    <a:srgbClr val="FFFFFF"/>
                  </a:solidFill>
                </a:uFill>
                <a:latin typeface="Arial"/>
                <a:ea typeface="DejaVu Sans"/>
              </a:rPr>
              <a:t>Base</a:t>
            </a:r>
            <a:r>
              <a:rPr lang="en-US" sz="3200" b="1" strike="noStrike" spc="-1" dirty="0" smtClean="0">
                <a:solidFill>
                  <a:srgbClr val="000000"/>
                </a:solidFill>
                <a:uFill>
                  <a:solidFill>
                    <a:srgbClr val="FFFFFF"/>
                  </a:solidFill>
                </a:uFill>
                <a:latin typeface="Arial"/>
                <a:ea typeface="DejaVu Sans"/>
              </a:rPr>
              <a:t> case</a:t>
            </a:r>
            <a:r>
              <a:rPr lang="en-US" sz="3200" b="1" strike="noStrike" spc="-1" dirty="0">
                <a:solidFill>
                  <a:srgbClr val="000000"/>
                </a:solidFill>
                <a:uFill>
                  <a:solidFill>
                    <a:srgbClr val="FFFFFF"/>
                  </a:solidFill>
                </a:uFill>
                <a:latin typeface="Arial"/>
                <a:ea typeface="DejaVu Sans"/>
              </a:rPr>
              <a:t>:</a:t>
            </a:r>
            <a:r>
              <a:rPr lang="en-US" sz="3200" b="0" strike="noStrike" spc="-1" dirty="0">
                <a:solidFill>
                  <a:srgbClr val="000000"/>
                </a:solidFill>
                <a:uFill>
                  <a:solidFill>
                    <a:srgbClr val="FFFFFF"/>
                  </a:solidFill>
                </a:uFill>
                <a:latin typeface="Arial"/>
                <a:ea typeface="DejaVu Sans"/>
              </a:rPr>
              <a:t> The case for which the solution can be defined non-recursively (</a:t>
            </a:r>
            <a:r>
              <a:rPr lang="en-US" sz="3200" b="0" strike="noStrike" spc="-1" dirty="0" err="1">
                <a:solidFill>
                  <a:srgbClr val="000000"/>
                </a:solidFill>
                <a:uFill>
                  <a:solidFill>
                    <a:srgbClr val="FFFFFF"/>
                  </a:solidFill>
                </a:uFill>
                <a:latin typeface="Arial"/>
                <a:ea typeface="DejaVu Sans"/>
              </a:rPr>
              <a:t>n</a:t>
            </a:r>
            <a:r>
              <a:rPr lang="en-US" sz="3200" b="0" strike="noStrike" spc="-1" dirty="0">
                <a:solidFill>
                  <a:srgbClr val="000000"/>
                </a:solidFill>
                <a:uFill>
                  <a:solidFill>
                    <a:srgbClr val="FFFFFF"/>
                  </a:solidFill>
                </a:uFill>
                <a:latin typeface="Arial"/>
                <a:ea typeface="DejaVu Sans"/>
              </a:rPr>
              <a:t>! = 1 if </a:t>
            </a:r>
            <a:r>
              <a:rPr lang="en-US" sz="3200" b="0" strike="noStrike" spc="-1" dirty="0" err="1">
                <a:solidFill>
                  <a:srgbClr val="000000"/>
                </a:solidFill>
                <a:uFill>
                  <a:solidFill>
                    <a:srgbClr val="FFFFFF"/>
                  </a:solidFill>
                </a:uFill>
                <a:latin typeface="Arial"/>
                <a:ea typeface="DejaVu Sans"/>
              </a:rPr>
              <a:t>n</a:t>
            </a:r>
            <a:r>
              <a:rPr lang="en-US" sz="3200" b="0" strike="noStrike" spc="-1" dirty="0">
                <a:solidFill>
                  <a:srgbClr val="000000"/>
                </a:solidFill>
                <a:uFill>
                  <a:solidFill>
                    <a:srgbClr val="FFFFFF"/>
                  </a:solidFill>
                </a:uFill>
                <a:latin typeface="Arial"/>
                <a:ea typeface="DejaVu Sans"/>
              </a:rPr>
              <a:t> = 0)</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1" strike="noStrike" spc="-1" dirty="0">
                <a:solidFill>
                  <a:srgbClr val="000000"/>
                </a:solidFill>
                <a:uFill>
                  <a:solidFill>
                    <a:srgbClr val="FFFFFF"/>
                  </a:solidFill>
                </a:uFill>
                <a:latin typeface="Arial"/>
                <a:ea typeface="DejaVu Sans"/>
              </a:rPr>
              <a:t>General (or recursive) case:</a:t>
            </a:r>
            <a:r>
              <a:rPr lang="en-US" sz="3200" b="0" strike="noStrike" spc="-1" dirty="0">
                <a:solidFill>
                  <a:srgbClr val="000000"/>
                </a:solidFill>
                <a:uFill>
                  <a:solidFill>
                    <a:srgbClr val="FFFFFF"/>
                  </a:solidFill>
                </a:uFill>
                <a:latin typeface="Arial"/>
                <a:ea typeface="DejaVu Sans"/>
              </a:rPr>
              <a:t> A case that is defined using recursion (</a:t>
            </a:r>
            <a:r>
              <a:rPr lang="en-US" sz="3200" b="0" strike="noStrike" spc="-1" dirty="0" err="1">
                <a:solidFill>
                  <a:srgbClr val="000000"/>
                </a:solidFill>
                <a:uFill>
                  <a:solidFill>
                    <a:srgbClr val="FFFFFF"/>
                  </a:solidFill>
                </a:uFill>
                <a:latin typeface="Arial"/>
                <a:ea typeface="DejaVu Sans"/>
              </a:rPr>
              <a:t>n</a:t>
            </a:r>
            <a:r>
              <a:rPr lang="en-US" sz="3200" b="0" strike="noStrike" spc="-1" dirty="0">
                <a:solidFill>
                  <a:srgbClr val="000000"/>
                </a:solidFill>
                <a:uFill>
                  <a:solidFill>
                    <a:srgbClr val="FFFFFF"/>
                  </a:solidFill>
                </a:uFill>
                <a:latin typeface="Arial"/>
                <a:ea typeface="DejaVu Sans"/>
              </a:rPr>
              <a:t>! = </a:t>
            </a:r>
            <a:r>
              <a:rPr lang="en-US" sz="3200" b="0" strike="noStrike" spc="-1" dirty="0" err="1">
                <a:solidFill>
                  <a:srgbClr val="000000"/>
                </a:solidFill>
                <a:uFill>
                  <a:solidFill>
                    <a:srgbClr val="FFFFFF"/>
                  </a:solidFill>
                </a:uFill>
                <a:latin typeface="Arial"/>
                <a:ea typeface="DejaVu Sans"/>
              </a:rPr>
              <a:t>n</a:t>
            </a:r>
            <a:r>
              <a:rPr lang="en-US" sz="3200" b="0" strike="noStrike" spc="-1" dirty="0">
                <a:solidFill>
                  <a:srgbClr val="000000"/>
                </a:solidFill>
                <a:uFill>
                  <a:solidFill>
                    <a:srgbClr val="FFFFFF"/>
                  </a:solidFill>
                </a:uFill>
                <a:latin typeface="Arial"/>
                <a:ea typeface="DejaVu Sans"/>
              </a:rPr>
              <a:t> * (n-1)! if </a:t>
            </a:r>
            <a:r>
              <a:rPr lang="en-US" sz="3200" b="0" strike="noStrike" spc="-1" dirty="0" err="1">
                <a:solidFill>
                  <a:srgbClr val="000000"/>
                </a:solidFill>
                <a:uFill>
                  <a:solidFill>
                    <a:srgbClr val="FFFFFF"/>
                  </a:solidFill>
                </a:uFill>
                <a:latin typeface="Arial"/>
                <a:ea typeface="DejaVu Sans"/>
              </a:rPr>
              <a:t>n</a:t>
            </a:r>
            <a:r>
              <a:rPr lang="en-US" sz="3200" b="0" strike="noStrike" spc="-1" dirty="0">
                <a:solidFill>
                  <a:srgbClr val="000000"/>
                </a:solidFill>
                <a:uFill>
                  <a:solidFill>
                    <a:srgbClr val="FFFFFF"/>
                  </a:solidFill>
                </a:uFill>
                <a:latin typeface="Arial"/>
                <a:ea typeface="DejaVu Sans"/>
              </a:rPr>
              <a:t> &gt; 0)</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1" strike="noStrike" spc="-1" dirty="0">
                <a:solidFill>
                  <a:srgbClr val="000000"/>
                </a:solidFill>
                <a:uFill>
                  <a:solidFill>
                    <a:srgbClr val="FFFFFF"/>
                  </a:solidFill>
                </a:uFill>
                <a:latin typeface="Arial"/>
                <a:ea typeface="DejaVu Sans"/>
              </a:rPr>
              <a:t>Recursive algorithm:</a:t>
            </a:r>
            <a:r>
              <a:rPr lang="en-US" sz="3200" b="0" strike="noStrike" spc="-1" dirty="0">
                <a:solidFill>
                  <a:srgbClr val="000000"/>
                </a:solidFill>
                <a:uFill>
                  <a:solidFill>
                    <a:srgbClr val="FFFFFF"/>
                  </a:solidFill>
                </a:uFill>
                <a:latin typeface="Arial"/>
                <a:ea typeface="DejaVu Sans"/>
              </a:rPr>
              <a:t> An algorithm described in terms of base cases and general cases</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ea typeface="DejaVu Sans"/>
              </a:rPr>
              <a:t>Programming Recursively</a:t>
            </a:r>
            <a:endParaRPr lang="en-US" sz="1800" b="0" strike="noStrike" spc="-1">
              <a:solidFill>
                <a:srgbClr val="000000"/>
              </a:solidFill>
              <a:uFill>
                <a:solidFill>
                  <a:srgbClr val="FFFFFF"/>
                </a:solidFill>
              </a:uFill>
              <a:latin typeface="Arial"/>
            </a:endParaRPr>
          </a:p>
        </p:txBody>
      </p:sp>
      <p:sp>
        <p:nvSpPr>
          <p:cNvPr id="153"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Recursion is a powerful tool when programming</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Recursive solutions are often simpler and more elegant than other solutions</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They allow programmers to solve small, divisible parts of a problem instead of having to wrangle the big picture</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smtClean="0">
                <a:solidFill>
                  <a:srgbClr val="000000"/>
                </a:solidFill>
                <a:uFill>
                  <a:solidFill>
                    <a:srgbClr val="FFFFFF"/>
                  </a:solidFill>
                </a:uFill>
                <a:latin typeface="Arial"/>
                <a:ea typeface="DejaVu Sans"/>
              </a:rPr>
              <a:t>We’ll </a:t>
            </a:r>
            <a:r>
              <a:rPr lang="en-US" sz="3200" b="0" strike="noStrike" spc="-1" dirty="0">
                <a:solidFill>
                  <a:srgbClr val="000000"/>
                </a:solidFill>
                <a:uFill>
                  <a:solidFill>
                    <a:srgbClr val="FFFFFF"/>
                  </a:solidFill>
                </a:uFill>
                <a:latin typeface="Arial"/>
                <a:ea typeface="DejaVu Sans"/>
              </a:rPr>
              <a:t>discuss when to use recursion later in this chapter</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rPr>
              <a:t>Factorial Code Example</a:t>
            </a:r>
            <a:endParaRPr lang="en-US" sz="1800" b="0" strike="noStrike" spc="-1">
              <a:solidFill>
                <a:srgbClr val="000000"/>
              </a:solidFill>
              <a:uFill>
                <a:solidFill>
                  <a:srgbClr val="FFFFFF"/>
                </a:solidFill>
              </a:uFill>
              <a:latin typeface="Arial"/>
            </a:endParaRPr>
          </a:p>
        </p:txBody>
      </p:sp>
      <p:sp>
        <p:nvSpPr>
          <p:cNvPr id="155" name="CustomShape 2"/>
          <p:cNvSpPr/>
          <p:nvPr/>
        </p:nvSpPr>
        <p:spPr>
          <a:xfrm>
            <a:off x="504000" y="1769040"/>
            <a:ext cx="9070920" cy="4383720"/>
          </a:xfrm>
          <a:prstGeom prst="rect">
            <a:avLst/>
          </a:prstGeom>
          <a:solidFill>
            <a:srgbClr val="FFFFFF"/>
          </a:solidFill>
          <a:ln>
            <a:noFill/>
          </a:ln>
        </p:spPr>
        <p:style>
          <a:lnRef idx="0">
            <a:scrgbClr r="0" g="0" b="0"/>
          </a:lnRef>
          <a:fillRef idx="0">
            <a:scrgbClr r="0" g="0" b="0"/>
          </a:fillRef>
          <a:effectRef idx="0">
            <a:scrgbClr r="0" g="0" b="0"/>
          </a:effectRef>
          <a:fontRef idx="minor"/>
        </p:style>
        <p:txBody>
          <a:bodyPr lIns="0" tIns="0" rIns="0" bIns="0"/>
          <a:lstStyle/>
          <a:p>
            <a:r>
              <a:rPr lang="en-US" sz="1800" b="1" strike="noStrike" spc="-1">
                <a:solidFill>
                  <a:srgbClr val="2300DC"/>
                </a:solidFill>
                <a:uFill>
                  <a:solidFill>
                    <a:srgbClr val="FFFFFF"/>
                  </a:solidFill>
                </a:uFill>
                <a:latin typeface="Courier New"/>
              </a:rPr>
              <a:t>// Iterative solution</a:t>
            </a:r>
            <a:endParaRPr lang="en-US" sz="1800" b="0" strike="noStrike" spc="-1">
              <a:solidFill>
                <a:srgbClr val="000000"/>
              </a:solidFill>
              <a:uFill>
                <a:solidFill>
                  <a:srgbClr val="FFFFFF"/>
                </a:solidFill>
              </a:uFill>
              <a:latin typeface="Arial"/>
            </a:endParaRPr>
          </a:p>
          <a:p>
            <a:r>
              <a:rPr lang="en-US" sz="1800" b="1" strike="noStrike" spc="-1">
                <a:solidFill>
                  <a:srgbClr val="000000"/>
                </a:solidFill>
                <a:uFill>
                  <a:solidFill>
                    <a:srgbClr val="FFFFFF"/>
                  </a:solidFill>
                </a:uFill>
                <a:latin typeface="Courier New"/>
              </a:rPr>
              <a:t>int Factorial(int number) {</a:t>
            </a:r>
            <a:endParaRPr lang="en-US" sz="1800" b="0" strike="noStrike" spc="-1">
              <a:solidFill>
                <a:srgbClr val="000000"/>
              </a:solidFill>
              <a:uFill>
                <a:solidFill>
                  <a:srgbClr val="FFFFFF"/>
                </a:solidFill>
              </a:uFill>
              <a:latin typeface="Arial"/>
            </a:endParaRPr>
          </a:p>
          <a:p>
            <a:r>
              <a:rPr lang="en-US" sz="1800" b="1" strike="noStrike" spc="-1">
                <a:solidFill>
                  <a:srgbClr val="000000"/>
                </a:solidFill>
                <a:uFill>
                  <a:solidFill>
                    <a:srgbClr val="FFFFFF"/>
                  </a:solidFill>
                </a:uFill>
                <a:latin typeface="Courier New"/>
              </a:rPr>
              <a:t>  int fact = 1;</a:t>
            </a:r>
            <a:endParaRPr lang="en-US" sz="1800" b="0" strike="noStrike" spc="-1">
              <a:solidFill>
                <a:srgbClr val="000000"/>
              </a:solidFill>
              <a:uFill>
                <a:solidFill>
                  <a:srgbClr val="FFFFFF"/>
                </a:solidFill>
              </a:uFill>
              <a:latin typeface="Arial"/>
            </a:endParaRPr>
          </a:p>
          <a:p>
            <a:r>
              <a:rPr lang="en-US" sz="1800" b="1" strike="noStrike" spc="-1">
                <a:solidFill>
                  <a:srgbClr val="000000"/>
                </a:solidFill>
                <a:uFill>
                  <a:solidFill>
                    <a:srgbClr val="FFFFFF"/>
                  </a:solidFill>
                </a:uFill>
                <a:latin typeface="Courier New"/>
              </a:rPr>
              <a:t>  for (int count = 2; count &lt;= number; count++) {</a:t>
            </a:r>
            <a:endParaRPr lang="en-US" sz="1800" b="0" strike="noStrike" spc="-1">
              <a:solidFill>
                <a:srgbClr val="000000"/>
              </a:solidFill>
              <a:uFill>
                <a:solidFill>
                  <a:srgbClr val="FFFFFF"/>
                </a:solidFill>
              </a:uFill>
              <a:latin typeface="Arial"/>
            </a:endParaRPr>
          </a:p>
          <a:p>
            <a:r>
              <a:rPr lang="en-US" sz="1800" b="1" strike="noStrike" spc="-1">
                <a:solidFill>
                  <a:srgbClr val="000000"/>
                </a:solidFill>
                <a:uFill>
                  <a:solidFill>
                    <a:srgbClr val="FFFFFF"/>
                  </a:solidFill>
                </a:uFill>
                <a:latin typeface="Courier New"/>
              </a:rPr>
              <a:t>    fact = fact * count;</a:t>
            </a:r>
            <a:endParaRPr lang="en-US" sz="1800" b="0" strike="noStrike" spc="-1">
              <a:solidFill>
                <a:srgbClr val="000000"/>
              </a:solidFill>
              <a:uFill>
                <a:solidFill>
                  <a:srgbClr val="FFFFFF"/>
                </a:solidFill>
              </a:uFill>
              <a:latin typeface="Arial"/>
            </a:endParaRPr>
          </a:p>
          <a:p>
            <a:r>
              <a:rPr lang="en-US" sz="1800" b="1" strike="noStrike" spc="-1">
                <a:solidFill>
                  <a:srgbClr val="000000"/>
                </a:solidFill>
                <a:uFill>
                  <a:solidFill>
                    <a:srgbClr val="FFFFFF"/>
                  </a:solidFill>
                </a:uFill>
                <a:latin typeface="Courier New"/>
              </a:rPr>
              <a:t>  }</a:t>
            </a:r>
            <a:endParaRPr lang="en-US" sz="1800" b="0" strike="noStrike" spc="-1">
              <a:solidFill>
                <a:srgbClr val="000000"/>
              </a:solidFill>
              <a:uFill>
                <a:solidFill>
                  <a:srgbClr val="FFFFFF"/>
                </a:solidFill>
              </a:uFill>
              <a:latin typeface="Arial"/>
            </a:endParaRPr>
          </a:p>
          <a:p>
            <a:r>
              <a:rPr lang="en-US" sz="1800" b="1" strike="noStrike" spc="-1">
                <a:solidFill>
                  <a:srgbClr val="000000"/>
                </a:solidFill>
                <a:uFill>
                  <a:solidFill>
                    <a:srgbClr val="FFFFFF"/>
                  </a:solidFill>
                </a:uFill>
                <a:latin typeface="Courier New"/>
              </a:rPr>
              <a:t>  return fact;</a:t>
            </a:r>
            <a:endParaRPr lang="en-US" sz="1800" b="0" strike="noStrike" spc="-1">
              <a:solidFill>
                <a:srgbClr val="000000"/>
              </a:solidFill>
              <a:uFill>
                <a:solidFill>
                  <a:srgbClr val="FFFFFF"/>
                </a:solidFill>
              </a:uFill>
              <a:latin typeface="Arial"/>
            </a:endParaRPr>
          </a:p>
          <a:p>
            <a:r>
              <a:rPr lang="en-US" sz="1800" b="1" strike="noStrike" spc="-1">
                <a:solidFill>
                  <a:srgbClr val="000000"/>
                </a:solidFill>
                <a:uFill>
                  <a:solidFill>
                    <a:srgbClr val="FFFFFF"/>
                  </a:solidFill>
                </a:uFill>
                <a:latin typeface="Courier New"/>
              </a:rPr>
              <a:t>}</a:t>
            </a:r>
            <a:endParaRPr lang="en-US" sz="1800" b="0" strike="noStrike" spc="-1">
              <a:solidFill>
                <a:srgbClr val="000000"/>
              </a:solidFill>
              <a:uFill>
                <a:solidFill>
                  <a:srgbClr val="FFFFFF"/>
                </a:solidFill>
              </a:uFill>
              <a:latin typeface="Arial"/>
            </a:endParaRPr>
          </a:p>
          <a:p>
            <a:r>
              <a:rPr lang="en-US" sz="1800" b="1" strike="noStrike" spc="-1">
                <a:solidFill>
                  <a:srgbClr val="2300DC"/>
                </a:solidFill>
                <a:uFill>
                  <a:solidFill>
                    <a:srgbClr val="FFFFFF"/>
                  </a:solidFill>
                </a:uFill>
                <a:latin typeface="Courier New"/>
              </a:rPr>
              <a:t>// Recursive solution</a:t>
            </a:r>
            <a:endParaRPr lang="en-US" sz="1800" b="0" strike="noStrike" spc="-1">
              <a:solidFill>
                <a:srgbClr val="000000"/>
              </a:solidFill>
              <a:uFill>
                <a:solidFill>
                  <a:srgbClr val="FFFFFF"/>
                </a:solidFill>
              </a:uFill>
              <a:latin typeface="Arial"/>
            </a:endParaRPr>
          </a:p>
          <a:p>
            <a:r>
              <a:rPr lang="en-US" sz="1800" b="1" strike="noStrike" spc="-1">
                <a:solidFill>
                  <a:srgbClr val="000000"/>
                </a:solidFill>
                <a:uFill>
                  <a:solidFill>
                    <a:srgbClr val="FFFFFF"/>
                  </a:solidFill>
                </a:uFill>
                <a:latin typeface="Courier New"/>
              </a:rPr>
              <a:t>int Factorial(int number) {</a:t>
            </a:r>
            <a:endParaRPr lang="en-US" sz="1800" b="0" strike="noStrike" spc="-1">
              <a:solidFill>
                <a:srgbClr val="000000"/>
              </a:solidFill>
              <a:uFill>
                <a:solidFill>
                  <a:srgbClr val="FFFFFF"/>
                </a:solidFill>
              </a:uFill>
              <a:latin typeface="Arial"/>
            </a:endParaRPr>
          </a:p>
          <a:p>
            <a:r>
              <a:rPr lang="en-US" sz="1800" b="1" strike="noStrike" spc="-1">
                <a:solidFill>
                  <a:srgbClr val="000000"/>
                </a:solidFill>
                <a:uFill>
                  <a:solidFill>
                    <a:srgbClr val="FFFFFF"/>
                  </a:solidFill>
                </a:uFill>
                <a:latin typeface="Courier New"/>
              </a:rPr>
              <a:t>  if (number == 0)  </a:t>
            </a:r>
            <a:r>
              <a:rPr lang="en-US" sz="1800" b="1" strike="noStrike" spc="-1">
                <a:solidFill>
                  <a:srgbClr val="2300DC"/>
                </a:solidFill>
                <a:uFill>
                  <a:solidFill>
                    <a:srgbClr val="FFFFFF"/>
                  </a:solidFill>
                </a:uFill>
                <a:latin typeface="Courier New"/>
              </a:rPr>
              <a:t>// Base case</a:t>
            </a:r>
            <a:endParaRPr lang="en-US" sz="1800" b="0" strike="noStrike" spc="-1">
              <a:solidFill>
                <a:srgbClr val="000000"/>
              </a:solidFill>
              <a:uFill>
                <a:solidFill>
                  <a:srgbClr val="FFFFFF"/>
                </a:solidFill>
              </a:uFill>
              <a:latin typeface="Arial"/>
            </a:endParaRPr>
          </a:p>
          <a:p>
            <a:r>
              <a:rPr lang="en-US" sz="1800" b="1" strike="noStrike" spc="-1">
                <a:solidFill>
                  <a:srgbClr val="000000"/>
                </a:solidFill>
                <a:uFill>
                  <a:solidFill>
                    <a:srgbClr val="FFFFFF"/>
                  </a:solidFill>
                </a:uFill>
                <a:latin typeface="Courier New"/>
              </a:rPr>
              <a:t>    return 1;</a:t>
            </a:r>
            <a:endParaRPr lang="en-US" sz="1800" b="0" strike="noStrike" spc="-1">
              <a:solidFill>
                <a:srgbClr val="000000"/>
              </a:solidFill>
              <a:uFill>
                <a:solidFill>
                  <a:srgbClr val="FFFFFF"/>
                </a:solidFill>
              </a:uFill>
              <a:latin typeface="Arial"/>
            </a:endParaRPr>
          </a:p>
          <a:p>
            <a:r>
              <a:rPr lang="en-US" sz="1800" b="1" strike="noStrike" spc="-1">
                <a:solidFill>
                  <a:srgbClr val="000000"/>
                </a:solidFill>
                <a:uFill>
                  <a:solidFill>
                    <a:srgbClr val="FFFFFF"/>
                  </a:solidFill>
                </a:uFill>
                <a:latin typeface="Courier New"/>
              </a:rPr>
              <a:t>  else  </a:t>
            </a:r>
            <a:r>
              <a:rPr lang="en-US" sz="1800" b="1" strike="noStrike" spc="-1">
                <a:solidFill>
                  <a:srgbClr val="2300DC"/>
                </a:solidFill>
                <a:uFill>
                  <a:solidFill>
                    <a:srgbClr val="FFFFFF"/>
                  </a:solidFill>
                </a:uFill>
                <a:latin typeface="Courier New"/>
              </a:rPr>
              <a:t>// General case</a:t>
            </a:r>
            <a:endParaRPr lang="en-US" sz="1800" b="0" strike="noStrike" spc="-1">
              <a:solidFill>
                <a:srgbClr val="000000"/>
              </a:solidFill>
              <a:uFill>
                <a:solidFill>
                  <a:srgbClr val="FFFFFF"/>
                </a:solidFill>
              </a:uFill>
              <a:latin typeface="Arial"/>
            </a:endParaRPr>
          </a:p>
          <a:p>
            <a:r>
              <a:rPr lang="en-US" sz="1800" b="1" strike="noStrike" spc="-1">
                <a:solidFill>
                  <a:srgbClr val="000000"/>
                </a:solidFill>
                <a:uFill>
                  <a:solidFill>
                    <a:srgbClr val="FFFFFF"/>
                  </a:solidFill>
                </a:uFill>
                <a:latin typeface="Courier New"/>
              </a:rPr>
              <a:t>    return number * Factorial(number-1);</a:t>
            </a:r>
            <a:endParaRPr lang="en-US" sz="1800" b="0" strike="noStrike" spc="-1">
              <a:solidFill>
                <a:srgbClr val="000000"/>
              </a:solidFill>
              <a:uFill>
                <a:solidFill>
                  <a:srgbClr val="FFFFFF"/>
                </a:solidFill>
              </a:uFill>
              <a:latin typeface="Arial"/>
            </a:endParaRPr>
          </a:p>
          <a:p>
            <a:r>
              <a:rPr lang="en-US" sz="1800" b="1" strike="noStrike" spc="-1">
                <a:solidFill>
                  <a:srgbClr val="000000"/>
                </a:solidFill>
                <a:uFill>
                  <a:solidFill>
                    <a:srgbClr val="FFFFFF"/>
                  </a:solidFill>
                </a:uFill>
                <a:latin typeface="Courier New"/>
              </a:rPr>
              <a:t>}</a:t>
            </a:r>
            <a:endParaRPr lang="en-US" sz="1800" b="0" strike="noStrike" spc="-1">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ea typeface="DejaVu Sans"/>
              </a:rPr>
              <a:t>Recursive vs. Iterative Factorials</a:t>
            </a:r>
            <a:endParaRPr lang="en-US" sz="1800" b="0" strike="noStrike" spc="-1">
              <a:solidFill>
                <a:srgbClr val="000000"/>
              </a:solidFill>
              <a:uFill>
                <a:solidFill>
                  <a:srgbClr val="FFFFFF"/>
                </a:solidFill>
              </a:uFill>
              <a:latin typeface="Arial"/>
            </a:endParaRPr>
          </a:p>
        </p:txBody>
      </p:sp>
      <p:sp>
        <p:nvSpPr>
          <p:cNvPr id="157"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The iterative solution uses a </a:t>
            </a:r>
            <a:r>
              <a:rPr lang="en-US" sz="3200" b="0" i="1" strike="noStrike" spc="-1" dirty="0">
                <a:solidFill>
                  <a:srgbClr val="000000"/>
                </a:solidFill>
                <a:uFill>
                  <a:solidFill>
                    <a:srgbClr val="FFFFFF"/>
                  </a:solidFill>
                </a:uFill>
                <a:latin typeface="Arial"/>
                <a:ea typeface="DejaVu Sans"/>
              </a:rPr>
              <a:t>looping construct</a:t>
            </a:r>
            <a:r>
              <a:rPr lang="en-US" sz="3200" b="0" strike="noStrike" spc="-1" dirty="0">
                <a:solidFill>
                  <a:srgbClr val="000000"/>
                </a:solidFill>
                <a:uFill>
                  <a:solidFill>
                    <a:srgbClr val="FFFFFF"/>
                  </a:solidFill>
                </a:uFill>
                <a:latin typeface="Arial"/>
                <a:ea typeface="DejaVu Sans"/>
              </a:rPr>
              <a:t> (the </a:t>
            </a:r>
            <a:r>
              <a:rPr lang="en-US" sz="3200" b="0" i="1" strike="noStrike" spc="-1" dirty="0">
                <a:solidFill>
                  <a:srgbClr val="000000"/>
                </a:solidFill>
                <a:uFill>
                  <a:solidFill>
                    <a:srgbClr val="FFFFFF"/>
                  </a:solidFill>
                </a:uFill>
                <a:latin typeface="Arial"/>
                <a:ea typeface="DejaVu Sans"/>
              </a:rPr>
              <a:t>for </a:t>
            </a:r>
            <a:r>
              <a:rPr lang="en-US" sz="3200" b="0" strike="noStrike" spc="-1" dirty="0">
                <a:solidFill>
                  <a:srgbClr val="000000"/>
                </a:solidFill>
                <a:uFill>
                  <a:solidFill>
                    <a:srgbClr val="FFFFFF"/>
                  </a:solidFill>
                </a:uFill>
                <a:latin typeface="Arial"/>
                <a:ea typeface="DejaVu Sans"/>
              </a:rPr>
              <a:t>loop) while the recursive solution uses a </a:t>
            </a:r>
            <a:r>
              <a:rPr lang="en-US" sz="3200" b="0" i="1" strike="noStrike" spc="-1" dirty="0">
                <a:solidFill>
                  <a:srgbClr val="000000"/>
                </a:solidFill>
                <a:uFill>
                  <a:solidFill>
                    <a:srgbClr val="FFFFFF"/>
                  </a:solidFill>
                </a:uFill>
                <a:latin typeface="Arial"/>
                <a:ea typeface="DejaVu Sans"/>
              </a:rPr>
              <a:t>branching construct</a:t>
            </a:r>
            <a:r>
              <a:rPr lang="en-US" sz="3200" b="0" strike="noStrike" spc="-1" dirty="0">
                <a:solidFill>
                  <a:srgbClr val="000000"/>
                </a:solidFill>
                <a:uFill>
                  <a:solidFill>
                    <a:srgbClr val="FFFFFF"/>
                  </a:solidFill>
                </a:uFill>
                <a:latin typeface="Arial"/>
                <a:ea typeface="DejaVu Sans"/>
              </a:rPr>
              <a:t> (the if-else statement)</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The iterative solution has two local variables, while the recursive solution only has the parameter</a:t>
            </a:r>
            <a:endParaRPr lang="en-US" sz="1800" b="0" strike="noStrike" spc="-1" dirty="0">
              <a:solidFill>
                <a:srgbClr val="000000"/>
              </a:solidFill>
              <a:uFill>
                <a:solidFill>
                  <a:srgbClr val="FFFFFF"/>
                </a:solidFill>
              </a:uFill>
              <a:latin typeface="Arial"/>
            </a:endParaRPr>
          </a:p>
          <a:p>
            <a:pPr marL="864000" lvl="1" indent="-323280">
              <a:lnSpc>
                <a:spcPct val="100000"/>
              </a:lnSpc>
              <a:buClr>
                <a:srgbClr val="000000"/>
              </a:buClr>
              <a:buSzPct val="75000"/>
              <a:buFont typeface="Symbol"/>
              <a:buChar char=""/>
            </a:pPr>
            <a:r>
              <a:rPr lang="en-US" sz="2800" b="0" strike="noStrike" spc="-1" dirty="0">
                <a:solidFill>
                  <a:srgbClr val="000000"/>
                </a:solidFill>
                <a:uFill>
                  <a:solidFill>
                    <a:srgbClr val="FFFFFF"/>
                  </a:solidFill>
                </a:uFill>
                <a:latin typeface="Arial"/>
                <a:ea typeface="DejaVu Sans"/>
              </a:rPr>
              <a:t>Sometimes the recursive solution use local variables, and sometimes they need several parameters</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ea typeface="DejaVu Sans"/>
              </a:rPr>
              <a:t>Verifying Recursive Functions</a:t>
            </a:r>
            <a:endParaRPr lang="en-US" sz="1800" b="0" strike="noStrike" spc="-1">
              <a:solidFill>
                <a:srgbClr val="000000"/>
              </a:solidFill>
              <a:uFill>
                <a:solidFill>
                  <a:srgbClr val="FFFFFF"/>
                </a:solidFill>
              </a:uFill>
              <a:latin typeface="Arial"/>
            </a:endParaRPr>
          </a:p>
        </p:txBody>
      </p:sp>
      <p:sp>
        <p:nvSpPr>
          <p:cNvPr id="159"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Walking through the execution of the function is time consuming, tedious, and </a:t>
            </a:r>
            <a:r>
              <a:rPr lang="en-US" sz="3200" b="0" strike="noStrike" spc="-1" dirty="0" smtClean="0">
                <a:solidFill>
                  <a:srgbClr val="000000"/>
                </a:solidFill>
                <a:uFill>
                  <a:solidFill>
                    <a:srgbClr val="FFFFFF"/>
                  </a:solidFill>
                </a:uFill>
                <a:latin typeface="Arial"/>
                <a:ea typeface="DejaVu Sans"/>
              </a:rPr>
              <a:t>doesn’t </a:t>
            </a:r>
            <a:r>
              <a:rPr lang="en-US" sz="3200" b="0" strike="noStrike" spc="-1" dirty="0">
                <a:solidFill>
                  <a:srgbClr val="000000"/>
                </a:solidFill>
                <a:uFill>
                  <a:solidFill>
                    <a:srgbClr val="FFFFFF"/>
                  </a:solidFill>
                </a:uFill>
                <a:latin typeface="Arial"/>
                <a:ea typeface="DejaVu Sans"/>
              </a:rPr>
              <a:t>tell us if it works for all possible values</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For example, try tracing the execution of Factorial(4)</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A more general solution is necessary for verifying recursive functions</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dirty="0">
                <a:solidFill>
                  <a:srgbClr val="000000"/>
                </a:solidFill>
                <a:uFill>
                  <a:solidFill>
                    <a:srgbClr val="FFFFFF"/>
                  </a:solidFill>
                </a:uFill>
                <a:latin typeface="Arial"/>
                <a:ea typeface="DejaVu Sans"/>
              </a:rPr>
              <a:t>The Three-Question Method</a:t>
            </a:r>
            <a:endParaRPr lang="en-US" sz="1800" b="0" strike="noStrike" spc="-1" dirty="0">
              <a:solidFill>
                <a:srgbClr val="000000"/>
              </a:solidFill>
              <a:uFill>
                <a:solidFill>
                  <a:srgbClr val="FFFFFF"/>
                </a:solidFill>
              </a:uFill>
              <a:latin typeface="Arial"/>
            </a:endParaRPr>
          </a:p>
        </p:txBody>
      </p:sp>
      <p:sp>
        <p:nvSpPr>
          <p:cNvPr id="161"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280">
              <a:lnSpc>
                <a:spcPct val="100000"/>
              </a:lnSpc>
              <a:buClr>
                <a:srgbClr val="000000"/>
              </a:buClr>
              <a:buSzPct val="45000"/>
              <a:buFont typeface="Wingdings" charset="2"/>
              <a:buChar char=""/>
            </a:pPr>
            <a:r>
              <a:rPr lang="en-US" sz="3200" b="1" strike="noStrike" spc="-1">
                <a:solidFill>
                  <a:srgbClr val="000000"/>
                </a:solidFill>
                <a:uFill>
                  <a:solidFill>
                    <a:srgbClr val="FFFFFF"/>
                  </a:solidFill>
                </a:uFill>
                <a:latin typeface="Arial"/>
                <a:ea typeface="DejaVu Sans"/>
              </a:rPr>
              <a:t>Base-Case Question:</a:t>
            </a:r>
            <a:r>
              <a:rPr lang="en-US" sz="3200" b="0" strike="noStrike" spc="-1">
                <a:solidFill>
                  <a:srgbClr val="000000"/>
                </a:solidFill>
                <a:uFill>
                  <a:solidFill>
                    <a:srgbClr val="FFFFFF"/>
                  </a:solidFill>
                </a:uFill>
                <a:latin typeface="Arial"/>
                <a:ea typeface="DejaVu Sans"/>
              </a:rPr>
              <a:t> Is there a non-recursive case in the method, and does it work correctly?</a:t>
            </a:r>
            <a:endParaRPr lang="en-US" sz="1800" b="0" strike="noStrike" spc="-1">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1" strike="noStrike" spc="-1">
                <a:solidFill>
                  <a:srgbClr val="000000"/>
                </a:solidFill>
                <a:uFill>
                  <a:solidFill>
                    <a:srgbClr val="FFFFFF"/>
                  </a:solidFill>
                </a:uFill>
                <a:latin typeface="Arial"/>
                <a:ea typeface="DejaVu Sans"/>
              </a:rPr>
              <a:t>Smaller-Caller Question:</a:t>
            </a:r>
            <a:r>
              <a:rPr lang="en-US" sz="3200" b="0" strike="noStrike" spc="-1">
                <a:solidFill>
                  <a:srgbClr val="000000"/>
                </a:solidFill>
                <a:uFill>
                  <a:solidFill>
                    <a:srgbClr val="FFFFFF"/>
                  </a:solidFill>
                </a:uFill>
                <a:latin typeface="Arial"/>
                <a:ea typeface="DejaVu Sans"/>
              </a:rPr>
              <a:t> Does each recursive call involve a smaller case of the problem, eventually leading to the base case?</a:t>
            </a:r>
            <a:endParaRPr lang="en-US" sz="1800" b="0" strike="noStrike" spc="-1">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1" strike="noStrike" spc="-1">
                <a:solidFill>
                  <a:srgbClr val="000000"/>
                </a:solidFill>
                <a:uFill>
                  <a:solidFill>
                    <a:srgbClr val="FFFFFF"/>
                  </a:solidFill>
                </a:uFill>
                <a:latin typeface="Arial"/>
                <a:ea typeface="DejaVu Sans"/>
              </a:rPr>
              <a:t>General-Case Question:</a:t>
            </a:r>
            <a:r>
              <a:rPr lang="en-US" sz="3200" b="0" strike="noStrike" spc="-1">
                <a:solidFill>
                  <a:srgbClr val="000000"/>
                </a:solidFill>
                <a:uFill>
                  <a:solidFill>
                    <a:srgbClr val="FFFFFF"/>
                  </a:solidFill>
                </a:uFill>
                <a:latin typeface="Arial"/>
                <a:ea typeface="DejaVu Sans"/>
              </a:rPr>
              <a:t> Assuming the recursive calls work correctly, does the rest of the function work correctly?</a:t>
            </a:r>
            <a:endParaRPr lang="en-US" sz="1800" b="0" strike="noStrike" spc="-1">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ea typeface="DejaVu Sans"/>
              </a:rPr>
              <a:t>You should be able to answer yes to all three!</a:t>
            </a:r>
            <a:endParaRPr lang="en-US" sz="1800" b="0" strike="noStrike" spc="-1">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ea typeface="DejaVu Sans"/>
              </a:rPr>
              <a:t>Three Questions for Factorial</a:t>
            </a:r>
            <a:endParaRPr lang="en-US" sz="1800" b="0" strike="noStrike" spc="-1">
              <a:solidFill>
                <a:srgbClr val="000000"/>
              </a:solidFill>
              <a:uFill>
                <a:solidFill>
                  <a:srgbClr val="FFFFFF"/>
                </a:solidFill>
              </a:uFill>
              <a:latin typeface="Arial"/>
            </a:endParaRPr>
          </a:p>
        </p:txBody>
      </p:sp>
      <p:sp>
        <p:nvSpPr>
          <p:cNvPr id="163"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28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ea typeface="DejaVu Sans"/>
              </a:rPr>
              <a:t>Base-Case Question: The base case occurs when n = 0, and it returns 1 with no further recursion.</a:t>
            </a:r>
            <a:endParaRPr lang="en-US" sz="1800" b="0" strike="noStrike" spc="-1">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ea typeface="DejaVu Sans"/>
              </a:rPr>
              <a:t>Smaller-Caller Question: Each recursive call subtracts 1 from n. This will eventually reach 0.</a:t>
            </a:r>
            <a:endParaRPr lang="en-US" sz="1800" b="0" strike="noStrike" spc="-1">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ea typeface="DejaVu Sans"/>
              </a:rPr>
              <a:t>General-Case Question: Assuming Factorial(n-1) returns the correct answer, n * Factorial(n-1) corresponds with the mathematical formula.</a:t>
            </a:r>
            <a:endParaRPr lang="en-US" sz="1800" b="0" strike="noStrike" spc="-1">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dirty="0">
                <a:solidFill>
                  <a:srgbClr val="000000"/>
                </a:solidFill>
                <a:uFill>
                  <a:solidFill>
                    <a:srgbClr val="FFFFFF"/>
                  </a:solidFill>
                </a:uFill>
                <a:latin typeface="Arial"/>
                <a:ea typeface="DejaVu Sans"/>
              </a:rPr>
              <a:t>Writing Recursive Functions</a:t>
            </a:r>
            <a:endParaRPr lang="en-US" sz="1800" b="0" strike="noStrike" spc="-1" dirty="0">
              <a:solidFill>
                <a:srgbClr val="000000"/>
              </a:solidFill>
              <a:uFill>
                <a:solidFill>
                  <a:srgbClr val="FFFFFF"/>
                </a:solidFill>
              </a:uFill>
              <a:latin typeface="Arial"/>
            </a:endParaRPr>
          </a:p>
        </p:txBody>
      </p:sp>
      <p:sp>
        <p:nvSpPr>
          <p:cNvPr id="165"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r>
              <a:rPr lang="en-US" sz="3200" b="0" strike="noStrike" spc="-1" dirty="0">
                <a:solidFill>
                  <a:srgbClr val="000000"/>
                </a:solidFill>
                <a:uFill>
                  <a:solidFill>
                    <a:srgbClr val="FFFFFF"/>
                  </a:solidFill>
                </a:uFill>
                <a:latin typeface="Arial"/>
                <a:ea typeface="DejaVu Sans"/>
              </a:rPr>
              <a:t>The general approach is:</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Get an exact definition of the problem</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Determine the size of the problem to be solved in each recursive call</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Identify the base cases</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Identify the general cases and the necessary recursive calls</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dirty="0">
                <a:solidFill>
                  <a:srgbClr val="000000"/>
                </a:solidFill>
                <a:uFill>
                  <a:solidFill>
                    <a:srgbClr val="FFFFFF"/>
                  </a:solidFill>
                </a:uFill>
                <a:latin typeface="Arial"/>
                <a:ea typeface="DejaVu Sans"/>
              </a:rPr>
              <a:t>Example: Searching in a List</a:t>
            </a:r>
            <a:endParaRPr lang="en-US" sz="1800" b="0" strike="noStrike" spc="-1" dirty="0">
              <a:solidFill>
                <a:srgbClr val="000000"/>
              </a:solidFill>
              <a:uFill>
                <a:solidFill>
                  <a:srgbClr val="FFFFFF"/>
                </a:solidFill>
              </a:uFill>
              <a:latin typeface="Arial"/>
            </a:endParaRPr>
          </a:p>
        </p:txBody>
      </p:sp>
      <p:sp>
        <p:nvSpPr>
          <p:cNvPr id="167"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Problem: Check if a particular value is in a list.</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Recursive solution: Return (value is in the first position?) OR (value is in the rest of the list?)</a:t>
            </a:r>
            <a:endParaRPr lang="en-US" sz="1800" b="0" strike="noStrike" spc="-1" dirty="0">
              <a:solidFill>
                <a:srgbClr val="000000"/>
              </a:solidFill>
              <a:uFill>
                <a:solidFill>
                  <a:srgbClr val="FFFFFF"/>
                </a:solidFill>
              </a:uFill>
              <a:latin typeface="Arial"/>
            </a:endParaRPr>
          </a:p>
          <a:p>
            <a:pPr marL="864000" lvl="1" indent="-323280">
              <a:lnSpc>
                <a:spcPct val="100000"/>
              </a:lnSpc>
              <a:buClr>
                <a:srgbClr val="000000"/>
              </a:buClr>
              <a:buSzPct val="75000"/>
              <a:buFont typeface="Symbol"/>
              <a:buChar char=""/>
            </a:pPr>
            <a:r>
              <a:rPr lang="en-US" sz="2800" b="0" strike="noStrike" spc="-1" dirty="0">
                <a:solidFill>
                  <a:srgbClr val="000000"/>
                </a:solidFill>
                <a:uFill>
                  <a:solidFill>
                    <a:srgbClr val="FFFFFF"/>
                  </a:solidFill>
                </a:uFill>
                <a:latin typeface="Arial"/>
                <a:ea typeface="DejaVu Sans"/>
              </a:rPr>
              <a:t>How do we search the rest of the list? By recursively calling the </a:t>
            </a:r>
            <a:r>
              <a:rPr lang="en-US" sz="2800" b="0" strike="noStrike" spc="-1" dirty="0" err="1">
                <a:solidFill>
                  <a:srgbClr val="000000"/>
                </a:solidFill>
                <a:uFill>
                  <a:solidFill>
                    <a:srgbClr val="FFFFFF"/>
                  </a:solidFill>
                </a:uFill>
                <a:latin typeface="Arial"/>
                <a:ea typeface="DejaVu Sans"/>
              </a:rPr>
              <a:t>ValueInList</a:t>
            </a:r>
            <a:r>
              <a:rPr lang="en-US" sz="2800" b="0" strike="noStrike" spc="-1" dirty="0">
                <a:solidFill>
                  <a:srgbClr val="000000"/>
                </a:solidFill>
                <a:uFill>
                  <a:solidFill>
                    <a:srgbClr val="FFFFFF"/>
                  </a:solidFill>
                </a:uFill>
                <a:latin typeface="Arial"/>
                <a:ea typeface="DejaVu Sans"/>
              </a:rPr>
              <a:t> function!</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Function: </a:t>
            </a:r>
            <a:r>
              <a:rPr lang="en-US" sz="3200" b="0" strike="noStrike" spc="-1" dirty="0" err="1">
                <a:solidFill>
                  <a:srgbClr val="000000"/>
                </a:solidFill>
                <a:uFill>
                  <a:solidFill>
                    <a:srgbClr val="FFFFFF"/>
                  </a:solidFill>
                </a:uFill>
                <a:latin typeface="Arial"/>
                <a:ea typeface="DejaVu Sans"/>
              </a:rPr>
              <a:t>bool</a:t>
            </a:r>
            <a:r>
              <a:rPr lang="en-US" sz="3200" b="0" strike="noStrike" spc="-1" dirty="0">
                <a:solidFill>
                  <a:srgbClr val="000000"/>
                </a:solidFill>
                <a:uFill>
                  <a:solidFill>
                    <a:srgbClr val="FFFFFF"/>
                  </a:solidFill>
                </a:uFill>
                <a:latin typeface="Arial"/>
                <a:ea typeface="DejaVu Sans"/>
              </a:rPr>
              <a:t> </a:t>
            </a:r>
            <a:r>
              <a:rPr lang="en-US" sz="3200" b="0" strike="noStrike" spc="-1" dirty="0" err="1" smtClean="0">
                <a:solidFill>
                  <a:srgbClr val="000000"/>
                </a:solidFill>
                <a:uFill>
                  <a:solidFill>
                    <a:srgbClr val="FFFFFF"/>
                  </a:solidFill>
                </a:uFill>
                <a:latin typeface="Arial"/>
                <a:ea typeface="DejaVu Sans"/>
              </a:rPr>
              <a:t>ValueInList</a:t>
            </a:r>
            <a:r>
              <a:rPr lang="en-US" sz="3200" b="0" strike="noStrike" spc="-1" dirty="0" smtClean="0">
                <a:solidFill>
                  <a:srgbClr val="000000"/>
                </a:solidFill>
                <a:uFill>
                  <a:solidFill>
                    <a:srgbClr val="FFFFFF"/>
                  </a:solidFill>
                </a:uFill>
                <a:latin typeface="Arial"/>
                <a:ea typeface="DejaVu Sans"/>
              </a:rPr>
              <a:t> (</a:t>
            </a:r>
            <a:r>
              <a:rPr lang="en-US" sz="3200" b="0" strike="noStrike" spc="-1" dirty="0">
                <a:solidFill>
                  <a:srgbClr val="000000"/>
                </a:solidFill>
                <a:uFill>
                  <a:solidFill>
                    <a:srgbClr val="FFFFFF"/>
                  </a:solidFill>
                </a:uFill>
                <a:latin typeface="Arial"/>
                <a:ea typeface="DejaVu Sans"/>
              </a:rPr>
              <a:t>list, value, index)</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Now consider the process above: What are the base cases and the general cases?</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dirty="0">
                <a:solidFill>
                  <a:srgbClr val="000000"/>
                </a:solidFill>
                <a:uFill>
                  <a:solidFill>
                    <a:srgbClr val="FFFFFF"/>
                  </a:solidFill>
                </a:uFill>
                <a:latin typeface="Arial"/>
                <a:ea typeface="DejaVu Sans"/>
              </a:rPr>
              <a:t>Example: Searching in a </a:t>
            </a:r>
            <a:r>
              <a:rPr lang="en-US" sz="4400" b="0" strike="noStrike" spc="-1" dirty="0" smtClean="0">
                <a:solidFill>
                  <a:srgbClr val="000000"/>
                </a:solidFill>
                <a:uFill>
                  <a:solidFill>
                    <a:srgbClr val="FFFFFF"/>
                  </a:solidFill>
                </a:uFill>
                <a:latin typeface="Arial"/>
                <a:ea typeface="DejaVu Sans"/>
              </a:rPr>
              <a:t>List (</a:t>
            </a:r>
            <a:r>
              <a:rPr lang="en-US" sz="4400" spc="-1" dirty="0" smtClean="0">
                <a:solidFill>
                  <a:srgbClr val="000000"/>
                </a:solidFill>
                <a:uFill>
                  <a:solidFill>
                    <a:srgbClr val="FFFFFF"/>
                  </a:solidFill>
                </a:uFill>
                <a:latin typeface="Arial"/>
                <a:ea typeface="DejaVu Sans"/>
              </a:rPr>
              <a:t>cont.)</a:t>
            </a:r>
            <a:endParaRPr lang="en-US" sz="1800" b="0" strike="noStrike" spc="-1" dirty="0">
              <a:solidFill>
                <a:srgbClr val="000000"/>
              </a:solidFill>
              <a:uFill>
                <a:solidFill>
                  <a:srgbClr val="FFFFFF"/>
                </a:solidFill>
              </a:uFill>
              <a:latin typeface="Arial"/>
            </a:endParaRPr>
          </a:p>
        </p:txBody>
      </p:sp>
      <p:sp>
        <p:nvSpPr>
          <p:cNvPr id="169"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Base case: The item is at the given index. Return true.</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General case: The item is in the rest of the list. Recursively call </a:t>
            </a:r>
            <a:r>
              <a:rPr lang="en-US" sz="3200" b="0" strike="noStrike" spc="-1" dirty="0" err="1" smtClean="0">
                <a:solidFill>
                  <a:srgbClr val="000000"/>
                </a:solidFill>
                <a:uFill>
                  <a:solidFill>
                    <a:srgbClr val="FFFFFF"/>
                  </a:solidFill>
                </a:uFill>
                <a:latin typeface="Arial"/>
                <a:ea typeface="DejaVu Sans"/>
              </a:rPr>
              <a:t>ValueInList</a:t>
            </a:r>
            <a:r>
              <a:rPr lang="en-US" sz="3200" b="0" strike="noStrike" spc="-1" dirty="0" smtClean="0">
                <a:solidFill>
                  <a:srgbClr val="000000"/>
                </a:solidFill>
                <a:uFill>
                  <a:solidFill>
                    <a:srgbClr val="FFFFFF"/>
                  </a:solidFill>
                </a:uFill>
                <a:latin typeface="Arial"/>
                <a:ea typeface="DejaVu Sans"/>
              </a:rPr>
              <a:t> (</a:t>
            </a:r>
            <a:r>
              <a:rPr lang="en-US" sz="3200" b="0" strike="noStrike" spc="-1" dirty="0">
                <a:solidFill>
                  <a:srgbClr val="000000"/>
                </a:solidFill>
                <a:uFill>
                  <a:solidFill>
                    <a:srgbClr val="FFFFFF"/>
                  </a:solidFill>
                </a:uFill>
                <a:latin typeface="Arial"/>
                <a:ea typeface="DejaVu Sans"/>
              </a:rPr>
              <a:t>list, value, index+1</a:t>
            </a:r>
            <a:r>
              <a:rPr lang="en-US" sz="3200" b="0" strike="noStrike" spc="-1" dirty="0" smtClean="0">
                <a:solidFill>
                  <a:srgbClr val="000000"/>
                </a:solidFill>
                <a:uFill>
                  <a:solidFill>
                    <a:srgbClr val="FFFFFF"/>
                  </a:solidFill>
                </a:uFill>
                <a:latin typeface="Arial"/>
                <a:ea typeface="DejaVu Sans"/>
              </a:rPr>
              <a:t>).</a:t>
            </a:r>
            <a:endParaRPr lang="en-US" sz="1800" b="0" strike="noStrike" spc="-1" dirty="0" smtClean="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Is that it? What if the item is not in the list?</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Base case: The end of the list has been reached. (index == length – 1) Return false.</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dirty="0">
                <a:solidFill>
                  <a:srgbClr val="000000"/>
                </a:solidFill>
                <a:uFill>
                  <a:solidFill>
                    <a:srgbClr val="FFFFFF"/>
                  </a:solidFill>
                </a:uFill>
                <a:latin typeface="Arial"/>
                <a:ea typeface="DejaVu Sans"/>
              </a:rPr>
              <a:t>Example: Searching in a </a:t>
            </a:r>
            <a:r>
              <a:rPr lang="en-US" sz="4400" b="0" strike="noStrike" spc="-1" dirty="0" smtClean="0">
                <a:solidFill>
                  <a:srgbClr val="000000"/>
                </a:solidFill>
                <a:uFill>
                  <a:solidFill>
                    <a:srgbClr val="FFFFFF"/>
                  </a:solidFill>
                </a:uFill>
                <a:latin typeface="Arial"/>
                <a:ea typeface="DejaVu Sans"/>
              </a:rPr>
              <a:t>List (cont.)</a:t>
            </a:r>
            <a:endParaRPr lang="en-US" sz="1800" b="0" strike="noStrike" spc="-1" dirty="0">
              <a:solidFill>
                <a:srgbClr val="000000"/>
              </a:solidFill>
              <a:uFill>
                <a:solidFill>
                  <a:srgbClr val="FFFFFF"/>
                </a:solidFill>
              </a:uFill>
              <a:latin typeface="Arial"/>
            </a:endParaRPr>
          </a:p>
        </p:txBody>
      </p:sp>
      <p:sp>
        <p:nvSpPr>
          <p:cNvPr id="171" name="CustomShape 2"/>
          <p:cNvSpPr/>
          <p:nvPr/>
        </p:nvSpPr>
        <p:spPr>
          <a:xfrm>
            <a:off x="504000" y="1769040"/>
            <a:ext cx="9070920" cy="4383720"/>
          </a:xfrm>
          <a:prstGeom prst="rect">
            <a:avLst/>
          </a:prstGeom>
          <a:solidFill>
            <a:srgbClr val="FFFFFF"/>
          </a:solidFill>
          <a:ln>
            <a:noFill/>
          </a:ln>
        </p:spPr>
        <p:style>
          <a:lnRef idx="0">
            <a:scrgbClr r="0" g="0" b="0"/>
          </a:lnRef>
          <a:fillRef idx="0">
            <a:scrgbClr r="0" g="0" b="0"/>
          </a:fillRef>
          <a:effectRef idx="0">
            <a:scrgbClr r="0" g="0" b="0"/>
          </a:effectRef>
          <a:fontRef idx="minor"/>
        </p:style>
        <p:txBody>
          <a:bodyPr lIns="0" tIns="0" rIns="0" bIns="0"/>
          <a:lstStyle/>
          <a:p>
            <a:r>
              <a:rPr lang="en-US" sz="2800" b="1" strike="noStrike" spc="-1">
                <a:solidFill>
                  <a:srgbClr val="000000"/>
                </a:solidFill>
                <a:uFill>
                  <a:solidFill>
                    <a:srgbClr val="FFFFFF"/>
                  </a:solidFill>
                </a:uFill>
                <a:latin typeface="Courier New"/>
                <a:ea typeface="DejaVu Sans"/>
              </a:rPr>
              <a:t>bool ValueInList(ListType list, int value,     int startIndex)</a:t>
            </a:r>
            <a:endParaRPr lang="en-US" sz="1800" b="0" strike="noStrike" spc="-1">
              <a:solidFill>
                <a:srgbClr val="000000"/>
              </a:solidFill>
              <a:uFill>
                <a:solidFill>
                  <a:srgbClr val="FFFFFF"/>
                </a:solidFill>
              </a:uFill>
              <a:latin typeface="Arial"/>
            </a:endParaRPr>
          </a:p>
          <a:p>
            <a:r>
              <a:rPr lang="en-US" sz="2800" b="1" strike="noStrike" spc="-1">
                <a:solidFill>
                  <a:srgbClr val="000000"/>
                </a:solidFill>
                <a:uFill>
                  <a:solidFill>
                    <a:srgbClr val="FFFFFF"/>
                  </a:solidFill>
                </a:uFill>
                <a:latin typeface="Courier New"/>
                <a:ea typeface="DejaVu Sans"/>
              </a:rPr>
              <a:t>{</a:t>
            </a:r>
            <a:endParaRPr lang="en-US" sz="1800" b="0" strike="noStrike" spc="-1">
              <a:solidFill>
                <a:srgbClr val="000000"/>
              </a:solidFill>
              <a:uFill>
                <a:solidFill>
                  <a:srgbClr val="FFFFFF"/>
                </a:solidFill>
              </a:uFill>
              <a:latin typeface="Arial"/>
            </a:endParaRPr>
          </a:p>
          <a:p>
            <a:r>
              <a:rPr lang="en-US" sz="2800" b="1" strike="noStrike" spc="-1">
                <a:solidFill>
                  <a:srgbClr val="000000"/>
                </a:solidFill>
                <a:uFill>
                  <a:solidFill>
                    <a:srgbClr val="FFFFFF"/>
                  </a:solidFill>
                </a:uFill>
                <a:latin typeface="Courier New"/>
                <a:ea typeface="DejaVu Sans"/>
              </a:rPr>
              <a:t>  if (list.info[startIndex] == value)</a:t>
            </a:r>
            <a:endParaRPr lang="en-US" sz="1800" b="0" strike="noStrike" spc="-1">
              <a:solidFill>
                <a:srgbClr val="000000"/>
              </a:solidFill>
              <a:uFill>
                <a:solidFill>
                  <a:srgbClr val="FFFFFF"/>
                </a:solidFill>
              </a:uFill>
              <a:latin typeface="Arial"/>
            </a:endParaRPr>
          </a:p>
          <a:p>
            <a:r>
              <a:rPr lang="en-US" sz="2800" b="1" strike="noStrike" spc="-1">
                <a:solidFill>
                  <a:srgbClr val="000000"/>
                </a:solidFill>
                <a:uFill>
                  <a:solidFill>
                    <a:srgbClr val="FFFFFF"/>
                  </a:solidFill>
                </a:uFill>
                <a:latin typeface="Courier New"/>
                <a:ea typeface="DejaVu Sans"/>
              </a:rPr>
              <a:t>      return true;  </a:t>
            </a:r>
            <a:r>
              <a:rPr lang="en-US" sz="2800" b="1" strike="noStrike" spc="-1">
                <a:solidFill>
                  <a:srgbClr val="2300DC"/>
                </a:solidFill>
                <a:uFill>
                  <a:solidFill>
                    <a:srgbClr val="FFFFFF"/>
                  </a:solidFill>
                </a:uFill>
                <a:latin typeface="Courier New"/>
                <a:ea typeface="DejaVu Sans"/>
              </a:rPr>
              <a:t>// Base case 1</a:t>
            </a:r>
            <a:endParaRPr lang="en-US" sz="1800" b="0" strike="noStrike" spc="-1">
              <a:solidFill>
                <a:srgbClr val="000000"/>
              </a:solidFill>
              <a:uFill>
                <a:solidFill>
                  <a:srgbClr val="FFFFFF"/>
                </a:solidFill>
              </a:uFill>
              <a:latin typeface="Arial"/>
            </a:endParaRPr>
          </a:p>
          <a:p>
            <a:r>
              <a:rPr lang="en-US" sz="2800" b="1" strike="noStrike" spc="-1">
                <a:solidFill>
                  <a:srgbClr val="000000"/>
                </a:solidFill>
                <a:uFill>
                  <a:solidFill>
                    <a:srgbClr val="FFFFFF"/>
                  </a:solidFill>
                </a:uFill>
                <a:latin typeface="Courier New"/>
                <a:ea typeface="DejaVu Sans"/>
              </a:rPr>
              <a:t>  else if (startIndex == list.length-1)</a:t>
            </a:r>
            <a:endParaRPr lang="en-US" sz="1800" b="0" strike="noStrike" spc="-1">
              <a:solidFill>
                <a:srgbClr val="000000"/>
              </a:solidFill>
              <a:uFill>
                <a:solidFill>
                  <a:srgbClr val="FFFFFF"/>
                </a:solidFill>
              </a:uFill>
              <a:latin typeface="Arial"/>
            </a:endParaRPr>
          </a:p>
          <a:p>
            <a:r>
              <a:rPr lang="en-US" sz="2800" b="1" strike="noStrike" spc="-1">
                <a:solidFill>
                  <a:srgbClr val="000000"/>
                </a:solidFill>
                <a:uFill>
                  <a:solidFill>
                    <a:srgbClr val="FFFFFF"/>
                  </a:solidFill>
                </a:uFill>
                <a:latin typeface="Courier New"/>
                <a:ea typeface="DejaVu Sans"/>
              </a:rPr>
              <a:t>      return false; </a:t>
            </a:r>
            <a:r>
              <a:rPr lang="en-US" sz="2800" b="1" strike="noStrike" spc="-1">
                <a:solidFill>
                  <a:srgbClr val="2300DC"/>
                </a:solidFill>
                <a:uFill>
                  <a:solidFill>
                    <a:srgbClr val="FFFFFF"/>
                  </a:solidFill>
                </a:uFill>
                <a:latin typeface="Courier New"/>
                <a:ea typeface="DejaVu Sans"/>
              </a:rPr>
              <a:t>// Base case 2</a:t>
            </a:r>
            <a:endParaRPr lang="en-US" sz="1800" b="0" strike="noStrike" spc="-1">
              <a:solidFill>
                <a:srgbClr val="000000"/>
              </a:solidFill>
              <a:uFill>
                <a:solidFill>
                  <a:srgbClr val="FFFFFF"/>
                </a:solidFill>
              </a:uFill>
              <a:latin typeface="Arial"/>
            </a:endParaRPr>
          </a:p>
          <a:p>
            <a:r>
              <a:rPr lang="en-US" sz="2800" b="1" strike="noStrike" spc="-1">
                <a:solidFill>
                  <a:srgbClr val="000000"/>
                </a:solidFill>
                <a:uFill>
                  <a:solidFill>
                    <a:srgbClr val="FFFFFF"/>
                  </a:solidFill>
                </a:uFill>
                <a:latin typeface="Courier New"/>
                <a:ea typeface="DejaVu Sans"/>
              </a:rPr>
              <a:t>  else return ValueInList(list, value,           startIndex+1);</a:t>
            </a:r>
            <a:endParaRPr lang="en-US" sz="1800" b="0" strike="noStrike" spc="-1">
              <a:solidFill>
                <a:srgbClr val="000000"/>
              </a:solidFill>
              <a:uFill>
                <a:solidFill>
                  <a:srgbClr val="FFFFFF"/>
                </a:solidFill>
              </a:uFill>
              <a:latin typeface="Arial"/>
            </a:endParaRPr>
          </a:p>
          <a:p>
            <a:r>
              <a:rPr lang="en-US" sz="2800" b="1" strike="noStrike" spc="-1">
                <a:solidFill>
                  <a:srgbClr val="000000"/>
                </a:solidFill>
                <a:uFill>
                  <a:solidFill>
                    <a:srgbClr val="FFFFFF"/>
                  </a:solidFill>
                </a:uFill>
                <a:latin typeface="Courier New"/>
                <a:ea typeface="DejaVu Sans"/>
              </a:rPr>
              <a:t>}</a:t>
            </a:r>
            <a:endParaRPr lang="en-US" sz="1800" b="0" strike="noStrike" spc="-1">
              <a:solidFill>
                <a:srgbClr val="000000"/>
              </a:solidFill>
              <a:uFill>
                <a:solidFill>
                  <a:srgbClr val="FFFFFF"/>
                </a:solidFill>
              </a:uFill>
              <a:latin typeface="Arial"/>
            </a:endParaRPr>
          </a:p>
          <a:p>
            <a:endParaRPr lang="en-US" sz="1800" b="0" strike="noStrike" spc="-1">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dirty="0">
                <a:solidFill>
                  <a:srgbClr val="000000"/>
                </a:solidFill>
                <a:uFill>
                  <a:solidFill>
                    <a:srgbClr val="FFFFFF"/>
                  </a:solidFill>
                </a:uFill>
                <a:latin typeface="Arial"/>
                <a:ea typeface="DejaVu Sans"/>
              </a:rPr>
              <a:t>Example: Searching in a </a:t>
            </a:r>
            <a:r>
              <a:rPr lang="en-US" sz="4400" b="0" strike="noStrike" spc="-1" dirty="0" smtClean="0">
                <a:solidFill>
                  <a:srgbClr val="000000"/>
                </a:solidFill>
                <a:uFill>
                  <a:solidFill>
                    <a:srgbClr val="FFFFFF"/>
                  </a:solidFill>
                </a:uFill>
                <a:latin typeface="Arial"/>
                <a:ea typeface="DejaVu Sans"/>
              </a:rPr>
              <a:t>List (cont.)</a:t>
            </a:r>
            <a:endParaRPr lang="en-US" sz="1800" b="0" strike="noStrike" spc="-1" dirty="0">
              <a:solidFill>
                <a:srgbClr val="000000"/>
              </a:solidFill>
              <a:uFill>
                <a:solidFill>
                  <a:srgbClr val="FFFFFF"/>
                </a:solidFill>
              </a:uFill>
              <a:latin typeface="Arial"/>
            </a:endParaRPr>
          </a:p>
        </p:txBody>
      </p:sp>
      <p:sp>
        <p:nvSpPr>
          <p:cNvPr id="173"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r>
              <a:rPr lang="en-US" sz="3200" b="0" strike="noStrike" spc="-1" dirty="0">
                <a:solidFill>
                  <a:srgbClr val="000000"/>
                </a:solidFill>
                <a:uFill>
                  <a:solidFill>
                    <a:srgbClr val="FFFFFF"/>
                  </a:solidFill>
                </a:uFill>
                <a:latin typeface="Arial"/>
                <a:ea typeface="DejaVu Sans"/>
              </a:rPr>
              <a:t>Does this function pass the Three Questions?</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Base Case: The value is found, and the function returns true. In the second case, the search reaches the end of the list and returns false.</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Smaller Caller: Each call increments the </a:t>
            </a:r>
            <a:r>
              <a:rPr lang="en-US" sz="3200" b="0" strike="noStrike" spc="-1" dirty="0" smtClean="0">
                <a:solidFill>
                  <a:srgbClr val="000000"/>
                </a:solidFill>
                <a:uFill>
                  <a:solidFill>
                    <a:srgbClr val="FFFFFF"/>
                  </a:solidFill>
                </a:uFill>
                <a:latin typeface="Arial"/>
                <a:ea typeface="DejaVu Sans"/>
              </a:rPr>
              <a:t>index.</a:t>
            </a:r>
            <a:endParaRPr lang="en-US" sz="1800" b="0" strike="noStrike" spc="-1" dirty="0" smtClean="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General Case: The base cases are simple enough to be obviously correct, so the general case will proceed while the value is not found and the rest of the list needs to be checked.</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ea typeface="DejaVu Sans"/>
              </a:rPr>
              <a:t>Simplifying Solutions with Recursion</a:t>
            </a:r>
            <a:endParaRPr lang="en-US" sz="1800" b="0" strike="noStrike" spc="-1">
              <a:solidFill>
                <a:srgbClr val="000000"/>
              </a:solidFill>
              <a:uFill>
                <a:solidFill>
                  <a:srgbClr val="FFFFFF"/>
                </a:solidFill>
              </a:uFill>
              <a:latin typeface="Arial"/>
            </a:endParaRPr>
          </a:p>
        </p:txBody>
      </p:sp>
      <p:sp>
        <p:nvSpPr>
          <p:cNvPr id="175"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How many combinations of 5 books can be made from a group of 20 books? (“</a:t>
            </a:r>
            <a:r>
              <a:rPr lang="en-US" sz="3200" b="0" strike="noStrike" spc="-1" dirty="0" err="1">
                <a:solidFill>
                  <a:srgbClr val="000000"/>
                </a:solidFill>
                <a:uFill>
                  <a:solidFill>
                    <a:srgbClr val="FFFFFF"/>
                  </a:solidFill>
                </a:uFill>
                <a:latin typeface="Arial"/>
                <a:ea typeface="DejaVu Sans"/>
              </a:rPr>
              <a:t>n</a:t>
            </a:r>
            <a:r>
              <a:rPr lang="en-US" sz="3200" b="0" strike="noStrike" spc="-1" dirty="0">
                <a:solidFill>
                  <a:srgbClr val="000000"/>
                </a:solidFill>
                <a:uFill>
                  <a:solidFill>
                    <a:srgbClr val="FFFFFF"/>
                  </a:solidFill>
                </a:uFill>
                <a:latin typeface="Arial"/>
                <a:ea typeface="DejaVu Sans"/>
              </a:rPr>
              <a:t> choose </a:t>
            </a:r>
            <a:r>
              <a:rPr lang="en-US" sz="3200" b="0" strike="noStrike" spc="-1" dirty="0" err="1">
                <a:solidFill>
                  <a:srgbClr val="000000"/>
                </a:solidFill>
                <a:uFill>
                  <a:solidFill>
                    <a:srgbClr val="FFFFFF"/>
                  </a:solidFill>
                </a:uFill>
                <a:latin typeface="Arial"/>
                <a:ea typeface="DejaVu Sans"/>
              </a:rPr>
              <a:t>k</a:t>
            </a:r>
            <a:r>
              <a:rPr lang="en-US" sz="3200" b="0" strike="noStrike" spc="-1" dirty="0">
                <a:solidFill>
                  <a:srgbClr val="000000"/>
                </a:solidFill>
                <a:uFill>
                  <a:solidFill>
                    <a:srgbClr val="FFFFFF"/>
                  </a:solidFill>
                </a:uFill>
                <a:latin typeface="Arial"/>
                <a:ea typeface="DejaVu Sans"/>
              </a:rPr>
              <a:t>”)</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Size: Size of the group (</a:t>
            </a:r>
            <a:r>
              <a:rPr lang="en-US" sz="3200" b="0" strike="noStrike" spc="-1" dirty="0" err="1">
                <a:solidFill>
                  <a:srgbClr val="000000"/>
                </a:solidFill>
                <a:uFill>
                  <a:solidFill>
                    <a:srgbClr val="FFFFFF"/>
                  </a:solidFill>
                </a:uFill>
                <a:latin typeface="Arial"/>
                <a:ea typeface="DejaVu Sans"/>
              </a:rPr>
              <a:t>n</a:t>
            </a:r>
            <a:r>
              <a:rPr lang="en-US" sz="3200" b="0" strike="noStrike" spc="-1" dirty="0">
                <a:solidFill>
                  <a:srgbClr val="000000"/>
                </a:solidFill>
                <a:uFill>
                  <a:solidFill>
                    <a:srgbClr val="FFFFFF"/>
                  </a:solidFill>
                </a:uFill>
                <a:latin typeface="Arial"/>
                <a:ea typeface="DejaVu Sans"/>
              </a:rPr>
              <a:t>) and number of members in each group (</a:t>
            </a:r>
            <a:r>
              <a:rPr lang="en-US" sz="3200" b="0" strike="noStrike" spc="-1" dirty="0" err="1">
                <a:solidFill>
                  <a:srgbClr val="000000"/>
                </a:solidFill>
                <a:uFill>
                  <a:solidFill>
                    <a:srgbClr val="FFFFFF"/>
                  </a:solidFill>
                </a:uFill>
                <a:latin typeface="Arial"/>
                <a:ea typeface="DejaVu Sans"/>
              </a:rPr>
              <a:t>k</a:t>
            </a:r>
            <a:r>
              <a:rPr lang="en-US" sz="3200" b="0" strike="noStrike" spc="-1" dirty="0">
                <a:solidFill>
                  <a:srgbClr val="000000"/>
                </a:solidFill>
                <a:uFill>
                  <a:solidFill>
                    <a:srgbClr val="FFFFFF"/>
                  </a:solidFill>
                </a:uFill>
                <a:latin typeface="Arial"/>
                <a:ea typeface="DejaVu Sans"/>
              </a:rPr>
              <a:t>)</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Base Case: if members == 1, return group</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Base Case: if members == group, return 1</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General Case: Return </a:t>
            </a:r>
            <a:r>
              <a:rPr lang="en-US" sz="3200" b="0" strike="noStrike" spc="-1" dirty="0" smtClean="0">
                <a:solidFill>
                  <a:srgbClr val="000000"/>
                </a:solidFill>
                <a:uFill>
                  <a:solidFill>
                    <a:srgbClr val="FFFFFF"/>
                  </a:solidFill>
                </a:uFill>
                <a:latin typeface="Arial"/>
                <a:ea typeface="DejaVu Sans"/>
              </a:rPr>
              <a:t>Combinations (</a:t>
            </a:r>
            <a:r>
              <a:rPr lang="en-US" sz="3200" b="0" strike="noStrike" spc="-1" dirty="0">
                <a:solidFill>
                  <a:srgbClr val="000000"/>
                </a:solidFill>
                <a:uFill>
                  <a:solidFill>
                    <a:srgbClr val="FFFFFF"/>
                  </a:solidFill>
                </a:uFill>
                <a:latin typeface="Arial"/>
                <a:ea typeface="DejaVu Sans"/>
              </a:rPr>
              <a:t>group-1, members-1) + </a:t>
            </a:r>
            <a:r>
              <a:rPr lang="en-US" sz="3200" b="0" strike="noStrike" spc="-1" dirty="0" smtClean="0">
                <a:solidFill>
                  <a:srgbClr val="000000"/>
                </a:solidFill>
                <a:uFill>
                  <a:solidFill>
                    <a:srgbClr val="FFFFFF"/>
                  </a:solidFill>
                </a:uFill>
                <a:latin typeface="Arial"/>
                <a:ea typeface="DejaVu Sans"/>
              </a:rPr>
              <a:t>Combinations (</a:t>
            </a:r>
            <a:r>
              <a:rPr lang="en-US" sz="3200" b="0" strike="noStrike" spc="-1" dirty="0">
                <a:solidFill>
                  <a:srgbClr val="000000"/>
                </a:solidFill>
                <a:uFill>
                  <a:solidFill>
                    <a:srgbClr val="FFFFFF"/>
                  </a:solidFill>
                </a:uFill>
                <a:latin typeface="Arial"/>
                <a:ea typeface="DejaVu Sans"/>
              </a:rPr>
              <a:t>group-1, members)</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rPr>
              <a:t>Combinations Code</a:t>
            </a:r>
            <a:endParaRPr lang="en-US" sz="1800" b="0" strike="noStrike" spc="-1">
              <a:solidFill>
                <a:srgbClr val="000000"/>
              </a:solidFill>
              <a:uFill>
                <a:solidFill>
                  <a:srgbClr val="FFFFFF"/>
                </a:solidFill>
              </a:uFill>
              <a:latin typeface="Arial"/>
            </a:endParaRPr>
          </a:p>
        </p:txBody>
      </p:sp>
      <p:sp>
        <p:nvSpPr>
          <p:cNvPr id="177" name="CustomShape 2"/>
          <p:cNvSpPr/>
          <p:nvPr/>
        </p:nvSpPr>
        <p:spPr>
          <a:xfrm>
            <a:off x="504000" y="1769040"/>
            <a:ext cx="9070920" cy="4383720"/>
          </a:xfrm>
          <a:prstGeom prst="rect">
            <a:avLst/>
          </a:prstGeom>
          <a:solidFill>
            <a:srgbClr val="FFFFFF"/>
          </a:solidFill>
          <a:ln>
            <a:noFill/>
          </a:ln>
        </p:spPr>
        <p:style>
          <a:lnRef idx="0">
            <a:scrgbClr r="0" g="0" b="0"/>
          </a:lnRef>
          <a:fillRef idx="0">
            <a:scrgbClr r="0" g="0" b="0"/>
          </a:fillRef>
          <a:effectRef idx="0">
            <a:scrgbClr r="0" g="0" b="0"/>
          </a:effectRef>
          <a:fontRef idx="minor"/>
        </p:style>
        <p:txBody>
          <a:bodyPr lIns="0" tIns="0" rIns="0" bIns="0"/>
          <a:lstStyle/>
          <a:p>
            <a:r>
              <a:rPr lang="en-US" sz="2000" b="1" strike="noStrike" spc="-1">
                <a:solidFill>
                  <a:srgbClr val="000000"/>
                </a:solidFill>
                <a:uFill>
                  <a:solidFill>
                    <a:srgbClr val="FFFFFF"/>
                  </a:solidFill>
                </a:uFill>
                <a:latin typeface="Courier New"/>
              </a:rPr>
              <a:t>int Combinations(int group, int members)</a:t>
            </a:r>
            <a:endParaRPr lang="en-US" sz="1800" b="0" strike="noStrike" spc="-1">
              <a:solidFill>
                <a:srgbClr val="000000"/>
              </a:solidFill>
              <a:uFill>
                <a:solidFill>
                  <a:srgbClr val="FFFFFF"/>
                </a:solidFill>
              </a:uFill>
              <a:latin typeface="Arial"/>
            </a:endParaRPr>
          </a:p>
          <a:p>
            <a:r>
              <a:rPr lang="en-US" sz="2000" b="1" strike="noStrike" spc="-1">
                <a:solidFill>
                  <a:srgbClr val="2300DC"/>
                </a:solidFill>
                <a:uFill>
                  <a:solidFill>
                    <a:srgbClr val="FFFFFF"/>
                  </a:solidFill>
                </a:uFill>
                <a:latin typeface="Courier New"/>
              </a:rPr>
              <a:t>// Pre: group and members are positive.</a:t>
            </a:r>
            <a:endParaRPr lang="en-US" sz="1800" b="0" strike="noStrike" spc="-1">
              <a:solidFill>
                <a:srgbClr val="000000"/>
              </a:solidFill>
              <a:uFill>
                <a:solidFill>
                  <a:srgbClr val="FFFFFF"/>
                </a:solidFill>
              </a:uFill>
              <a:latin typeface="Arial"/>
            </a:endParaRPr>
          </a:p>
          <a:p>
            <a:r>
              <a:rPr lang="en-US" sz="2000" b="1" strike="noStrike" spc="-1">
                <a:solidFill>
                  <a:srgbClr val="2300DC"/>
                </a:solidFill>
                <a:uFill>
                  <a:solidFill>
                    <a:srgbClr val="FFFFFF"/>
                  </a:solidFill>
                </a:uFill>
                <a:latin typeface="Courier New"/>
              </a:rPr>
              <a:t>// Post: Function value = number of combinations of</a:t>
            </a:r>
            <a:endParaRPr lang="en-US" sz="1800" b="0" strike="noStrike" spc="-1">
              <a:solidFill>
                <a:srgbClr val="000000"/>
              </a:solidFill>
              <a:uFill>
                <a:solidFill>
                  <a:srgbClr val="FFFFFF"/>
                </a:solidFill>
              </a:uFill>
              <a:latin typeface="Arial"/>
            </a:endParaRPr>
          </a:p>
          <a:p>
            <a:r>
              <a:rPr lang="en-US" sz="2000" b="1" strike="noStrike" spc="-1">
                <a:solidFill>
                  <a:srgbClr val="2300DC"/>
                </a:solidFill>
                <a:uFill>
                  <a:solidFill>
                    <a:srgbClr val="FFFFFF"/>
                  </a:solidFill>
                </a:uFill>
                <a:latin typeface="Courier New"/>
              </a:rPr>
              <a:t>// members size that can be constructed from the total</a:t>
            </a:r>
            <a:endParaRPr lang="en-US" sz="1800" b="0" strike="noStrike" spc="-1">
              <a:solidFill>
                <a:srgbClr val="000000"/>
              </a:solidFill>
              <a:uFill>
                <a:solidFill>
                  <a:srgbClr val="FFFFFF"/>
                </a:solidFill>
              </a:uFill>
              <a:latin typeface="Arial"/>
            </a:endParaRPr>
          </a:p>
          <a:p>
            <a:r>
              <a:rPr lang="en-US" sz="2000" b="1" strike="noStrike" spc="-1">
                <a:solidFill>
                  <a:srgbClr val="2300DC"/>
                </a:solidFill>
                <a:uFill>
                  <a:solidFill>
                    <a:srgbClr val="FFFFFF"/>
                  </a:solidFill>
                </a:uFill>
                <a:latin typeface="Courier New"/>
              </a:rPr>
              <a:t>// group size.</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  if (members == 1)</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   return group;  </a:t>
            </a:r>
            <a:r>
              <a:rPr lang="en-US" sz="2000" b="1" strike="noStrike" spc="-1">
                <a:solidFill>
                  <a:srgbClr val="2300DC"/>
                </a:solidFill>
                <a:uFill>
                  <a:solidFill>
                    <a:srgbClr val="FFFFFF"/>
                  </a:solidFill>
                </a:uFill>
                <a:latin typeface="Courier New"/>
              </a:rPr>
              <a:t>// Base case 1</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  else if (members == group)</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    return 1;     </a:t>
            </a:r>
            <a:r>
              <a:rPr lang="en-US" sz="2000" b="1" strike="noStrike" spc="-1">
                <a:solidFill>
                  <a:srgbClr val="2300DC"/>
                </a:solidFill>
                <a:uFill>
                  <a:solidFill>
                    <a:srgbClr val="FFFFFF"/>
                  </a:solidFill>
                </a:uFill>
                <a:latin typeface="Courier New"/>
              </a:rPr>
              <a:t>// Base case 2</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  else</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    return (Combinations(group-1, members-1) +</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            Combinations(group-1, members));</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a:t>
            </a:r>
            <a:endParaRPr lang="en-US" sz="1800" b="0" strike="noStrike" spc="-1">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ea typeface="DejaVu Sans"/>
              </a:rPr>
              <a:t>Combinations</a:t>
            </a:r>
            <a:endParaRPr lang="en-US" sz="1800" b="0" strike="noStrike" spc="-1">
              <a:solidFill>
                <a:srgbClr val="000000"/>
              </a:solidFill>
              <a:uFill>
                <a:solidFill>
                  <a:srgbClr val="FFFFFF"/>
                </a:solidFill>
              </a:uFill>
              <a:latin typeface="Arial"/>
            </a:endParaRPr>
          </a:p>
        </p:txBody>
      </p:sp>
      <p:sp>
        <p:nvSpPr>
          <p:cNvPr id="4" name="TextShape 2"/>
          <p:cNvSpPr txBox="1"/>
          <p:nvPr/>
        </p:nvSpPr>
        <p:spPr>
          <a:xfrm>
            <a:off x="-1" y="6629403"/>
            <a:ext cx="10080625" cy="381641"/>
          </a:xfrm>
          <a:prstGeom prst="rect">
            <a:avLst/>
          </a:prstGeom>
          <a:noFill/>
          <a:ln>
            <a:noFill/>
          </a:ln>
        </p:spPr>
        <p:txBody>
          <a:bodyPr lIns="0" tIns="0" rIns="0" bIns="0"/>
          <a:lstStyle/>
          <a:p>
            <a:pPr>
              <a:buClr>
                <a:srgbClr val="000000"/>
              </a:buClr>
              <a:buSzPct val="45000"/>
            </a:pPr>
            <a:r>
              <a:rPr lang="en-US" b="1" spc="-1" dirty="0">
                <a:solidFill>
                  <a:srgbClr val="000000"/>
                </a:solidFill>
                <a:uFill>
                  <a:solidFill>
                    <a:srgbClr val="FFFFFF"/>
                  </a:solidFill>
                </a:uFill>
                <a:latin typeface="+mj-lt"/>
              </a:rPr>
              <a:t>	</a:t>
            </a:r>
            <a:r>
              <a:rPr lang="en-US" b="1" strike="noStrike" spc="-1" dirty="0" smtClean="0">
                <a:solidFill>
                  <a:srgbClr val="000000"/>
                </a:solidFill>
                <a:uFill>
                  <a:solidFill>
                    <a:srgbClr val="FFFFFF"/>
                  </a:solidFill>
                </a:uFill>
                <a:latin typeface="+mj-lt"/>
              </a:rPr>
              <a:t>Figure 7</a:t>
            </a:r>
            <a:r>
              <a:rPr lang="en-US" b="1" spc="-1" dirty="0" smtClean="0">
                <a:solidFill>
                  <a:srgbClr val="000000"/>
                </a:solidFill>
                <a:uFill>
                  <a:solidFill>
                    <a:srgbClr val="FFFFFF"/>
                  </a:solidFill>
                </a:uFill>
                <a:latin typeface="+mj-lt"/>
              </a:rPr>
              <a:t>.2</a:t>
            </a:r>
            <a:r>
              <a:rPr lang="en-US" spc="-1" dirty="0" smtClean="0">
                <a:solidFill>
                  <a:srgbClr val="000000"/>
                </a:solidFill>
                <a:uFill>
                  <a:solidFill>
                    <a:srgbClr val="FFFFFF"/>
                  </a:solidFill>
                </a:uFill>
                <a:latin typeface="+mj-lt"/>
              </a:rPr>
              <a:t>  </a:t>
            </a:r>
            <a:r>
              <a:rPr lang="en-IN" spc="-1" dirty="0">
                <a:solidFill>
                  <a:srgbClr val="000000"/>
                </a:solidFill>
                <a:uFill>
                  <a:solidFill>
                    <a:srgbClr val="FFFFFF"/>
                  </a:solidFill>
                </a:uFill>
                <a:latin typeface="+mj-lt"/>
              </a:rPr>
              <a:t>Calculating Combinations(4,3)</a:t>
            </a:r>
            <a:endParaRPr lang="en-US" b="0" strike="noStrike" spc="-1" dirty="0">
              <a:solidFill>
                <a:srgbClr val="000000"/>
              </a:solidFill>
              <a:uFill>
                <a:solidFill>
                  <a:srgbClr val="FFFFFF"/>
                </a:solidFill>
              </a:uFill>
              <a:latin typeface="+mj-lt"/>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5482" y="1325236"/>
            <a:ext cx="6184478" cy="5195881"/>
          </a:xfrm>
          <a:prstGeom prst="rect">
            <a:avLst/>
          </a:prstGeom>
        </p:spPr>
      </p:pic>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ea typeface="DejaVu Sans"/>
              </a:rPr>
              <a:t>Recursive List Processing</a:t>
            </a:r>
            <a:endParaRPr lang="en-US" sz="1800" b="0" strike="noStrike" spc="-1">
              <a:solidFill>
                <a:srgbClr val="000000"/>
              </a:solidFill>
              <a:uFill>
                <a:solidFill>
                  <a:srgbClr val="FFFFFF"/>
                </a:solidFill>
              </a:uFill>
              <a:latin typeface="Arial"/>
            </a:endParaRPr>
          </a:p>
        </p:txBody>
      </p:sp>
      <p:sp>
        <p:nvSpPr>
          <p:cNvPr id="181"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Another example of recursion: Printing the items of a linked list.</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This seems trivial. Instead, </a:t>
            </a:r>
            <a:r>
              <a:rPr lang="en-US" sz="3200" b="0" strike="noStrike" spc="-1" dirty="0" smtClean="0">
                <a:solidFill>
                  <a:srgbClr val="000000"/>
                </a:solidFill>
                <a:uFill>
                  <a:solidFill>
                    <a:srgbClr val="FFFFFF"/>
                  </a:solidFill>
                </a:uFill>
                <a:latin typeface="Arial"/>
                <a:ea typeface="DejaVu Sans"/>
              </a:rPr>
              <a:t>let’s </a:t>
            </a:r>
            <a:r>
              <a:rPr lang="en-US" sz="3200" b="0" strike="noStrike" spc="-1" dirty="0">
                <a:solidFill>
                  <a:srgbClr val="000000"/>
                </a:solidFill>
                <a:uFill>
                  <a:solidFill>
                    <a:srgbClr val="FFFFFF"/>
                  </a:solidFill>
                </a:uFill>
                <a:latin typeface="Arial"/>
                <a:ea typeface="DejaVu Sans"/>
              </a:rPr>
              <a:t>try printing the list in reverse.</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Is this possible with iteration? Yes, if there are methods for iterating backwards through the list.</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Recursion </a:t>
            </a:r>
            <a:r>
              <a:rPr lang="en-US" sz="3200" b="0" strike="noStrike" spc="-1" dirty="0" smtClean="0">
                <a:solidFill>
                  <a:srgbClr val="000000"/>
                </a:solidFill>
                <a:uFill>
                  <a:solidFill>
                    <a:srgbClr val="FFFFFF"/>
                  </a:solidFill>
                </a:uFill>
                <a:latin typeface="Arial"/>
                <a:ea typeface="DejaVu Sans"/>
              </a:rPr>
              <a:t>doesn’t </a:t>
            </a:r>
            <a:r>
              <a:rPr lang="en-US" sz="3200" b="0" strike="noStrike" spc="-1" dirty="0">
                <a:solidFill>
                  <a:srgbClr val="000000"/>
                </a:solidFill>
                <a:uFill>
                  <a:solidFill>
                    <a:srgbClr val="FFFFFF"/>
                  </a:solidFill>
                </a:uFill>
                <a:latin typeface="Arial"/>
                <a:ea typeface="DejaVu Sans"/>
              </a:rPr>
              <a:t>need </a:t>
            </a:r>
            <a:r>
              <a:rPr lang="en-US" sz="3200" b="0" strike="noStrike" spc="-1" dirty="0" smtClean="0">
                <a:solidFill>
                  <a:srgbClr val="000000"/>
                </a:solidFill>
                <a:uFill>
                  <a:solidFill>
                    <a:srgbClr val="FFFFFF"/>
                  </a:solidFill>
                </a:uFill>
                <a:latin typeface="Arial"/>
                <a:ea typeface="DejaVu Sans"/>
              </a:rPr>
              <a:t>that.</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ea typeface="DejaVu Sans"/>
              </a:rPr>
              <a:t>Problem Definition</a:t>
            </a:r>
            <a:endParaRPr lang="en-US" sz="1800" b="0" strike="noStrike" spc="-1">
              <a:solidFill>
                <a:srgbClr val="000000"/>
              </a:solidFill>
              <a:uFill>
                <a:solidFill>
                  <a:srgbClr val="FFFFFF"/>
                </a:solidFill>
              </a:uFill>
              <a:latin typeface="Arial"/>
            </a:endParaRPr>
          </a:p>
        </p:txBody>
      </p:sp>
      <p:sp>
        <p:nvSpPr>
          <p:cNvPr id="183"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Problem: Print the elements of a list in reverse order.</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Size: The number of elements in the list.</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Base Case: If the list is empty, do nothing.</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General Case: </a:t>
            </a:r>
            <a:r>
              <a:rPr lang="en-US" sz="3200" b="0" strike="noStrike" spc="-1" dirty="0" err="1">
                <a:solidFill>
                  <a:srgbClr val="000000"/>
                </a:solidFill>
                <a:uFill>
                  <a:solidFill>
                    <a:srgbClr val="FFFFFF"/>
                  </a:solidFill>
                </a:uFill>
                <a:latin typeface="Arial"/>
                <a:ea typeface="DejaVu Sans"/>
              </a:rPr>
              <a:t>RevPrint</a:t>
            </a:r>
            <a:r>
              <a:rPr lang="en-US" sz="3200" b="0" strike="noStrike" spc="-1" dirty="0">
                <a:solidFill>
                  <a:srgbClr val="000000"/>
                </a:solidFill>
                <a:uFill>
                  <a:solidFill>
                    <a:srgbClr val="FFFFFF"/>
                  </a:solidFill>
                </a:uFill>
                <a:latin typeface="Arial"/>
                <a:ea typeface="DejaVu Sans"/>
              </a:rPr>
              <a:t> the list pointed to by </a:t>
            </a:r>
            <a:r>
              <a:rPr lang="en-US" sz="3200" b="0" strike="noStrike" spc="-1" dirty="0" err="1">
                <a:solidFill>
                  <a:srgbClr val="000000"/>
                </a:solidFill>
                <a:uFill>
                  <a:solidFill>
                    <a:srgbClr val="FFFFFF"/>
                  </a:solidFill>
                </a:uFill>
                <a:latin typeface="Arial"/>
                <a:ea typeface="DejaVu Sans"/>
              </a:rPr>
              <a:t>listPtr</a:t>
            </a:r>
            <a:r>
              <a:rPr lang="en-US" sz="3200" b="0" strike="noStrike" spc="-1" dirty="0">
                <a:solidFill>
                  <a:srgbClr val="000000"/>
                </a:solidFill>
                <a:uFill>
                  <a:solidFill>
                    <a:srgbClr val="FFFFFF"/>
                  </a:solidFill>
                </a:uFill>
                <a:latin typeface="Arial"/>
                <a:ea typeface="DejaVu Sans"/>
              </a:rPr>
              <a:t>-&gt;next, then print </a:t>
            </a:r>
            <a:r>
              <a:rPr lang="en-US" sz="3200" b="0" strike="noStrike" spc="-1" dirty="0" err="1">
                <a:solidFill>
                  <a:srgbClr val="000000"/>
                </a:solidFill>
                <a:uFill>
                  <a:solidFill>
                    <a:srgbClr val="FFFFFF"/>
                  </a:solidFill>
                </a:uFill>
                <a:latin typeface="Arial"/>
                <a:ea typeface="DejaVu Sans"/>
              </a:rPr>
              <a:t>listPtr</a:t>
            </a:r>
            <a:r>
              <a:rPr lang="en-US" sz="3200" b="0" strike="noStrike" spc="-1" dirty="0">
                <a:solidFill>
                  <a:srgbClr val="000000"/>
                </a:solidFill>
                <a:uFill>
                  <a:solidFill>
                    <a:srgbClr val="FFFFFF"/>
                  </a:solidFill>
                </a:uFill>
                <a:latin typeface="Arial"/>
                <a:ea typeface="DejaVu Sans"/>
              </a:rPr>
              <a:t>-&gt;info</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ea typeface="DejaVu Sans"/>
              </a:rPr>
              <a:t>RevPrint Code</a:t>
            </a:r>
            <a:endParaRPr lang="en-US" sz="1800" b="0" strike="noStrike" spc="-1">
              <a:solidFill>
                <a:srgbClr val="000000"/>
              </a:solidFill>
              <a:uFill>
                <a:solidFill>
                  <a:srgbClr val="FFFFFF"/>
                </a:solidFill>
              </a:uFill>
              <a:latin typeface="Arial"/>
            </a:endParaRPr>
          </a:p>
        </p:txBody>
      </p:sp>
      <p:sp>
        <p:nvSpPr>
          <p:cNvPr id="185" name="CustomShape 2"/>
          <p:cNvSpPr/>
          <p:nvPr/>
        </p:nvSpPr>
        <p:spPr>
          <a:xfrm>
            <a:off x="504000" y="1769040"/>
            <a:ext cx="9070920" cy="4383720"/>
          </a:xfrm>
          <a:prstGeom prst="rect">
            <a:avLst/>
          </a:prstGeom>
          <a:solidFill>
            <a:srgbClr val="FFFFFF"/>
          </a:solidFill>
          <a:ln>
            <a:noFill/>
          </a:ln>
        </p:spPr>
        <p:style>
          <a:lnRef idx="0">
            <a:scrgbClr r="0" g="0" b="0"/>
          </a:lnRef>
          <a:fillRef idx="0">
            <a:scrgbClr r="0" g="0" b="0"/>
          </a:fillRef>
          <a:effectRef idx="0">
            <a:scrgbClr r="0" g="0" b="0"/>
          </a:effectRef>
          <a:fontRef idx="minor"/>
        </p:style>
        <p:txBody>
          <a:bodyPr lIns="0" tIns="0" rIns="0" bIns="0"/>
          <a:lstStyle/>
          <a:p>
            <a:r>
              <a:rPr lang="en-US" sz="3200" b="1" strike="noStrike" spc="-1">
                <a:solidFill>
                  <a:srgbClr val="2300DC"/>
                </a:solidFill>
                <a:uFill>
                  <a:solidFill>
                    <a:srgbClr val="FFFFFF"/>
                  </a:solidFill>
                </a:uFill>
                <a:latin typeface="Courier New"/>
                <a:ea typeface="DejaVu Sans"/>
              </a:rPr>
              <a:t>// Prints the list in reverse order</a:t>
            </a:r>
            <a:endParaRPr lang="en-US" sz="1800" b="0" strike="noStrike" spc="-1">
              <a:solidFill>
                <a:srgbClr val="000000"/>
              </a:solidFill>
              <a:uFill>
                <a:solidFill>
                  <a:srgbClr val="FFFFFF"/>
                </a:solidFill>
              </a:uFill>
              <a:latin typeface="Arial"/>
            </a:endParaRPr>
          </a:p>
          <a:p>
            <a:r>
              <a:rPr lang="en-US" sz="3200" b="1" strike="noStrike" spc="-1">
                <a:solidFill>
                  <a:srgbClr val="000000"/>
                </a:solidFill>
                <a:uFill>
                  <a:solidFill>
                    <a:srgbClr val="FFFFFF"/>
                  </a:solidFill>
                </a:uFill>
                <a:latin typeface="Courier New"/>
                <a:ea typeface="DejaVu Sans"/>
              </a:rPr>
              <a:t>void RevPrint(NodeType* listPtr){</a:t>
            </a:r>
            <a:endParaRPr lang="en-US" sz="1800" b="0" strike="noStrike" spc="-1">
              <a:solidFill>
                <a:srgbClr val="000000"/>
              </a:solidFill>
              <a:uFill>
                <a:solidFill>
                  <a:srgbClr val="FFFFFF"/>
                </a:solidFill>
              </a:uFill>
              <a:latin typeface="Arial"/>
            </a:endParaRPr>
          </a:p>
          <a:p>
            <a:r>
              <a:rPr lang="en-US" sz="3200" b="1" strike="noStrike" spc="-1">
                <a:solidFill>
                  <a:srgbClr val="000000"/>
                </a:solidFill>
                <a:uFill>
                  <a:solidFill>
                    <a:srgbClr val="FFFFFF"/>
                  </a:solidFill>
                </a:uFill>
                <a:latin typeface="Courier New"/>
                <a:ea typeface="DejaVu Sans"/>
              </a:rPr>
              <a:t>  if (listPtr != NULL) {</a:t>
            </a:r>
            <a:endParaRPr lang="en-US" sz="1800" b="0" strike="noStrike" spc="-1">
              <a:solidFill>
                <a:srgbClr val="000000"/>
              </a:solidFill>
              <a:uFill>
                <a:solidFill>
                  <a:srgbClr val="FFFFFF"/>
                </a:solidFill>
              </a:uFill>
              <a:latin typeface="Arial"/>
            </a:endParaRPr>
          </a:p>
          <a:p>
            <a:r>
              <a:rPr lang="en-US" sz="3200" b="1" strike="noStrike" spc="-1">
                <a:solidFill>
                  <a:srgbClr val="000000"/>
                </a:solidFill>
                <a:uFill>
                  <a:solidFill>
                    <a:srgbClr val="FFFFFF"/>
                  </a:solidFill>
                </a:uFill>
                <a:latin typeface="Courier New"/>
                <a:ea typeface="DejaVu Sans"/>
              </a:rPr>
              <a:t>    RevPrint(listPtr→next);</a:t>
            </a:r>
            <a:endParaRPr lang="en-US" sz="1800" b="0" strike="noStrike" spc="-1">
              <a:solidFill>
                <a:srgbClr val="000000"/>
              </a:solidFill>
              <a:uFill>
                <a:solidFill>
                  <a:srgbClr val="FFFFFF"/>
                </a:solidFill>
              </a:uFill>
              <a:latin typeface="Arial"/>
            </a:endParaRPr>
          </a:p>
          <a:p>
            <a:r>
              <a:rPr lang="en-US" sz="3200" b="1" strike="noStrike" spc="-1">
                <a:solidFill>
                  <a:srgbClr val="000000"/>
                </a:solidFill>
                <a:uFill>
                  <a:solidFill>
                    <a:srgbClr val="FFFFFF"/>
                  </a:solidFill>
                </a:uFill>
                <a:latin typeface="Courier New"/>
                <a:ea typeface="DejaVu Sans"/>
              </a:rPr>
              <a:t>    std::cout &lt;&lt; listPtr-&gt;info &lt;&lt;</a:t>
            </a:r>
            <a:endParaRPr lang="en-US" sz="1800" b="0" strike="noStrike" spc="-1">
              <a:solidFill>
                <a:srgbClr val="000000"/>
              </a:solidFill>
              <a:uFill>
                <a:solidFill>
                  <a:srgbClr val="FFFFFF"/>
                </a:solidFill>
              </a:uFill>
              <a:latin typeface="Arial"/>
            </a:endParaRPr>
          </a:p>
          <a:p>
            <a:r>
              <a:rPr lang="en-US" sz="3200" b="1" strike="noStrike" spc="-1">
                <a:solidFill>
                  <a:srgbClr val="000000"/>
                </a:solidFill>
                <a:uFill>
                  <a:solidFill>
                    <a:srgbClr val="FFFFFF"/>
                  </a:solidFill>
                </a:uFill>
                <a:latin typeface="Courier New"/>
                <a:ea typeface="DejaVu Sans"/>
              </a:rPr>
              <a:t>      std::endl;</a:t>
            </a:r>
            <a:endParaRPr lang="en-US" sz="1800" b="0" strike="noStrike" spc="-1">
              <a:solidFill>
                <a:srgbClr val="000000"/>
              </a:solidFill>
              <a:uFill>
                <a:solidFill>
                  <a:srgbClr val="FFFFFF"/>
                </a:solidFill>
              </a:uFill>
              <a:latin typeface="Arial"/>
            </a:endParaRPr>
          </a:p>
          <a:p>
            <a:r>
              <a:rPr lang="en-US" sz="3200" b="1" strike="noStrike" spc="-1">
                <a:solidFill>
                  <a:srgbClr val="000000"/>
                </a:solidFill>
                <a:uFill>
                  <a:solidFill>
                    <a:srgbClr val="FFFFFF"/>
                  </a:solidFill>
                </a:uFill>
                <a:latin typeface="Courier New"/>
                <a:ea typeface="DejaVu Sans"/>
              </a:rPr>
              <a:t>  }</a:t>
            </a:r>
            <a:endParaRPr lang="en-US" sz="1800" b="0" strike="noStrike" spc="-1">
              <a:solidFill>
                <a:srgbClr val="000000"/>
              </a:solidFill>
              <a:uFill>
                <a:solidFill>
                  <a:srgbClr val="FFFFFF"/>
                </a:solidFill>
              </a:uFill>
              <a:latin typeface="Arial"/>
            </a:endParaRPr>
          </a:p>
          <a:p>
            <a:r>
              <a:rPr lang="en-US" sz="3200" b="1" strike="noStrike" spc="-1">
                <a:solidFill>
                  <a:srgbClr val="000000"/>
                </a:solidFill>
                <a:uFill>
                  <a:solidFill>
                    <a:srgbClr val="FFFFFF"/>
                  </a:solidFill>
                </a:uFill>
                <a:latin typeface="Courier New"/>
                <a:ea typeface="DejaVu Sans"/>
              </a:rPr>
              <a:t>}</a:t>
            </a:r>
            <a:endParaRPr lang="en-US" sz="1800" b="0" strike="noStrike" spc="-1">
              <a:solidFill>
                <a:srgbClr val="000000"/>
              </a:solidFill>
              <a:uFill>
                <a:solidFill>
                  <a:srgbClr val="FFFFFF"/>
                </a:solidFill>
              </a:uFill>
              <a:latin typeface="Arial"/>
            </a:endParaRPr>
          </a:p>
          <a:p>
            <a:endParaRPr lang="en-US" sz="1800" b="0" strike="noStrike" spc="-1">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ea typeface="DejaVu Sans"/>
              </a:rPr>
              <a:t>RevPrint: Three Questions</a:t>
            </a:r>
            <a:endParaRPr lang="en-US" sz="1800" b="0" strike="noStrike" spc="-1">
              <a:solidFill>
                <a:srgbClr val="000000"/>
              </a:solidFill>
              <a:uFill>
                <a:solidFill>
                  <a:srgbClr val="FFFFFF"/>
                </a:solidFill>
              </a:uFill>
              <a:latin typeface="Arial"/>
            </a:endParaRPr>
          </a:p>
        </p:txBody>
      </p:sp>
      <p:sp>
        <p:nvSpPr>
          <p:cNvPr id="187"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28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ea typeface="DejaVu Sans"/>
              </a:rPr>
              <a:t>Base Case: Not explicit in the code. Nothing is done if the list pointer is NULL.</a:t>
            </a:r>
            <a:endParaRPr lang="en-US" sz="1800" b="0" strike="noStrike" spc="-1">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ea typeface="DejaVu Sans"/>
              </a:rPr>
              <a:t>Smaller-Caller: Each recursive call walks another step down the list, heading towards the final NULL pointer.</a:t>
            </a:r>
            <a:endParaRPr lang="en-US" sz="1800" b="0" strike="noStrike" spc="-1">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ea typeface="DejaVu Sans"/>
              </a:rPr>
              <a:t>General Case: Assuming the recursive call works correctly, the rest of the list will have been printed before the current value is.</a:t>
            </a:r>
            <a:endParaRPr lang="en-US" sz="1800" b="0" strike="noStrike" spc="-1">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ea typeface="DejaVu Sans"/>
              </a:rPr>
              <a:t>Recursive Binary Search</a:t>
            </a:r>
            <a:endParaRPr lang="en-US" sz="1800" b="0" strike="noStrike" spc="-1">
              <a:solidFill>
                <a:srgbClr val="000000"/>
              </a:solidFill>
              <a:uFill>
                <a:solidFill>
                  <a:srgbClr val="FFFFFF"/>
                </a:solidFill>
              </a:uFill>
              <a:latin typeface="Arial"/>
            </a:endParaRPr>
          </a:p>
        </p:txBody>
      </p:sp>
      <p:sp>
        <p:nvSpPr>
          <p:cNvPr id="189"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Chapter 4 showed an iterative binary search</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Recall that binary search has a list to search, a target </a:t>
            </a:r>
            <a:r>
              <a:rPr lang="en-US" sz="3200" b="0" strike="noStrike" spc="-1" dirty="0" smtClean="0">
                <a:solidFill>
                  <a:srgbClr val="000000"/>
                </a:solidFill>
                <a:uFill>
                  <a:solidFill>
                    <a:srgbClr val="FFFFFF"/>
                  </a:solidFill>
                </a:uFill>
                <a:latin typeface="Arial"/>
                <a:ea typeface="DejaVu Sans"/>
              </a:rPr>
              <a:t>value, </a:t>
            </a:r>
            <a:r>
              <a:rPr lang="en-US" sz="3200" b="0" strike="noStrike" spc="-1" dirty="0">
                <a:solidFill>
                  <a:srgbClr val="000000"/>
                </a:solidFill>
                <a:uFill>
                  <a:solidFill>
                    <a:srgbClr val="FFFFFF"/>
                  </a:solidFill>
                </a:uFill>
                <a:latin typeface="Arial"/>
                <a:ea typeface="DejaVu Sans"/>
              </a:rPr>
              <a:t>and the indices to search between</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It is essentially a recursive algorithm: Each step of the binary search algorithm cuts the search area in half by changing the indices</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dirty="0">
                <a:solidFill>
                  <a:srgbClr val="000000"/>
                </a:solidFill>
                <a:uFill>
                  <a:solidFill>
                    <a:srgbClr val="FFFFFF"/>
                  </a:solidFill>
                </a:uFill>
                <a:latin typeface="Arial"/>
                <a:ea typeface="DejaVu Sans"/>
              </a:rPr>
              <a:t>Recursive Binary </a:t>
            </a:r>
            <a:r>
              <a:rPr lang="en-US" sz="4400" b="0" strike="noStrike" spc="-1" dirty="0" smtClean="0">
                <a:solidFill>
                  <a:srgbClr val="000000"/>
                </a:solidFill>
                <a:uFill>
                  <a:solidFill>
                    <a:srgbClr val="FFFFFF"/>
                  </a:solidFill>
                </a:uFill>
                <a:latin typeface="Arial"/>
                <a:ea typeface="DejaVu Sans"/>
              </a:rPr>
              <a:t>Search (cont.)</a:t>
            </a:r>
            <a:endParaRPr lang="en-US" sz="1800" b="0" strike="noStrike" spc="-1" dirty="0">
              <a:solidFill>
                <a:srgbClr val="000000"/>
              </a:solidFill>
              <a:uFill>
                <a:solidFill>
                  <a:srgbClr val="FFFFFF"/>
                </a:solidFill>
              </a:uFill>
              <a:latin typeface="Arial"/>
            </a:endParaRPr>
          </a:p>
        </p:txBody>
      </p:sp>
      <p:sp>
        <p:nvSpPr>
          <p:cNvPr id="191"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Problem: Search the area for the target value</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Size: The number of items between the two indices</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Base Cases:</a:t>
            </a:r>
            <a:endParaRPr lang="en-US" sz="1800" b="0" strike="noStrike" spc="-1" dirty="0">
              <a:solidFill>
                <a:srgbClr val="000000"/>
              </a:solidFill>
              <a:uFill>
                <a:solidFill>
                  <a:srgbClr val="FFFFFF"/>
                </a:solidFill>
              </a:uFill>
              <a:latin typeface="Arial"/>
            </a:endParaRPr>
          </a:p>
          <a:p>
            <a:pPr marL="864000" lvl="1" indent="-323280">
              <a:lnSpc>
                <a:spcPct val="100000"/>
              </a:lnSpc>
              <a:buClr>
                <a:srgbClr val="000000"/>
              </a:buClr>
              <a:buSzPct val="75000"/>
              <a:buFont typeface="Symbol"/>
              <a:buChar char=""/>
            </a:pPr>
            <a:r>
              <a:rPr lang="en-US" sz="2800" b="0" strike="noStrike" spc="-1" dirty="0">
                <a:solidFill>
                  <a:srgbClr val="000000"/>
                </a:solidFill>
                <a:uFill>
                  <a:solidFill>
                    <a:srgbClr val="FFFFFF"/>
                  </a:solidFill>
                </a:uFill>
                <a:latin typeface="Arial"/>
                <a:ea typeface="DejaVu Sans"/>
              </a:rPr>
              <a:t>The target value is in the middle of the list</a:t>
            </a:r>
            <a:endParaRPr lang="en-US" sz="1800" b="0" strike="noStrike" spc="-1" dirty="0">
              <a:solidFill>
                <a:srgbClr val="000000"/>
              </a:solidFill>
              <a:uFill>
                <a:solidFill>
                  <a:srgbClr val="FFFFFF"/>
                </a:solidFill>
              </a:uFill>
              <a:latin typeface="Arial"/>
            </a:endParaRPr>
          </a:p>
          <a:p>
            <a:pPr marL="864000" lvl="1" indent="-323280">
              <a:lnSpc>
                <a:spcPct val="100000"/>
              </a:lnSpc>
              <a:buClr>
                <a:srgbClr val="000000"/>
              </a:buClr>
              <a:buSzPct val="75000"/>
              <a:buFont typeface="Symbol"/>
              <a:buChar char=""/>
            </a:pPr>
            <a:r>
              <a:rPr lang="en-US" sz="2800" b="0" strike="noStrike" spc="-1" dirty="0">
                <a:solidFill>
                  <a:srgbClr val="000000"/>
                </a:solidFill>
                <a:uFill>
                  <a:solidFill>
                    <a:srgbClr val="FFFFFF"/>
                  </a:solidFill>
                </a:uFill>
                <a:latin typeface="Arial"/>
                <a:ea typeface="DejaVu Sans"/>
              </a:rPr>
              <a:t>There is no more area to search (end &gt; start)</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General Case: Search the lower or higher half of the list depending on the middle value</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ea typeface="DejaVu Sans"/>
              </a:rPr>
              <a:t>Recursive PutItem and DeleteItem</a:t>
            </a:r>
            <a:endParaRPr lang="en-US" sz="1800" b="0" strike="noStrike" spc="-1">
              <a:solidFill>
                <a:srgbClr val="000000"/>
              </a:solidFill>
              <a:uFill>
                <a:solidFill>
                  <a:srgbClr val="FFFFFF"/>
                </a:solidFill>
              </a:uFill>
              <a:latin typeface="Arial"/>
            </a:endParaRPr>
          </a:p>
        </p:txBody>
      </p:sp>
      <p:sp>
        <p:nvSpPr>
          <p:cNvPr id="193"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28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ea typeface="DejaVu Sans"/>
              </a:rPr>
              <a:t>Items at the very beginning or end of the list are edge cases for these two functions</a:t>
            </a:r>
            <a:endParaRPr lang="en-US" sz="1800" b="0" strike="noStrike" spc="-1">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ea typeface="DejaVu Sans"/>
              </a:rPr>
              <a:t>Recursion lets us program them as if we only have the edge cases: Either insert/remove the front of the list, or insert into an empty list</a:t>
            </a:r>
            <a:endParaRPr lang="en-US" sz="1800" b="0" strike="noStrike" spc="-1">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ea typeface="DejaVu Sans"/>
              </a:rPr>
              <a:t>Instead of being recursive themselves, write two recursive helper functions, Insert and Delete</a:t>
            </a:r>
            <a:endParaRPr lang="en-US" sz="1800" b="0" strike="noStrike" spc="-1">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ea typeface="DejaVu Sans"/>
              </a:rPr>
              <a:t>Recursive List Insertion</a:t>
            </a:r>
            <a:endParaRPr lang="en-US" sz="1800" b="0" strike="noStrike" spc="-1">
              <a:solidFill>
                <a:srgbClr val="000000"/>
              </a:solidFill>
              <a:uFill>
                <a:solidFill>
                  <a:srgbClr val="FFFFFF"/>
                </a:solidFill>
              </a:uFill>
              <a:latin typeface="Arial"/>
            </a:endParaRPr>
          </a:p>
        </p:txBody>
      </p:sp>
      <p:sp>
        <p:nvSpPr>
          <p:cNvPr id="195"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Problem: Insert an item into a sorted list</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Size: The number of items in the list</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Base Cases:</a:t>
            </a:r>
            <a:endParaRPr lang="en-US" sz="1800" b="0" strike="noStrike" spc="-1" dirty="0">
              <a:solidFill>
                <a:srgbClr val="000000"/>
              </a:solidFill>
              <a:uFill>
                <a:solidFill>
                  <a:srgbClr val="FFFFFF"/>
                </a:solidFill>
              </a:uFill>
              <a:latin typeface="Arial"/>
            </a:endParaRPr>
          </a:p>
          <a:p>
            <a:pPr marL="864000" lvl="1" indent="-323280">
              <a:lnSpc>
                <a:spcPct val="100000"/>
              </a:lnSpc>
              <a:buClr>
                <a:srgbClr val="000000"/>
              </a:buClr>
              <a:buSzPct val="75000"/>
              <a:buFont typeface="Symbol"/>
              <a:buChar char=""/>
            </a:pPr>
            <a:r>
              <a:rPr lang="en-US" sz="2800" b="0" strike="noStrike" spc="-1" dirty="0">
                <a:solidFill>
                  <a:srgbClr val="000000"/>
                </a:solidFill>
                <a:uFill>
                  <a:solidFill>
                    <a:srgbClr val="FFFFFF"/>
                  </a:solidFill>
                </a:uFill>
                <a:latin typeface="Arial"/>
                <a:ea typeface="DejaVu Sans"/>
              </a:rPr>
              <a:t>If the list is empty, insert the </a:t>
            </a:r>
            <a:r>
              <a:rPr lang="en-US" sz="2800" b="0" strike="noStrike" spc="-1" dirty="0" smtClean="0">
                <a:solidFill>
                  <a:srgbClr val="000000"/>
                </a:solidFill>
                <a:uFill>
                  <a:solidFill>
                    <a:srgbClr val="FFFFFF"/>
                  </a:solidFill>
                </a:uFill>
                <a:latin typeface="Arial"/>
                <a:ea typeface="DejaVu Sans"/>
              </a:rPr>
              <a:t>item</a:t>
            </a:r>
            <a:endParaRPr lang="en-US" sz="1800" b="0" strike="noStrike" spc="-1" dirty="0" smtClean="0">
              <a:solidFill>
                <a:srgbClr val="000000"/>
              </a:solidFill>
              <a:uFill>
                <a:solidFill>
                  <a:srgbClr val="FFFFFF"/>
                </a:solidFill>
              </a:uFill>
              <a:latin typeface="Arial"/>
            </a:endParaRPr>
          </a:p>
          <a:p>
            <a:pPr marL="864000" lvl="1" indent="-323280">
              <a:lnSpc>
                <a:spcPct val="100000"/>
              </a:lnSpc>
              <a:buClr>
                <a:srgbClr val="000000"/>
              </a:buClr>
              <a:buSzPct val="75000"/>
              <a:buFont typeface="Symbol"/>
              <a:buChar char=""/>
            </a:pPr>
            <a:r>
              <a:rPr lang="en-US" sz="2800" b="0" strike="noStrike" spc="-1" dirty="0">
                <a:solidFill>
                  <a:srgbClr val="000000"/>
                </a:solidFill>
                <a:uFill>
                  <a:solidFill>
                    <a:srgbClr val="FFFFFF"/>
                  </a:solidFill>
                </a:uFill>
                <a:latin typeface="Arial"/>
                <a:ea typeface="DejaVu Sans"/>
              </a:rPr>
              <a:t>If the item is less than </a:t>
            </a:r>
            <a:r>
              <a:rPr lang="en-US" sz="2800" b="0" strike="noStrike" spc="-1" dirty="0" err="1">
                <a:solidFill>
                  <a:srgbClr val="000000"/>
                </a:solidFill>
                <a:uFill>
                  <a:solidFill>
                    <a:srgbClr val="FFFFFF"/>
                  </a:solidFill>
                </a:uFill>
                <a:latin typeface="Arial"/>
                <a:ea typeface="DejaVu Sans"/>
              </a:rPr>
              <a:t>listPtr</a:t>
            </a:r>
            <a:r>
              <a:rPr lang="en-US" sz="2800" b="0" strike="noStrike" spc="-1" dirty="0">
                <a:solidFill>
                  <a:srgbClr val="000000"/>
                </a:solidFill>
                <a:uFill>
                  <a:solidFill>
                    <a:srgbClr val="FFFFFF"/>
                  </a:solidFill>
                </a:uFill>
                <a:latin typeface="Arial"/>
                <a:ea typeface="DejaVu Sans"/>
              </a:rPr>
              <a:t>-&gt;info, insert the item as the first node</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General Case: </a:t>
            </a:r>
            <a:r>
              <a:rPr lang="en-US" sz="3200" b="0" strike="noStrike" spc="-1" dirty="0" err="1">
                <a:solidFill>
                  <a:srgbClr val="000000"/>
                </a:solidFill>
                <a:uFill>
                  <a:solidFill>
                    <a:srgbClr val="FFFFFF"/>
                  </a:solidFill>
                </a:uFill>
                <a:latin typeface="Arial"/>
                <a:ea typeface="DejaVu Sans"/>
              </a:rPr>
              <a:t>Insert(listPtr</a:t>
            </a:r>
            <a:r>
              <a:rPr lang="en-US" sz="3200" b="0" strike="noStrike" spc="-1" dirty="0">
                <a:solidFill>
                  <a:srgbClr val="000000"/>
                </a:solidFill>
                <a:uFill>
                  <a:solidFill>
                    <a:srgbClr val="FFFFFF"/>
                  </a:solidFill>
                </a:uFill>
                <a:latin typeface="Arial"/>
                <a:ea typeface="DejaVu Sans"/>
              </a:rPr>
              <a:t>-&gt;next, item)</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ea typeface="DejaVu Sans"/>
              </a:rPr>
              <a:t>Recursive Item Deletion</a:t>
            </a:r>
            <a:endParaRPr lang="en-US" sz="1800" b="0" strike="noStrike" spc="-1">
              <a:solidFill>
                <a:srgbClr val="000000"/>
              </a:solidFill>
              <a:uFill>
                <a:solidFill>
                  <a:srgbClr val="FFFFFF"/>
                </a:solidFill>
              </a:uFill>
              <a:latin typeface="Arial"/>
            </a:endParaRPr>
          </a:p>
        </p:txBody>
      </p:sp>
      <p:sp>
        <p:nvSpPr>
          <p:cNvPr id="197"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28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ea typeface="DejaVu Sans"/>
              </a:rPr>
              <a:t>Problem: Delete a target item from the list</a:t>
            </a:r>
            <a:endParaRPr lang="en-US" sz="1800" b="0" strike="noStrike" spc="-1">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ea typeface="DejaVu Sans"/>
              </a:rPr>
              <a:t>Size: The number of items in the list</a:t>
            </a:r>
            <a:endParaRPr lang="en-US" sz="1800" b="0" strike="noStrike" spc="-1">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ea typeface="DejaVu Sans"/>
              </a:rPr>
              <a:t>Base Case: If listPtr-&gt;info == item, delete the node pointed to by listPtr</a:t>
            </a:r>
            <a:endParaRPr lang="en-US" sz="1800" b="0" strike="noStrike" spc="-1">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ea typeface="DejaVu Sans"/>
              </a:rPr>
              <a:t>General Case: Delete(listPtr-&gt;next, item)</a:t>
            </a:r>
            <a:endParaRPr lang="en-US" sz="1800" b="0" strike="noStrike" spc="-1">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ea typeface="DejaVu Sans"/>
              </a:rPr>
              <a:t>Recursive PutItem and DeleteItem</a:t>
            </a:r>
            <a:endParaRPr lang="en-US" sz="1800" b="0" strike="noStrike" spc="-1">
              <a:solidFill>
                <a:srgbClr val="000000"/>
              </a:solidFill>
              <a:uFill>
                <a:solidFill>
                  <a:srgbClr val="FFFFFF"/>
                </a:solidFill>
              </a:uFill>
              <a:latin typeface="Arial"/>
            </a:endParaRPr>
          </a:p>
        </p:txBody>
      </p:sp>
      <p:sp>
        <p:nvSpPr>
          <p:cNvPr id="199"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Of course, both functions must update the </a:t>
            </a:r>
            <a:r>
              <a:rPr lang="en-US" sz="3200" b="0" strike="noStrike" spc="-1" dirty="0" smtClean="0">
                <a:solidFill>
                  <a:srgbClr val="000000"/>
                </a:solidFill>
                <a:uFill>
                  <a:solidFill>
                    <a:srgbClr val="FFFFFF"/>
                  </a:solidFill>
                </a:uFill>
                <a:latin typeface="Arial"/>
                <a:ea typeface="DejaVu Sans"/>
              </a:rPr>
              <a:t>list’s </a:t>
            </a:r>
            <a:r>
              <a:rPr lang="en-US" sz="3200" b="0" strike="noStrike" spc="-1" dirty="0">
                <a:solidFill>
                  <a:srgbClr val="000000"/>
                </a:solidFill>
                <a:uFill>
                  <a:solidFill>
                    <a:srgbClr val="FFFFFF"/>
                  </a:solidFill>
                </a:uFill>
                <a:latin typeface="Arial"/>
                <a:ea typeface="DejaVu Sans"/>
              </a:rPr>
              <a:t>links</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Insert and Delete need a </a:t>
            </a:r>
            <a:r>
              <a:rPr lang="en-US" sz="3200" b="0" i="1" strike="noStrike" spc="-1" dirty="0">
                <a:solidFill>
                  <a:srgbClr val="000000"/>
                </a:solidFill>
                <a:uFill>
                  <a:solidFill>
                    <a:srgbClr val="FFFFFF"/>
                  </a:solidFill>
                </a:uFill>
                <a:latin typeface="Arial"/>
                <a:ea typeface="DejaVu Sans"/>
              </a:rPr>
              <a:t>reference</a:t>
            </a:r>
            <a:r>
              <a:rPr lang="en-US" sz="3200" b="0" strike="noStrike" spc="-1" dirty="0">
                <a:solidFill>
                  <a:srgbClr val="000000"/>
                </a:solidFill>
                <a:uFill>
                  <a:solidFill>
                    <a:srgbClr val="FFFFFF"/>
                  </a:solidFill>
                </a:uFill>
                <a:latin typeface="Arial"/>
                <a:ea typeface="DejaVu Sans"/>
              </a:rPr>
              <a:t> to the list pointer in order to be able to update the list</a:t>
            </a:r>
            <a:endParaRPr lang="en-US" sz="1800" b="0" strike="noStrike" spc="-1" dirty="0">
              <a:solidFill>
                <a:srgbClr val="000000"/>
              </a:solidFill>
              <a:uFill>
                <a:solidFill>
                  <a:srgbClr val="FFFFFF"/>
                </a:solidFill>
              </a:uFill>
              <a:latin typeface="Arial"/>
            </a:endParaRPr>
          </a:p>
          <a:p>
            <a:pPr marL="864000" lvl="1" indent="-323280">
              <a:lnSpc>
                <a:spcPct val="100000"/>
              </a:lnSpc>
              <a:buClr>
                <a:srgbClr val="000000"/>
              </a:buClr>
              <a:buSzPct val="75000"/>
              <a:buFont typeface="Symbol"/>
              <a:buChar char=""/>
            </a:pPr>
            <a:r>
              <a:rPr lang="en-US" sz="2800" b="1" strike="noStrike" spc="-1" dirty="0" err="1">
                <a:solidFill>
                  <a:srgbClr val="000000"/>
                </a:solidFill>
                <a:uFill>
                  <a:solidFill>
                    <a:srgbClr val="FFFFFF"/>
                  </a:solidFill>
                </a:uFill>
                <a:latin typeface="Courier New"/>
                <a:ea typeface="DejaVu Sans"/>
              </a:rPr>
              <a:t>NodeType</a:t>
            </a:r>
            <a:r>
              <a:rPr lang="en-US" sz="2800" b="1" strike="noStrike" spc="-1" dirty="0">
                <a:solidFill>
                  <a:srgbClr val="000000"/>
                </a:solidFill>
                <a:uFill>
                  <a:solidFill>
                    <a:srgbClr val="FFFFFF"/>
                  </a:solidFill>
                </a:uFill>
                <a:latin typeface="Courier New"/>
                <a:ea typeface="DejaVu Sans"/>
              </a:rPr>
              <a:t>&lt;</a:t>
            </a:r>
            <a:r>
              <a:rPr lang="en-US" sz="2800" b="1" strike="noStrike" spc="-1" dirty="0" err="1">
                <a:solidFill>
                  <a:srgbClr val="000000"/>
                </a:solidFill>
                <a:uFill>
                  <a:solidFill>
                    <a:srgbClr val="FFFFFF"/>
                  </a:solidFill>
                </a:uFill>
                <a:latin typeface="Courier New"/>
                <a:ea typeface="DejaVu Sans"/>
              </a:rPr>
              <a:t>ItemType</a:t>
            </a:r>
            <a:r>
              <a:rPr lang="en-US" sz="2800" b="1" strike="noStrike" spc="-1" dirty="0">
                <a:solidFill>
                  <a:srgbClr val="000000"/>
                </a:solidFill>
                <a:uFill>
                  <a:solidFill>
                    <a:srgbClr val="FFFFFF"/>
                  </a:solidFill>
                </a:uFill>
                <a:latin typeface="Courier New"/>
                <a:ea typeface="DejaVu Sans"/>
              </a:rPr>
              <a:t>&gt;*&amp; </a:t>
            </a:r>
            <a:r>
              <a:rPr lang="en-US" sz="2800" b="1" strike="noStrike" spc="-1" dirty="0" err="1">
                <a:solidFill>
                  <a:srgbClr val="000000"/>
                </a:solidFill>
                <a:uFill>
                  <a:solidFill>
                    <a:srgbClr val="FFFFFF"/>
                  </a:solidFill>
                </a:uFill>
                <a:latin typeface="Courier New"/>
                <a:ea typeface="DejaVu Sans"/>
              </a:rPr>
              <a:t>listPtr</a:t>
            </a:r>
            <a:endParaRPr lang="en-US" sz="1800" b="0" strike="noStrike" spc="-1" dirty="0">
              <a:solidFill>
                <a:srgbClr val="000000"/>
              </a:solidFill>
              <a:uFill>
                <a:solidFill>
                  <a:srgbClr val="FFFFFF"/>
                </a:solidFill>
              </a:uFill>
              <a:latin typeface="Arial"/>
            </a:endParaRPr>
          </a:p>
          <a:p>
            <a:pPr marL="432000" indent="-32328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ea typeface="DejaVu Sans"/>
              </a:rPr>
              <a:t>Otherwise, any changes to </a:t>
            </a:r>
            <a:r>
              <a:rPr lang="en-US" sz="3200" b="0" strike="noStrike" spc="-1" dirty="0" err="1">
                <a:solidFill>
                  <a:srgbClr val="000000"/>
                </a:solidFill>
                <a:uFill>
                  <a:solidFill>
                    <a:srgbClr val="FFFFFF"/>
                  </a:solidFill>
                </a:uFill>
                <a:latin typeface="Arial"/>
                <a:ea typeface="DejaVu Sans"/>
              </a:rPr>
              <a:t>listPtr</a:t>
            </a:r>
            <a:r>
              <a:rPr lang="en-US" sz="3200" b="0" strike="noStrike" spc="-1" dirty="0">
                <a:solidFill>
                  <a:srgbClr val="000000"/>
                </a:solidFill>
                <a:uFill>
                  <a:solidFill>
                    <a:srgbClr val="FFFFFF"/>
                  </a:solidFill>
                </a:uFill>
                <a:latin typeface="Arial"/>
                <a:ea typeface="DejaVu Sans"/>
              </a:rPr>
              <a:t> will not be carried through to the caller</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TextShape 1"/>
          <p:cNvSpPr txBox="1"/>
          <p:nvPr/>
        </p:nvSpPr>
        <p:spPr>
          <a:xfrm>
            <a:off x="504000" y="301320"/>
            <a:ext cx="9072000" cy="1261800"/>
          </a:xfrm>
          <a:prstGeom prst="rect">
            <a:avLst/>
          </a:prstGeom>
          <a:noFill/>
          <a:ln>
            <a:noFill/>
          </a:ln>
        </p:spPr>
        <p:txBody>
          <a:bodyPr lIns="0" tIns="0" rIns="0" bIns="0" anchor="ctr"/>
          <a:lstStyle/>
          <a:p>
            <a:pPr algn="ctr"/>
            <a:r>
              <a:rPr lang="en-US" sz="4400" b="0" strike="noStrike" spc="-1">
                <a:solidFill>
                  <a:srgbClr val="000000"/>
                </a:solidFill>
                <a:uFill>
                  <a:solidFill>
                    <a:srgbClr val="FFFFFF"/>
                  </a:solidFill>
                </a:uFill>
                <a:latin typeface="Arial"/>
              </a:rPr>
              <a:t>Recursive Insert</a:t>
            </a:r>
          </a:p>
        </p:txBody>
      </p:sp>
      <p:sp>
        <p:nvSpPr>
          <p:cNvPr id="201" name="TextShape 2"/>
          <p:cNvSpPr txBox="1"/>
          <p:nvPr/>
        </p:nvSpPr>
        <p:spPr>
          <a:xfrm>
            <a:off x="504000" y="1768680"/>
            <a:ext cx="9072000" cy="4384080"/>
          </a:xfrm>
          <a:prstGeom prst="rect">
            <a:avLst/>
          </a:prstGeom>
          <a:solidFill>
            <a:srgbClr val="FFFFFF"/>
          </a:solidFill>
          <a:ln>
            <a:noFill/>
          </a:ln>
        </p:spPr>
        <p:txBody>
          <a:bodyPr lIns="0" tIns="0" rIns="0" bIns="0"/>
          <a:lstStyle/>
          <a:p>
            <a:r>
              <a:rPr lang="en-US" sz="2000" b="1" strike="noStrike" spc="-1">
                <a:solidFill>
                  <a:srgbClr val="000000"/>
                </a:solidFill>
                <a:uFill>
                  <a:solidFill>
                    <a:srgbClr val="FFFFFF"/>
                  </a:solidFill>
                </a:uFill>
                <a:latin typeface="Courier New"/>
              </a:rPr>
              <a:t>template&lt;class ItemType&gt;
void Insert(NodeType&lt;ItemType&gt;*&amp; listPtr, ItemType item)
{
  if (listPtr == NULL || item &lt; listPtr→info)
  {
    </a:t>
            </a:r>
            <a:r>
              <a:rPr lang="en-US" sz="2000" b="1" strike="noStrike" spc="-1">
                <a:solidFill>
                  <a:srgbClr val="2300DC"/>
                </a:solidFill>
                <a:uFill>
                  <a:solidFill>
                    <a:srgbClr val="FFFFFF"/>
                  </a:solidFill>
                </a:uFill>
                <a:latin typeface="Courier New"/>
              </a:rPr>
              <a:t>// Save current pointer.</a:t>
            </a:r>
            <a:r>
              <a:rPr lang="en-US" sz="2000" b="1" strike="noStrike" spc="-1">
                <a:solidFill>
                  <a:srgbClr val="000000"/>
                </a:solidFill>
                <a:uFill>
                  <a:solidFill>
                    <a:srgbClr val="FFFFFF"/>
                  </a:solidFill>
                </a:uFill>
                <a:latin typeface="Courier New"/>
              </a:rPr>
              <a:t>
    NodeType&lt;ItemType&gt;* tempPtr = listPtr;
    </a:t>
            </a:r>
            <a:r>
              <a:rPr lang="en-US" sz="2000" b="1" strike="noStrike" spc="-1">
                <a:solidFill>
                  <a:srgbClr val="2300DC"/>
                </a:solidFill>
                <a:uFill>
                  <a:solidFill>
                    <a:srgbClr val="FFFFFF"/>
                  </a:solidFill>
                </a:uFill>
                <a:latin typeface="Courier New"/>
              </a:rPr>
              <a:t>// Get a new node.</a:t>
            </a:r>
            <a:r>
              <a:rPr lang="en-US" sz="2000" b="1" strike="noStrike" spc="-1">
                <a:solidFill>
                  <a:srgbClr val="000000"/>
                </a:solidFill>
                <a:uFill>
                  <a:solidFill>
                    <a:srgbClr val="FFFFFF"/>
                  </a:solidFill>
                </a:uFill>
                <a:latin typeface="Courier New"/>
              </a:rPr>
              <a:t>
    listPtr = new NodeType&lt;ItemType&gt;;
    listPtr-&gt;info = item;
    listPtr-&gt;next = tempPtr;
  }
  else Insert(listPtr-&gt;next, item);
}</a:t>
            </a:r>
            <a:endParaRPr lang="en-US" sz="3200" b="1" strike="noStrike" spc="-1">
              <a:solidFill>
                <a:srgbClr val="000000"/>
              </a:solidFill>
              <a:uFill>
                <a:solidFill>
                  <a:srgbClr val="FFFFFF"/>
                </a:solidFill>
              </a:uFill>
              <a:latin typeface="Courier New"/>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CustomShape 1"/>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sp>
      <p:sp>
        <p:nvSpPr>
          <p:cNvPr id="203" name="CustomShape 2"/>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rPr>
              <a:t>How Recursion Works</a:t>
            </a:r>
            <a:endParaRPr lang="en-US" sz="1800" b="0" strike="noStrike" spc="-1">
              <a:solidFill>
                <a:srgbClr val="000000"/>
              </a:solidFill>
              <a:uFill>
                <a:solidFill>
                  <a:srgbClr val="FFFFFF"/>
                </a:solidFill>
              </a:uFill>
              <a:latin typeface="Arial"/>
            </a:endParaRPr>
          </a:p>
        </p:txBody>
      </p:sp>
      <p:sp>
        <p:nvSpPr>
          <p:cNvPr id="204" name="CustomShape 3"/>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Some programming languages do not support recursion. Why?</a:t>
            </a:r>
            <a:endParaRPr lang="en-US" sz="1800" b="0" strike="noStrike" spc="-1" dirty="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To understand this, </a:t>
            </a:r>
            <a:r>
              <a:rPr lang="en-US" sz="3200" b="0" strike="noStrike" spc="-1" dirty="0" smtClean="0">
                <a:solidFill>
                  <a:srgbClr val="000000"/>
                </a:solidFill>
                <a:uFill>
                  <a:solidFill>
                    <a:srgbClr val="FFFFFF"/>
                  </a:solidFill>
                </a:uFill>
                <a:latin typeface="Arial"/>
              </a:rPr>
              <a:t>let’s </a:t>
            </a:r>
            <a:r>
              <a:rPr lang="en-US" sz="3200" b="0" strike="noStrike" spc="-1" dirty="0">
                <a:solidFill>
                  <a:srgbClr val="000000"/>
                </a:solidFill>
                <a:uFill>
                  <a:solidFill>
                    <a:srgbClr val="FFFFFF"/>
                  </a:solidFill>
                </a:uFill>
                <a:latin typeface="Arial"/>
              </a:rPr>
              <a:t>detour and talk about </a:t>
            </a:r>
            <a:r>
              <a:rPr lang="en-US" sz="3200" b="1" strike="noStrike" spc="-1" dirty="0">
                <a:solidFill>
                  <a:srgbClr val="000000"/>
                </a:solidFill>
                <a:uFill>
                  <a:solidFill>
                    <a:srgbClr val="FFFFFF"/>
                  </a:solidFill>
                </a:uFill>
                <a:latin typeface="Arial"/>
              </a:rPr>
              <a:t>binding</a:t>
            </a:r>
            <a:r>
              <a:rPr lang="en-US" sz="3200" b="0" strike="noStrike" spc="-1" dirty="0">
                <a:solidFill>
                  <a:srgbClr val="000000"/>
                </a:solidFill>
                <a:uFill>
                  <a:solidFill>
                    <a:srgbClr val="FFFFFF"/>
                  </a:solidFill>
                </a:uFill>
                <a:latin typeface="Arial"/>
              </a:rPr>
              <a:t>, or associating a memory address with a variable </a:t>
            </a:r>
            <a:r>
              <a:rPr lang="en-US" sz="3200" b="0" strike="noStrike" spc="-1" dirty="0" smtClean="0">
                <a:solidFill>
                  <a:srgbClr val="000000"/>
                </a:solidFill>
                <a:uFill>
                  <a:solidFill>
                    <a:srgbClr val="FFFFFF"/>
                  </a:solidFill>
                </a:uFill>
                <a:latin typeface="Arial"/>
              </a:rPr>
              <a:t>name.</a:t>
            </a:r>
            <a:endParaRPr lang="en-US" sz="1800" b="0" strike="noStrike" spc="-1" dirty="0" smtClean="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Binding can occur at different times.</a:t>
            </a:r>
            <a:endParaRPr lang="en-US" sz="1800" b="0" strike="noStrike" spc="-1" dirty="0">
              <a:solidFill>
                <a:srgbClr val="000000"/>
              </a:solidFill>
              <a:uFill>
                <a:solidFill>
                  <a:srgbClr val="FFFFFF"/>
                </a:solidFill>
              </a:uFill>
              <a:latin typeface="Arial"/>
            </a:endParaRPr>
          </a:p>
          <a:p>
            <a:pPr marL="864000" lvl="1" indent="-323640">
              <a:lnSpc>
                <a:spcPct val="100000"/>
              </a:lnSpc>
              <a:buClr>
                <a:srgbClr val="000000"/>
              </a:buClr>
              <a:buSzPct val="75000"/>
              <a:buFont typeface="Symbol"/>
              <a:buChar char=""/>
            </a:pPr>
            <a:r>
              <a:rPr lang="en-US" sz="2800" b="1" strike="noStrike" spc="-1" dirty="0">
                <a:solidFill>
                  <a:srgbClr val="000000"/>
                </a:solidFill>
                <a:uFill>
                  <a:solidFill>
                    <a:srgbClr val="FFFFFF"/>
                  </a:solidFill>
                </a:uFill>
                <a:latin typeface="Arial"/>
              </a:rPr>
              <a:t>Static binding</a:t>
            </a:r>
            <a:r>
              <a:rPr lang="en-US" sz="2800" b="0" strike="noStrike" spc="-1" dirty="0">
                <a:solidFill>
                  <a:srgbClr val="000000"/>
                </a:solidFill>
                <a:uFill>
                  <a:solidFill>
                    <a:srgbClr val="FFFFFF"/>
                  </a:solidFill>
                </a:uFill>
                <a:latin typeface="Arial"/>
              </a:rPr>
              <a:t> occurs at compile time</a:t>
            </a:r>
            <a:endParaRPr lang="en-US" sz="1800" b="0" strike="noStrike" spc="-1" dirty="0">
              <a:solidFill>
                <a:srgbClr val="000000"/>
              </a:solidFill>
              <a:uFill>
                <a:solidFill>
                  <a:srgbClr val="FFFFFF"/>
                </a:solidFill>
              </a:uFill>
              <a:latin typeface="Arial"/>
            </a:endParaRPr>
          </a:p>
          <a:p>
            <a:pPr marL="864000" lvl="1" indent="-323640">
              <a:lnSpc>
                <a:spcPct val="100000"/>
              </a:lnSpc>
              <a:buClr>
                <a:srgbClr val="000000"/>
              </a:buClr>
              <a:buSzPct val="75000"/>
              <a:buFont typeface="Symbol"/>
              <a:buChar char=""/>
            </a:pPr>
            <a:r>
              <a:rPr lang="en-US" sz="2800" b="1" strike="noStrike" spc="-1" dirty="0">
                <a:solidFill>
                  <a:srgbClr val="000000"/>
                </a:solidFill>
                <a:uFill>
                  <a:solidFill>
                    <a:srgbClr val="FFFFFF"/>
                  </a:solidFill>
                </a:uFill>
                <a:latin typeface="Arial"/>
              </a:rPr>
              <a:t>Dynamic binding</a:t>
            </a:r>
            <a:r>
              <a:rPr lang="en-US" sz="2800" b="0" strike="noStrike" spc="-1" dirty="0">
                <a:solidFill>
                  <a:srgbClr val="000000"/>
                </a:solidFill>
                <a:uFill>
                  <a:solidFill>
                    <a:srgbClr val="FFFFFF"/>
                  </a:solidFill>
                </a:uFill>
                <a:latin typeface="Arial"/>
              </a:rPr>
              <a:t> occurs at run time</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rPr>
              <a:t>Static Binding</a:t>
            </a:r>
            <a:endParaRPr lang="en-US" sz="1800" b="0" strike="noStrike" spc="-1">
              <a:solidFill>
                <a:srgbClr val="000000"/>
              </a:solidFill>
              <a:uFill>
                <a:solidFill>
                  <a:srgbClr val="FFFFFF"/>
                </a:solidFill>
              </a:uFill>
              <a:latin typeface="Arial"/>
            </a:endParaRPr>
          </a:p>
        </p:txBody>
      </p:sp>
      <p:sp>
        <p:nvSpPr>
          <p:cNvPr id="206"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64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rPr>
              <a:t>When a program is compiled, each variable is entered into a </a:t>
            </a:r>
            <a:r>
              <a:rPr lang="en-US" sz="3200" b="0" i="1" strike="noStrike" spc="-1">
                <a:solidFill>
                  <a:srgbClr val="000000"/>
                </a:solidFill>
                <a:uFill>
                  <a:solidFill>
                    <a:srgbClr val="FFFFFF"/>
                  </a:solidFill>
                </a:uFill>
                <a:latin typeface="Arial"/>
              </a:rPr>
              <a:t>symbol table</a:t>
            </a:r>
            <a:r>
              <a:rPr lang="en-US" sz="3200" b="0" strike="noStrike" spc="-1">
                <a:solidFill>
                  <a:srgbClr val="000000"/>
                </a:solidFill>
                <a:uFill>
                  <a:solidFill>
                    <a:srgbClr val="FFFFFF"/>
                  </a:solidFill>
                </a:uFill>
                <a:latin typeface="Arial"/>
              </a:rPr>
              <a:t> and bound to a memory address</a:t>
            </a:r>
            <a:endParaRPr lang="en-US" sz="1800" b="0" strike="noStrike" spc="-1">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rPr>
              <a:t>Each reference to the variable name is replaced by the memory address</a:t>
            </a:r>
            <a:endParaRPr lang="en-US" sz="1800" b="0" strike="noStrike" spc="-1">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rPr>
              <a:t>Function parameters and local variables are also bound to memory addresses at this time</a:t>
            </a:r>
            <a:endParaRPr lang="en-US" sz="1800" b="0" strike="noStrike" spc="-1">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rPr>
              <a:t>This is also called </a:t>
            </a:r>
            <a:r>
              <a:rPr lang="en-US" sz="3200" b="0" i="1" strike="noStrike" spc="-1">
                <a:solidFill>
                  <a:srgbClr val="000000"/>
                </a:solidFill>
                <a:uFill>
                  <a:solidFill>
                    <a:srgbClr val="FFFFFF"/>
                  </a:solidFill>
                </a:uFill>
                <a:latin typeface="Arial"/>
              </a:rPr>
              <a:t>static storage allocation</a:t>
            </a:r>
            <a:endParaRPr lang="en-US" sz="1800" b="0" strike="noStrike" spc="-1">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rPr>
              <a:t>Symbol Table</a:t>
            </a:r>
            <a:endParaRPr lang="en-US" sz="1800" b="0" strike="noStrike" spc="-1">
              <a:solidFill>
                <a:srgbClr val="000000"/>
              </a:solidFill>
              <a:uFill>
                <a:solidFill>
                  <a:srgbClr val="FFFFFF"/>
                </a:solidFill>
              </a:uFill>
              <a:latin typeface="Arial"/>
            </a:endParaRPr>
          </a:p>
        </p:txBody>
      </p:sp>
      <p:sp>
        <p:nvSpPr>
          <p:cNvPr id="208"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r>
              <a:rPr lang="en-US" sz="3200" b="0" strike="noStrike" spc="-1" dirty="0">
                <a:solidFill>
                  <a:srgbClr val="000000"/>
                </a:solidFill>
                <a:uFill>
                  <a:solidFill>
                    <a:srgbClr val="FFFFFF"/>
                  </a:solidFill>
                </a:uFill>
                <a:latin typeface="Arial"/>
              </a:rPr>
              <a:t>Three variables are declared: </a:t>
            </a:r>
            <a:r>
              <a:rPr lang="en-US" sz="2800" b="1" strike="noStrike" spc="-1" dirty="0" err="1">
                <a:solidFill>
                  <a:srgbClr val="000000"/>
                </a:solidFill>
                <a:uFill>
                  <a:solidFill>
                    <a:srgbClr val="FFFFFF"/>
                  </a:solidFill>
                </a:uFill>
                <a:latin typeface="Courier New"/>
              </a:rPr>
              <a:t>int</a:t>
            </a:r>
            <a:r>
              <a:rPr lang="en-US" sz="2800" b="1" strike="noStrike" spc="-1" dirty="0">
                <a:solidFill>
                  <a:srgbClr val="000000"/>
                </a:solidFill>
                <a:uFill>
                  <a:solidFill>
                    <a:srgbClr val="FFFFFF"/>
                  </a:solidFill>
                </a:uFill>
                <a:latin typeface="Courier New"/>
              </a:rPr>
              <a:t> a, </a:t>
            </a:r>
            <a:r>
              <a:rPr lang="en-US" sz="2800" b="1" strike="noStrike" spc="-1" dirty="0" err="1">
                <a:solidFill>
                  <a:srgbClr val="000000"/>
                </a:solidFill>
                <a:uFill>
                  <a:solidFill>
                    <a:srgbClr val="FFFFFF"/>
                  </a:solidFill>
                </a:uFill>
                <a:latin typeface="Courier New"/>
              </a:rPr>
              <a:t>b</a:t>
            </a:r>
            <a:r>
              <a:rPr lang="en-US" sz="2800" b="1" strike="noStrike" spc="-1" dirty="0">
                <a:solidFill>
                  <a:srgbClr val="000000"/>
                </a:solidFill>
                <a:uFill>
                  <a:solidFill>
                    <a:srgbClr val="FFFFFF"/>
                  </a:solidFill>
                </a:uFill>
                <a:latin typeface="Courier New"/>
              </a:rPr>
              <a:t>, </a:t>
            </a:r>
            <a:r>
              <a:rPr lang="en-US" sz="2800" b="1" strike="noStrike" spc="-1" dirty="0" err="1">
                <a:solidFill>
                  <a:srgbClr val="000000"/>
                </a:solidFill>
                <a:uFill>
                  <a:solidFill>
                    <a:srgbClr val="FFFFFF"/>
                  </a:solidFill>
                </a:uFill>
                <a:latin typeface="Courier New"/>
              </a:rPr>
              <a:t>c</a:t>
            </a:r>
            <a:r>
              <a:rPr lang="en-US" sz="2800" b="1" strike="noStrike" spc="-1" dirty="0">
                <a:solidFill>
                  <a:srgbClr val="000000"/>
                </a:solidFill>
                <a:uFill>
                  <a:solidFill>
                    <a:srgbClr val="FFFFFF"/>
                  </a:solidFill>
                </a:uFill>
                <a:latin typeface="Courier New"/>
              </a:rPr>
              <a:t>;</a:t>
            </a:r>
            <a:endParaRPr lang="en-US" sz="1800" b="0" strike="noStrike" spc="-1" dirty="0">
              <a:solidFill>
                <a:srgbClr val="000000"/>
              </a:solidFill>
              <a:uFill>
                <a:solidFill>
                  <a:srgbClr val="FFFFFF"/>
                </a:solidFill>
              </a:uFill>
              <a:latin typeface="Arial"/>
            </a:endParaRPr>
          </a:p>
          <a:p>
            <a:r>
              <a:rPr lang="en-US" sz="3200" b="0" strike="noStrike" spc="-1" dirty="0">
                <a:solidFill>
                  <a:srgbClr val="000000"/>
                </a:solidFill>
                <a:uFill>
                  <a:solidFill>
                    <a:srgbClr val="FFFFFF"/>
                  </a:solidFill>
                </a:uFill>
                <a:latin typeface="Arial"/>
              </a:rPr>
              <a:t>The compiler binds them in the symbol table:</a:t>
            </a:r>
            <a:endParaRPr lang="en-US" sz="1800" b="0" strike="noStrike" spc="-1" dirty="0">
              <a:solidFill>
                <a:srgbClr val="000000"/>
              </a:solidFill>
              <a:uFill>
                <a:solidFill>
                  <a:srgbClr val="FFFFFF"/>
                </a:solidFill>
              </a:uFill>
              <a:latin typeface="Arial"/>
            </a:endParaRPr>
          </a:p>
          <a:p>
            <a:r>
              <a:rPr lang="en-US" sz="2800" b="0" strike="noStrike" spc="-1" dirty="0">
                <a:solidFill>
                  <a:srgbClr val="000000"/>
                </a:solidFill>
                <a:uFill>
                  <a:solidFill>
                    <a:srgbClr val="FFFFFF"/>
                  </a:solidFill>
                </a:uFill>
                <a:latin typeface="Courier New"/>
              </a:rPr>
              <a:t>  </a:t>
            </a:r>
            <a:r>
              <a:rPr lang="en-US" sz="2800" b="1" strike="noStrike" spc="-1" dirty="0">
                <a:solidFill>
                  <a:srgbClr val="000000"/>
                </a:solidFill>
                <a:uFill>
                  <a:solidFill>
                    <a:srgbClr val="FFFFFF"/>
                  </a:solidFill>
                </a:uFill>
                <a:latin typeface="Courier New"/>
              </a:rPr>
              <a:t>Symbol   Address</a:t>
            </a:r>
            <a:endParaRPr lang="en-US" sz="1800" b="0" strike="noStrike" spc="-1" dirty="0">
              <a:solidFill>
                <a:srgbClr val="000000"/>
              </a:solidFill>
              <a:uFill>
                <a:solidFill>
                  <a:srgbClr val="FFFFFF"/>
                </a:solidFill>
              </a:uFill>
              <a:latin typeface="Arial"/>
            </a:endParaRPr>
          </a:p>
          <a:p>
            <a:r>
              <a:rPr lang="en-US" sz="2800" b="1" strike="noStrike" spc="-1" dirty="0">
                <a:solidFill>
                  <a:srgbClr val="000000"/>
                </a:solidFill>
                <a:uFill>
                  <a:solidFill>
                    <a:srgbClr val="FFFFFF"/>
                  </a:solidFill>
                </a:uFill>
                <a:latin typeface="Courier New"/>
              </a:rPr>
              <a:t>  a        0001</a:t>
            </a:r>
            <a:endParaRPr lang="en-US" sz="1800" b="0" strike="noStrike" spc="-1" dirty="0">
              <a:solidFill>
                <a:srgbClr val="000000"/>
              </a:solidFill>
              <a:uFill>
                <a:solidFill>
                  <a:srgbClr val="FFFFFF"/>
                </a:solidFill>
              </a:uFill>
              <a:latin typeface="Arial"/>
            </a:endParaRPr>
          </a:p>
          <a:p>
            <a:r>
              <a:rPr lang="en-US" sz="2800" b="1" strike="noStrike" spc="-1" dirty="0">
                <a:solidFill>
                  <a:srgbClr val="000000"/>
                </a:solidFill>
                <a:uFill>
                  <a:solidFill>
                    <a:srgbClr val="FFFFFF"/>
                  </a:solidFill>
                </a:uFill>
                <a:latin typeface="Courier New"/>
              </a:rPr>
              <a:t>  </a:t>
            </a:r>
            <a:r>
              <a:rPr lang="en-US" sz="2800" b="1" strike="noStrike" spc="-1" dirty="0" err="1">
                <a:solidFill>
                  <a:srgbClr val="000000"/>
                </a:solidFill>
                <a:uFill>
                  <a:solidFill>
                    <a:srgbClr val="FFFFFF"/>
                  </a:solidFill>
                </a:uFill>
                <a:latin typeface="Courier New"/>
              </a:rPr>
              <a:t>b</a:t>
            </a:r>
            <a:r>
              <a:rPr lang="en-US" sz="2800" b="1" strike="noStrike" spc="-1" dirty="0">
                <a:solidFill>
                  <a:srgbClr val="000000"/>
                </a:solidFill>
                <a:uFill>
                  <a:solidFill>
                    <a:srgbClr val="FFFFFF"/>
                  </a:solidFill>
                </a:uFill>
                <a:latin typeface="Courier New"/>
              </a:rPr>
              <a:t>        0002</a:t>
            </a:r>
            <a:endParaRPr lang="en-US" sz="1800" b="0" strike="noStrike" spc="-1" dirty="0">
              <a:solidFill>
                <a:srgbClr val="000000"/>
              </a:solidFill>
              <a:uFill>
                <a:solidFill>
                  <a:srgbClr val="FFFFFF"/>
                </a:solidFill>
              </a:uFill>
              <a:latin typeface="Arial"/>
            </a:endParaRPr>
          </a:p>
          <a:p>
            <a:r>
              <a:rPr lang="en-US" sz="2800" b="1" strike="noStrike" spc="-1" dirty="0">
                <a:solidFill>
                  <a:srgbClr val="000000"/>
                </a:solidFill>
                <a:uFill>
                  <a:solidFill>
                    <a:srgbClr val="FFFFFF"/>
                  </a:solidFill>
                </a:uFill>
                <a:latin typeface="Courier New"/>
              </a:rPr>
              <a:t>  </a:t>
            </a:r>
            <a:r>
              <a:rPr lang="en-US" sz="2800" b="1" strike="noStrike" spc="-1" dirty="0" err="1">
                <a:solidFill>
                  <a:srgbClr val="000000"/>
                </a:solidFill>
                <a:uFill>
                  <a:solidFill>
                    <a:srgbClr val="FFFFFF"/>
                  </a:solidFill>
                </a:uFill>
                <a:latin typeface="Courier New"/>
              </a:rPr>
              <a:t>c</a:t>
            </a:r>
            <a:r>
              <a:rPr lang="en-US" sz="2800" b="1" strike="noStrike" spc="-1" dirty="0">
                <a:solidFill>
                  <a:srgbClr val="000000"/>
                </a:solidFill>
                <a:uFill>
                  <a:solidFill>
                    <a:srgbClr val="FFFFFF"/>
                  </a:solidFill>
                </a:uFill>
                <a:latin typeface="Courier New"/>
              </a:rPr>
              <a:t>        0003</a:t>
            </a:r>
            <a:endParaRPr lang="en-US" sz="1800" b="0" strike="noStrike" spc="-1" dirty="0">
              <a:solidFill>
                <a:srgbClr val="000000"/>
              </a:solidFill>
              <a:uFill>
                <a:solidFill>
                  <a:srgbClr val="FFFFFF"/>
                </a:solidFill>
              </a:uFill>
              <a:latin typeface="Arial"/>
            </a:endParaRPr>
          </a:p>
          <a:p>
            <a:r>
              <a:rPr lang="en-US" sz="3200" b="0" strike="noStrike" spc="-1" dirty="0">
                <a:solidFill>
                  <a:srgbClr val="000000"/>
                </a:solidFill>
                <a:uFill>
                  <a:solidFill>
                    <a:srgbClr val="FFFFFF"/>
                  </a:solidFill>
                </a:uFill>
                <a:latin typeface="Arial"/>
              </a:rPr>
              <a:t>A statement such as: </a:t>
            </a:r>
            <a:r>
              <a:rPr lang="en-US" sz="2800" b="1" strike="noStrike" spc="-1" dirty="0">
                <a:solidFill>
                  <a:srgbClr val="000000"/>
                </a:solidFill>
                <a:uFill>
                  <a:solidFill>
                    <a:srgbClr val="FFFFFF"/>
                  </a:solidFill>
                </a:uFill>
                <a:latin typeface="Courier New"/>
              </a:rPr>
              <a:t>a = </a:t>
            </a:r>
            <a:r>
              <a:rPr lang="en-US" sz="2800" b="1" strike="noStrike" spc="-1" dirty="0" err="1">
                <a:solidFill>
                  <a:srgbClr val="000000"/>
                </a:solidFill>
                <a:uFill>
                  <a:solidFill>
                    <a:srgbClr val="FFFFFF"/>
                  </a:solidFill>
                </a:uFill>
                <a:latin typeface="Courier New"/>
              </a:rPr>
              <a:t>b</a:t>
            </a:r>
            <a:r>
              <a:rPr lang="en-US" sz="2800" b="1" strike="noStrike" spc="-1" dirty="0">
                <a:solidFill>
                  <a:srgbClr val="000000"/>
                </a:solidFill>
                <a:uFill>
                  <a:solidFill>
                    <a:srgbClr val="FFFFFF"/>
                  </a:solidFill>
                </a:uFill>
                <a:latin typeface="Courier New"/>
              </a:rPr>
              <a:t> + </a:t>
            </a:r>
            <a:r>
              <a:rPr lang="en-US" sz="2800" b="1" strike="noStrike" spc="-1" dirty="0" err="1">
                <a:solidFill>
                  <a:srgbClr val="000000"/>
                </a:solidFill>
                <a:uFill>
                  <a:solidFill>
                    <a:srgbClr val="FFFFFF"/>
                  </a:solidFill>
                </a:uFill>
                <a:latin typeface="Courier New"/>
              </a:rPr>
              <a:t>c</a:t>
            </a:r>
            <a:r>
              <a:rPr lang="en-US" sz="2800" b="1" strike="noStrike" spc="-1" dirty="0">
                <a:solidFill>
                  <a:srgbClr val="000000"/>
                </a:solidFill>
                <a:uFill>
                  <a:solidFill>
                    <a:srgbClr val="FFFFFF"/>
                  </a:solidFill>
                </a:uFill>
                <a:latin typeface="Courier New"/>
              </a:rPr>
              <a:t>;</a:t>
            </a:r>
            <a:endParaRPr lang="en-US" sz="1800" b="0" strike="noStrike" spc="-1" dirty="0">
              <a:solidFill>
                <a:srgbClr val="000000"/>
              </a:solidFill>
              <a:uFill>
                <a:solidFill>
                  <a:srgbClr val="FFFFFF"/>
                </a:solidFill>
              </a:uFill>
              <a:latin typeface="Arial"/>
            </a:endParaRPr>
          </a:p>
          <a:p>
            <a:r>
              <a:rPr lang="en-US" sz="3200" b="0" strike="noStrike" spc="-1" dirty="0">
                <a:solidFill>
                  <a:srgbClr val="000000"/>
                </a:solidFill>
                <a:uFill>
                  <a:solidFill>
                    <a:srgbClr val="FFFFFF"/>
                  </a:solidFill>
                </a:uFill>
                <a:latin typeface="Arial"/>
              </a:rPr>
              <a:t>Becomes: “Get value stored at 0002; Get the value stored at 0003; Store the sum in </a:t>
            </a:r>
            <a:r>
              <a:rPr lang="en-US" sz="3200" b="0" strike="noStrike" spc="-1" dirty="0" smtClean="0">
                <a:solidFill>
                  <a:srgbClr val="000000"/>
                </a:solidFill>
                <a:uFill>
                  <a:solidFill>
                    <a:srgbClr val="FFFFFF"/>
                  </a:solidFill>
                </a:uFill>
                <a:latin typeface="Arial"/>
              </a:rPr>
              <a:t>0001”</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CustomShape 1"/>
          <p:cNvSpPr/>
          <p:nvPr/>
        </p:nvSpPr>
        <p:spPr>
          <a:xfrm>
            <a:off x="504000" y="-56422"/>
            <a:ext cx="9070920" cy="984231"/>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dirty="0">
                <a:solidFill>
                  <a:srgbClr val="000000"/>
                </a:solidFill>
                <a:uFill>
                  <a:solidFill>
                    <a:srgbClr val="FFFFFF"/>
                  </a:solidFill>
                </a:uFill>
                <a:latin typeface="Arial"/>
              </a:rPr>
              <a:t>Static Binding: Memory Layout</a:t>
            </a:r>
            <a:endParaRPr lang="en-US" sz="1800" b="0" strike="noStrike" spc="-1" dirty="0">
              <a:solidFill>
                <a:srgbClr val="000000"/>
              </a:solidFill>
              <a:uFill>
                <a:solidFill>
                  <a:srgbClr val="FFFFFF"/>
                </a:solidFill>
              </a:uFill>
              <a:latin typeface="Arial"/>
            </a:endParaRPr>
          </a:p>
        </p:txBody>
      </p:sp>
      <p:sp>
        <p:nvSpPr>
          <p:cNvPr id="4" name="TextShape 2"/>
          <p:cNvSpPr txBox="1"/>
          <p:nvPr/>
        </p:nvSpPr>
        <p:spPr>
          <a:xfrm>
            <a:off x="0" y="6649984"/>
            <a:ext cx="10080625" cy="388620"/>
          </a:xfrm>
          <a:prstGeom prst="rect">
            <a:avLst/>
          </a:prstGeom>
          <a:noFill/>
          <a:ln>
            <a:noFill/>
          </a:ln>
        </p:spPr>
        <p:txBody>
          <a:bodyPr lIns="0" tIns="0" rIns="0" bIns="0"/>
          <a:lstStyle/>
          <a:p>
            <a:pPr>
              <a:buClr>
                <a:srgbClr val="000000"/>
              </a:buClr>
              <a:buSzPct val="45000"/>
            </a:pPr>
            <a:r>
              <a:rPr lang="en-US" b="1" spc="-1" dirty="0" smtClean="0">
                <a:solidFill>
                  <a:srgbClr val="000000"/>
                </a:solidFill>
                <a:uFill>
                  <a:solidFill>
                    <a:srgbClr val="FFFFFF"/>
                  </a:solidFill>
                </a:uFill>
              </a:rPr>
              <a:t>	Figure 7.4 </a:t>
            </a:r>
            <a:r>
              <a:rPr lang="en-US" spc="-1" dirty="0" smtClean="0">
                <a:solidFill>
                  <a:srgbClr val="000000"/>
                </a:solidFill>
                <a:uFill>
                  <a:solidFill>
                    <a:srgbClr val="FFFFFF"/>
                  </a:solidFill>
                </a:uFill>
              </a:rPr>
              <a:t> </a:t>
            </a:r>
            <a:r>
              <a:rPr lang="en-IN" dirty="0"/>
              <a:t>Static allocation of space for a program with three functions</a:t>
            </a:r>
            <a:endParaRPr lang="en-US" spc="-1" dirty="0">
              <a:solidFill>
                <a:srgbClr val="000000"/>
              </a:solidFill>
              <a:uFill>
                <a:solidFill>
                  <a:srgbClr val="FFFFFF"/>
                </a:solidFill>
              </a:u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6572" y="814786"/>
            <a:ext cx="5792651" cy="5799102"/>
          </a:xfrm>
          <a:prstGeom prst="rect">
            <a:avLst/>
          </a:prstGeom>
        </p:spPr>
      </p:pic>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rPr>
              <a:t>Static Binding and Recursions</a:t>
            </a:r>
            <a:endParaRPr lang="en-US" sz="1800" b="0" strike="noStrike" spc="-1">
              <a:solidFill>
                <a:srgbClr val="000000"/>
              </a:solidFill>
              <a:uFill>
                <a:solidFill>
                  <a:srgbClr val="FFFFFF"/>
                </a:solidFill>
              </a:uFill>
              <a:latin typeface="Arial"/>
            </a:endParaRPr>
          </a:p>
        </p:txBody>
      </p:sp>
      <p:sp>
        <p:nvSpPr>
          <p:cNvPr id="212"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64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rPr>
              <a:t>Each parameter and local variable has a single, fixed memory address associated with it</a:t>
            </a:r>
            <a:endParaRPr lang="en-US" sz="1800" b="0" strike="noStrike" spc="-1">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rPr>
              <a:t>A recursive function call would overwrite the variables of the previous call</a:t>
            </a:r>
            <a:endParaRPr lang="en-US" sz="1800" b="0" strike="noStrike" spc="-1">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rPr>
              <a:t>Each recursive call needs memory to store its own variables</a:t>
            </a:r>
            <a:endParaRPr lang="en-US" sz="1800" b="0" strike="noStrike" spc="-1">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rPr>
              <a:t>Therefore languages that only have static storage allocation cannot support recursion</a:t>
            </a:r>
            <a:endParaRPr lang="en-US" sz="1800" b="0" strike="noStrike" spc="-1">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rPr>
              <a:t>Dynamic Binding</a:t>
            </a:r>
            <a:endParaRPr lang="en-US" sz="1800" b="0" strike="noStrike" spc="-1">
              <a:solidFill>
                <a:srgbClr val="000000"/>
              </a:solidFill>
              <a:uFill>
                <a:solidFill>
                  <a:srgbClr val="FFFFFF"/>
                </a:solidFill>
              </a:uFill>
              <a:latin typeface="Arial"/>
            </a:endParaRPr>
          </a:p>
        </p:txBody>
      </p:sp>
      <p:sp>
        <p:nvSpPr>
          <p:cNvPr id="214"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640">
              <a:lnSpc>
                <a:spcPct val="100000"/>
              </a:lnSpc>
              <a:buClr>
                <a:srgbClr val="000000"/>
              </a:buClr>
              <a:buSzPct val="45000"/>
              <a:buFont typeface="Wingdings" charset="2"/>
              <a:buChar char=""/>
            </a:pPr>
            <a:r>
              <a:rPr lang="en-US" sz="3200" b="1" strike="noStrike" spc="-1" dirty="0">
                <a:solidFill>
                  <a:srgbClr val="000000"/>
                </a:solidFill>
                <a:uFill>
                  <a:solidFill>
                    <a:srgbClr val="FFFFFF"/>
                  </a:solidFill>
                </a:uFill>
                <a:latin typeface="Arial"/>
              </a:rPr>
              <a:t>Dynamic Storage Allocation:</a:t>
            </a:r>
            <a:r>
              <a:rPr lang="en-US" sz="3200" b="0" strike="noStrike" spc="-1" dirty="0">
                <a:solidFill>
                  <a:srgbClr val="000000"/>
                </a:solidFill>
                <a:uFill>
                  <a:solidFill>
                    <a:srgbClr val="FFFFFF"/>
                  </a:solidFill>
                </a:uFill>
                <a:latin typeface="Arial"/>
              </a:rPr>
              <a:t> Variable names are bound to memory addresses at run </a:t>
            </a:r>
            <a:r>
              <a:rPr lang="en-US" sz="3200" b="0" strike="noStrike" spc="-1" dirty="0" smtClean="0">
                <a:solidFill>
                  <a:srgbClr val="000000"/>
                </a:solidFill>
                <a:uFill>
                  <a:solidFill>
                    <a:srgbClr val="FFFFFF"/>
                  </a:solidFill>
                </a:uFill>
                <a:latin typeface="Arial"/>
              </a:rPr>
              <a:t>time.</a:t>
            </a:r>
            <a:endParaRPr lang="en-US" sz="1800" b="0" strike="noStrike" spc="-1" dirty="0" smtClean="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The compiler references variables by their offsets instead of by exact addresses. The correct addresses are calculated during execution using these offsets.</a:t>
            </a:r>
            <a:endParaRPr lang="en-US" sz="1800" b="0" strike="noStrike" spc="-1" dirty="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But where are the variables and parameters for functions stored?</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rPr>
              <a:t>Activation Records</a:t>
            </a:r>
            <a:endParaRPr lang="en-US" sz="1800" b="0" strike="noStrike" spc="-1">
              <a:solidFill>
                <a:srgbClr val="000000"/>
              </a:solidFill>
              <a:uFill>
                <a:solidFill>
                  <a:srgbClr val="FFFFFF"/>
                </a:solidFill>
              </a:uFill>
              <a:latin typeface="Arial"/>
            </a:endParaRPr>
          </a:p>
        </p:txBody>
      </p:sp>
      <p:sp>
        <p:nvSpPr>
          <p:cNvPr id="216"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Functions need to store local variables, parameters, and return address</a:t>
            </a:r>
            <a:endParaRPr lang="en-US" sz="1800" b="0" strike="noStrike" spc="-1" dirty="0">
              <a:solidFill>
                <a:srgbClr val="000000"/>
              </a:solidFill>
              <a:uFill>
                <a:solidFill>
                  <a:srgbClr val="FFFFFF"/>
                </a:solidFill>
              </a:uFill>
              <a:latin typeface="Arial"/>
            </a:endParaRPr>
          </a:p>
          <a:p>
            <a:pPr marL="864000" lvl="1" indent="-323640">
              <a:lnSpc>
                <a:spcPct val="100000"/>
              </a:lnSpc>
              <a:buClr>
                <a:srgbClr val="000000"/>
              </a:buClr>
              <a:buSzPct val="75000"/>
              <a:buFont typeface="Symbol"/>
              <a:buChar char=""/>
            </a:pPr>
            <a:r>
              <a:rPr lang="en-US" sz="2800" b="0" strike="noStrike" spc="-1" dirty="0">
                <a:solidFill>
                  <a:srgbClr val="000000"/>
                </a:solidFill>
                <a:uFill>
                  <a:solidFill>
                    <a:srgbClr val="FFFFFF"/>
                  </a:solidFill>
                </a:uFill>
                <a:latin typeface="Arial"/>
              </a:rPr>
              <a:t>Return address: Where execution returns to, once execution of the function has completed</a:t>
            </a:r>
            <a:endParaRPr lang="en-US" sz="1800" b="0" strike="noStrike" spc="-1" dirty="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1" strike="noStrike" spc="-1" dirty="0">
                <a:solidFill>
                  <a:srgbClr val="000000"/>
                </a:solidFill>
                <a:uFill>
                  <a:solidFill>
                    <a:srgbClr val="FFFFFF"/>
                  </a:solidFill>
                </a:uFill>
                <a:latin typeface="Arial"/>
              </a:rPr>
              <a:t>Activation Record:</a:t>
            </a:r>
            <a:r>
              <a:rPr lang="en-US" sz="3200" b="0" strike="noStrike" spc="-1" dirty="0">
                <a:solidFill>
                  <a:srgbClr val="000000"/>
                </a:solidFill>
                <a:uFill>
                  <a:solidFill>
                    <a:srgbClr val="FFFFFF"/>
                  </a:solidFill>
                </a:uFill>
                <a:latin typeface="Arial"/>
              </a:rPr>
              <a:t> A record used at run time to store information about a function, such as its variables, parameters, return </a:t>
            </a:r>
            <a:r>
              <a:rPr lang="en-US" sz="3200" b="0" strike="noStrike" spc="-1" dirty="0" smtClean="0">
                <a:solidFill>
                  <a:srgbClr val="000000"/>
                </a:solidFill>
                <a:uFill>
                  <a:solidFill>
                    <a:srgbClr val="FFFFFF"/>
                  </a:solidFill>
                </a:uFill>
                <a:latin typeface="Arial"/>
              </a:rPr>
              <a:t>address, </a:t>
            </a:r>
            <a:r>
              <a:rPr lang="en-US" sz="3200" b="0" strike="noStrike" spc="-1" dirty="0">
                <a:solidFill>
                  <a:srgbClr val="000000"/>
                </a:solidFill>
                <a:uFill>
                  <a:solidFill>
                    <a:srgbClr val="FFFFFF"/>
                  </a:solidFill>
                </a:uFill>
                <a:latin typeface="Arial"/>
              </a:rPr>
              <a:t>and register values</a:t>
            </a:r>
            <a:endParaRPr lang="en-US" sz="1800" b="0" strike="noStrike" spc="-1" dirty="0">
              <a:solidFill>
                <a:srgbClr val="000000"/>
              </a:solidFill>
              <a:uFill>
                <a:solidFill>
                  <a:srgbClr val="FFFFFF"/>
                </a:solidFill>
              </a:uFill>
              <a:latin typeface="Arial"/>
            </a:endParaRPr>
          </a:p>
          <a:p>
            <a:pPr marL="864000" lvl="1" indent="-323640">
              <a:lnSpc>
                <a:spcPct val="100000"/>
              </a:lnSpc>
              <a:buClr>
                <a:srgbClr val="000000"/>
              </a:buClr>
              <a:buSzPct val="75000"/>
              <a:buFont typeface="Symbol"/>
              <a:buChar char=""/>
            </a:pPr>
            <a:r>
              <a:rPr lang="en-US" sz="2800" b="0" strike="noStrike" spc="-1" dirty="0">
                <a:solidFill>
                  <a:srgbClr val="000000"/>
                </a:solidFill>
                <a:uFill>
                  <a:solidFill>
                    <a:srgbClr val="FFFFFF"/>
                  </a:solidFill>
                </a:uFill>
                <a:latin typeface="Arial"/>
              </a:rPr>
              <a:t>Also called a </a:t>
            </a:r>
            <a:r>
              <a:rPr lang="en-US" sz="2800" b="1" strike="noStrike" spc="-1" dirty="0">
                <a:solidFill>
                  <a:srgbClr val="000000"/>
                </a:solidFill>
                <a:uFill>
                  <a:solidFill>
                    <a:srgbClr val="FFFFFF"/>
                  </a:solidFill>
                </a:uFill>
                <a:latin typeface="Arial"/>
              </a:rPr>
              <a:t>stack frame</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dirty="0">
                <a:solidFill>
                  <a:srgbClr val="000000"/>
                </a:solidFill>
                <a:uFill>
                  <a:solidFill>
                    <a:srgbClr val="FFFFFF"/>
                  </a:solidFill>
                </a:uFill>
                <a:latin typeface="Arial"/>
              </a:rPr>
              <a:t>Activation </a:t>
            </a:r>
            <a:r>
              <a:rPr lang="en-US" sz="4400" b="0" strike="noStrike" spc="-1" dirty="0" smtClean="0">
                <a:solidFill>
                  <a:srgbClr val="000000"/>
                </a:solidFill>
                <a:uFill>
                  <a:solidFill>
                    <a:srgbClr val="FFFFFF"/>
                  </a:solidFill>
                </a:uFill>
                <a:latin typeface="Arial"/>
              </a:rPr>
              <a:t>Records (cont.)</a:t>
            </a:r>
            <a:endParaRPr lang="en-US" sz="1800" b="0" strike="noStrike" spc="-1" dirty="0">
              <a:solidFill>
                <a:srgbClr val="000000"/>
              </a:solidFill>
              <a:uFill>
                <a:solidFill>
                  <a:srgbClr val="FFFFFF"/>
                </a:solidFill>
              </a:uFill>
              <a:latin typeface="Arial"/>
            </a:endParaRPr>
          </a:p>
        </p:txBody>
      </p:sp>
      <p:sp>
        <p:nvSpPr>
          <p:cNvPr id="218"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Every function call creates a new activation record</a:t>
            </a:r>
            <a:endParaRPr lang="en-US" sz="1800" b="0" strike="noStrike" spc="-1" dirty="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The activation record is deleted once the call is complete</a:t>
            </a:r>
            <a:endParaRPr lang="en-US" sz="1800" b="0" strike="noStrike" spc="-1" dirty="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The code for creating and releasing activation records is inserted automatically by the compiler</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rPr>
              <a:t>Example: Factorial Stack Frame</a:t>
            </a:r>
            <a:endParaRPr lang="en-US" sz="1800" b="0" strike="noStrike" spc="-1">
              <a:solidFill>
                <a:srgbClr val="000000"/>
              </a:solidFill>
              <a:uFill>
                <a:solidFill>
                  <a:srgbClr val="FFFFFF"/>
                </a:solidFill>
              </a:uFill>
              <a:latin typeface="Arial"/>
            </a:endParaRPr>
          </a:p>
        </p:txBody>
      </p:sp>
      <p:sp>
        <p:nvSpPr>
          <p:cNvPr id="4" name="TextShape 2"/>
          <p:cNvSpPr txBox="1"/>
          <p:nvPr/>
        </p:nvSpPr>
        <p:spPr>
          <a:xfrm>
            <a:off x="0" y="6649984"/>
            <a:ext cx="10080625" cy="388620"/>
          </a:xfrm>
          <a:prstGeom prst="rect">
            <a:avLst/>
          </a:prstGeom>
          <a:noFill/>
          <a:ln>
            <a:noFill/>
          </a:ln>
        </p:spPr>
        <p:txBody>
          <a:bodyPr lIns="0" tIns="0" rIns="0" bIns="0"/>
          <a:lstStyle/>
          <a:p>
            <a:pPr>
              <a:buClr>
                <a:srgbClr val="000000"/>
              </a:buClr>
              <a:buSzPct val="45000"/>
            </a:pPr>
            <a:r>
              <a:rPr lang="en-US" b="1" spc="-1" dirty="0" smtClean="0">
                <a:solidFill>
                  <a:srgbClr val="000000"/>
                </a:solidFill>
                <a:uFill>
                  <a:solidFill>
                    <a:srgbClr val="FFFFFF"/>
                  </a:solidFill>
                </a:uFill>
              </a:rPr>
              <a:t>	Table 7.2 </a:t>
            </a:r>
            <a:r>
              <a:rPr lang="en-US" spc="-1" dirty="0" smtClean="0">
                <a:solidFill>
                  <a:srgbClr val="000000"/>
                </a:solidFill>
                <a:uFill>
                  <a:solidFill>
                    <a:srgbClr val="FFFFFF"/>
                  </a:solidFill>
                </a:uFill>
              </a:rPr>
              <a:t> </a:t>
            </a:r>
            <a:r>
              <a:rPr lang="en-IN" dirty="0"/>
              <a:t>Run-time Version of Factorial (Simplified)</a:t>
            </a:r>
            <a:endParaRPr lang="en-US" spc="-1" dirty="0">
              <a:solidFill>
                <a:srgbClr val="000000"/>
              </a:solidFill>
              <a:uFill>
                <a:solidFill>
                  <a:srgbClr val="FFFFFF"/>
                </a:solidFill>
              </a:u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1492" y="1345702"/>
            <a:ext cx="8377640" cy="5236751"/>
          </a:xfrm>
          <a:prstGeom prst="rect">
            <a:avLst/>
          </a:prstGeom>
        </p:spPr>
      </p:pic>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rPr>
              <a:t>Run-Time Stack</a:t>
            </a:r>
            <a:endParaRPr lang="en-US" sz="1800" b="0" strike="noStrike" spc="-1">
              <a:solidFill>
                <a:srgbClr val="000000"/>
              </a:solidFill>
              <a:uFill>
                <a:solidFill>
                  <a:srgbClr val="FFFFFF"/>
                </a:solidFill>
              </a:uFill>
              <a:latin typeface="Arial"/>
            </a:endParaRPr>
          </a:p>
        </p:txBody>
      </p:sp>
      <p:sp>
        <p:nvSpPr>
          <p:cNvPr id="222"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64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rPr>
              <a:t>Activation records are pushed onto the </a:t>
            </a:r>
            <a:r>
              <a:rPr lang="en-US" sz="3200" b="1" strike="noStrike" spc="-1">
                <a:solidFill>
                  <a:srgbClr val="000000"/>
                </a:solidFill>
                <a:uFill>
                  <a:solidFill>
                    <a:srgbClr val="FFFFFF"/>
                  </a:solidFill>
                </a:uFill>
                <a:latin typeface="Arial"/>
              </a:rPr>
              <a:t>run-time stack</a:t>
            </a:r>
            <a:r>
              <a:rPr lang="en-US" sz="3200" b="0" strike="noStrike" spc="-1">
                <a:solidFill>
                  <a:srgbClr val="000000"/>
                </a:solidFill>
                <a:uFill>
                  <a:solidFill>
                    <a:srgbClr val="FFFFFF"/>
                  </a:solidFill>
                </a:uFill>
                <a:latin typeface="Arial"/>
              </a:rPr>
              <a:t> when the function is called</a:t>
            </a:r>
            <a:endParaRPr lang="en-US" sz="1800" b="0" strike="noStrike" spc="-1">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rPr>
              <a:t>Each call pushes another record onto the stack</a:t>
            </a:r>
            <a:endParaRPr lang="en-US" sz="1800" b="0" strike="noStrike" spc="-1">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rPr>
              <a:t>This gives recursive function calls their own memory for storing variables</a:t>
            </a:r>
            <a:endParaRPr lang="en-US" sz="1800" b="0" strike="noStrike" spc="-1">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rPr>
              <a:t>It also clearly shows the order of recursive functions calls</a:t>
            </a:r>
            <a:endParaRPr lang="en-US" sz="1800" b="0" strike="noStrike" spc="-1">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rPr>
              <a:t>Run-Time Stack of Factorial(4)</a:t>
            </a:r>
            <a:endParaRPr lang="en-US" sz="1800" b="0" strike="noStrike" spc="-1">
              <a:solidFill>
                <a:srgbClr val="000000"/>
              </a:solidFill>
              <a:uFill>
                <a:solidFill>
                  <a:srgbClr val="FFFFFF"/>
                </a:solidFill>
              </a:uFill>
              <a:latin typeface="Arial"/>
            </a:endParaRPr>
          </a:p>
        </p:txBody>
      </p:sp>
      <p:sp>
        <p:nvSpPr>
          <p:cNvPr id="224"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640">
              <a:lnSpc>
                <a:spcPct val="100000"/>
              </a:lnSpc>
              <a:buClr>
                <a:srgbClr val="000000"/>
              </a:buClr>
              <a:buSzPct val="45000"/>
              <a:buFont typeface="Wingdings" charset="2"/>
              <a:buChar char=""/>
            </a:pPr>
            <a:r>
              <a:rPr lang="en-US" sz="3200" b="0" strike="noStrike" spc="-1" dirty="0" smtClean="0">
                <a:solidFill>
                  <a:srgbClr val="000000"/>
                </a:solidFill>
                <a:uFill>
                  <a:solidFill>
                    <a:srgbClr val="FFFFFF"/>
                  </a:solidFill>
                </a:uFill>
                <a:latin typeface="Arial"/>
              </a:rPr>
              <a:t>Let’s </a:t>
            </a:r>
            <a:r>
              <a:rPr lang="en-US" sz="3200" b="0" strike="noStrike" spc="-1" dirty="0">
                <a:solidFill>
                  <a:srgbClr val="000000"/>
                </a:solidFill>
                <a:uFill>
                  <a:solidFill>
                    <a:srgbClr val="FFFFFF"/>
                  </a:solidFill>
                </a:uFill>
                <a:latin typeface="Arial"/>
              </a:rPr>
              <a:t>walk through an example using Factorial</a:t>
            </a:r>
            <a:endParaRPr lang="en-US" sz="1800" b="0" strike="noStrike" spc="-1" dirty="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At address 5200 is the statement:</a:t>
            </a:r>
            <a:endParaRPr lang="en-US" sz="1800" b="0" strike="noStrike" spc="-1" dirty="0">
              <a:solidFill>
                <a:srgbClr val="000000"/>
              </a:solidFill>
              <a:uFill>
                <a:solidFill>
                  <a:srgbClr val="FFFFFF"/>
                </a:solidFill>
              </a:uFill>
              <a:latin typeface="Arial"/>
            </a:endParaRPr>
          </a:p>
          <a:p>
            <a:pPr>
              <a:lnSpc>
                <a:spcPct val="100000"/>
              </a:lnSpc>
            </a:pPr>
            <a:r>
              <a:rPr lang="en-US" sz="2800" b="1" strike="noStrike" spc="-1" dirty="0">
                <a:solidFill>
                  <a:srgbClr val="000000"/>
                </a:solidFill>
                <a:uFill>
                  <a:solidFill>
                    <a:srgbClr val="FFFFFF"/>
                  </a:solidFill>
                </a:uFill>
                <a:latin typeface="Courier New"/>
              </a:rPr>
              <a:t>	answer = Factorial(4);</a:t>
            </a:r>
            <a:endParaRPr lang="en-US" sz="1800" b="0" strike="noStrike" spc="-1" dirty="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This starts the recursive algorithm by pushing an activation record onto the stack</a:t>
            </a:r>
            <a:endParaRPr lang="en-US" sz="1800" b="0" strike="noStrike" spc="-1" dirty="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The recursive call inside Factorial is at address 1010:</a:t>
            </a:r>
            <a:endParaRPr lang="en-US" sz="1800" b="0" strike="noStrike" spc="-1" dirty="0">
              <a:solidFill>
                <a:srgbClr val="000000"/>
              </a:solidFill>
              <a:uFill>
                <a:solidFill>
                  <a:srgbClr val="FFFFFF"/>
                </a:solidFill>
              </a:uFill>
              <a:latin typeface="Arial"/>
            </a:endParaRPr>
          </a:p>
          <a:p>
            <a:pPr>
              <a:lnSpc>
                <a:spcPct val="100000"/>
              </a:lnSpc>
            </a:pPr>
            <a:r>
              <a:rPr lang="en-US" sz="2800" b="1" strike="noStrike" spc="-1" dirty="0">
                <a:solidFill>
                  <a:srgbClr val="000000"/>
                </a:solidFill>
                <a:uFill>
                  <a:solidFill>
                    <a:srgbClr val="FFFFFF"/>
                  </a:solidFill>
                </a:uFill>
                <a:latin typeface="Courier New"/>
              </a:rPr>
              <a:t>	return number * Factorial(number-1);</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dirty="0">
                <a:solidFill>
                  <a:srgbClr val="000000"/>
                </a:solidFill>
                <a:uFill>
                  <a:solidFill>
                    <a:srgbClr val="FFFFFF"/>
                  </a:solidFill>
                </a:uFill>
                <a:latin typeface="Arial"/>
              </a:rPr>
              <a:t>Run-Time Stack of </a:t>
            </a:r>
            <a:r>
              <a:rPr lang="en-US" sz="4400" b="0" strike="noStrike" spc="-1" dirty="0" smtClean="0">
                <a:solidFill>
                  <a:srgbClr val="000000"/>
                </a:solidFill>
                <a:uFill>
                  <a:solidFill>
                    <a:srgbClr val="FFFFFF"/>
                  </a:solidFill>
                </a:uFill>
                <a:latin typeface="Arial"/>
              </a:rPr>
              <a:t/>
            </a:r>
            <a:br>
              <a:rPr lang="en-US" sz="4400" b="0" strike="noStrike" spc="-1" dirty="0" smtClean="0">
                <a:solidFill>
                  <a:srgbClr val="000000"/>
                </a:solidFill>
                <a:uFill>
                  <a:solidFill>
                    <a:srgbClr val="FFFFFF"/>
                  </a:solidFill>
                </a:uFill>
                <a:latin typeface="Arial"/>
              </a:rPr>
            </a:br>
            <a:r>
              <a:rPr lang="en-US" sz="4400" b="0" strike="noStrike" spc="-1" dirty="0" smtClean="0">
                <a:solidFill>
                  <a:srgbClr val="000000"/>
                </a:solidFill>
                <a:uFill>
                  <a:solidFill>
                    <a:srgbClr val="FFFFFF"/>
                  </a:solidFill>
                </a:uFill>
                <a:latin typeface="Arial"/>
              </a:rPr>
              <a:t>Factorial(4) (cont.)</a:t>
            </a:r>
            <a:endParaRPr lang="en-US" sz="1800" b="0" strike="noStrike" spc="-1" dirty="0">
              <a:solidFill>
                <a:srgbClr val="000000"/>
              </a:solidFill>
              <a:uFill>
                <a:solidFill>
                  <a:srgbClr val="FFFFFF"/>
                </a:solidFill>
              </a:uFill>
              <a:latin typeface="Arial"/>
            </a:endParaRPr>
          </a:p>
        </p:txBody>
      </p:sp>
      <p:graphicFrame>
        <p:nvGraphicFramePr>
          <p:cNvPr id="226" name="Table 2"/>
          <p:cNvGraphicFramePr/>
          <p:nvPr/>
        </p:nvGraphicFramePr>
        <p:xfrm>
          <a:off x="504000" y="1769040"/>
          <a:ext cx="9071280" cy="2446560"/>
        </p:xfrm>
        <a:graphic>
          <a:graphicData uri="http://schemas.openxmlformats.org/drawingml/2006/table">
            <a:tbl>
              <a:tblPr/>
              <a:tblGrid>
                <a:gridCol w="2267640"/>
                <a:gridCol w="2267640"/>
                <a:gridCol w="2267640"/>
                <a:gridCol w="2268360"/>
              </a:tblGrid>
              <a:tr h="348120">
                <a:tc>
                  <a:txBody>
                    <a:bodyPr/>
                    <a:lstStyle/>
                    <a:p>
                      <a:r>
                        <a:rPr lang="en-US" sz="1800" b="0" strike="noStrike" spc="-1">
                          <a:solidFill>
                            <a:srgbClr val="000000"/>
                          </a:solidFill>
                          <a:uFill>
                            <a:solidFill>
                              <a:srgbClr val="FFFFFF"/>
                            </a:solidFill>
                          </a:uFill>
                          <a:latin typeface="Arial"/>
                        </a:rPr>
                        <a:t>Call Number</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en-US" sz="1800" b="0" strike="noStrike" spc="-1" dirty="0">
                          <a:solidFill>
                            <a:srgbClr val="000000"/>
                          </a:solidFill>
                          <a:uFill>
                            <a:solidFill>
                              <a:srgbClr val="FFFFFF"/>
                            </a:solidFill>
                          </a:uFill>
                          <a:latin typeface="Arial"/>
                        </a:rPr>
                        <a:t>N</a:t>
                      </a:r>
                      <a:r>
                        <a:rPr lang="en-US" sz="1800" b="0" strike="noStrike" spc="-1" dirty="0" smtClean="0">
                          <a:solidFill>
                            <a:srgbClr val="000000"/>
                          </a:solidFill>
                          <a:uFill>
                            <a:solidFill>
                              <a:srgbClr val="FFFFFF"/>
                            </a:solidFill>
                          </a:uFill>
                          <a:latin typeface="Arial"/>
                        </a:rPr>
                        <a:t>umber</a:t>
                      </a:r>
                      <a:endParaRPr lang="en-US" sz="1800" b="0" strike="noStrike" spc="-1" dirty="0">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en-US" sz="1800" b="0" strike="noStrike" spc="-1" dirty="0">
                          <a:solidFill>
                            <a:srgbClr val="000000"/>
                          </a:solidFill>
                          <a:uFill>
                            <a:solidFill>
                              <a:srgbClr val="FFFFFF"/>
                            </a:solidFill>
                          </a:uFill>
                          <a:latin typeface="Arial"/>
                        </a:rPr>
                        <a:t>R</a:t>
                      </a:r>
                      <a:r>
                        <a:rPr lang="en-US" sz="1800" b="0" strike="noStrike" spc="-1" dirty="0" smtClean="0">
                          <a:solidFill>
                            <a:srgbClr val="000000"/>
                          </a:solidFill>
                          <a:uFill>
                            <a:solidFill>
                              <a:srgbClr val="FFFFFF"/>
                            </a:solidFill>
                          </a:uFill>
                          <a:latin typeface="Arial"/>
                        </a:rPr>
                        <a:t>esult</a:t>
                      </a:r>
                      <a:endParaRPr lang="en-US" sz="1800" b="0" strike="noStrike" spc="-1" dirty="0">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en-US" sz="1800" b="0" strike="noStrike" spc="-1">
                          <a:solidFill>
                            <a:srgbClr val="000000"/>
                          </a:solidFill>
                          <a:uFill>
                            <a:solidFill>
                              <a:srgbClr val="FFFFFF"/>
                            </a:solidFill>
                          </a:uFill>
                          <a:latin typeface="Arial"/>
                        </a:rPr>
                        <a:t>Return address</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348120">
                <a:tc>
                  <a:txBody>
                    <a:bodyPr/>
                    <a:lstStyle/>
                    <a:p>
                      <a:r>
                        <a:rPr lang="en-US" sz="1800" b="0" strike="noStrike" spc="-1">
                          <a:solidFill>
                            <a:srgbClr val="000000"/>
                          </a:solidFill>
                          <a:uFill>
                            <a:solidFill>
                              <a:srgbClr val="FFFFFF"/>
                            </a:solidFill>
                          </a:uFill>
                          <a:latin typeface="Arial"/>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dirty="0">
                          <a:solidFill>
                            <a:srgbClr val="000000"/>
                          </a:solidFill>
                          <a:uFill>
                            <a:solidFill>
                              <a:srgbClr val="FFFFFF"/>
                            </a:solidFill>
                          </a:uFill>
                          <a:latin typeface="Arial"/>
                        </a:rPr>
                        <a:t>4</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5200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428760">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428760">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428760">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428760">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bl>
          </a:graphicData>
        </a:graphic>
      </p:graphicFrame>
      <p:sp>
        <p:nvSpPr>
          <p:cNvPr id="227" name="CustomShape 3"/>
          <p:cNvSpPr/>
          <p:nvPr/>
        </p:nvSpPr>
        <p:spPr>
          <a:xfrm>
            <a:off x="504000" y="4421880"/>
            <a:ext cx="9070920" cy="1364323"/>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a:lnSpc>
                <a:spcPct val="100000"/>
              </a:lnSpc>
            </a:pPr>
            <a:r>
              <a:rPr lang="en-US" sz="3200" b="0" strike="noStrike" spc="-1" dirty="0">
                <a:solidFill>
                  <a:srgbClr val="000000"/>
                </a:solidFill>
                <a:uFill>
                  <a:solidFill>
                    <a:srgbClr val="FFFFFF"/>
                  </a:solidFill>
                </a:uFill>
                <a:latin typeface="Arial"/>
              </a:rPr>
              <a:t>The activation record contains the parameter (4), the result (unknown</a:t>
            </a:r>
            <a:r>
              <a:rPr lang="en-US" sz="3200" b="0" strike="noStrike" spc="-1" dirty="0" smtClean="0">
                <a:solidFill>
                  <a:srgbClr val="000000"/>
                </a:solidFill>
                <a:uFill>
                  <a:solidFill>
                    <a:srgbClr val="FFFFFF"/>
                  </a:solidFill>
                </a:uFill>
                <a:latin typeface="Arial"/>
              </a:rPr>
              <a:t>), </a:t>
            </a:r>
            <a:r>
              <a:rPr lang="en-US" sz="3200" b="0" strike="noStrike" spc="-1" dirty="0">
                <a:solidFill>
                  <a:srgbClr val="000000"/>
                </a:solidFill>
                <a:uFill>
                  <a:solidFill>
                    <a:srgbClr val="FFFFFF"/>
                  </a:solidFill>
                </a:uFill>
                <a:latin typeface="Arial"/>
              </a:rPr>
              <a:t>and the return address (5200)</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dirty="0">
                <a:solidFill>
                  <a:srgbClr val="000000"/>
                </a:solidFill>
                <a:uFill>
                  <a:solidFill>
                    <a:srgbClr val="FFFFFF"/>
                  </a:solidFill>
                </a:uFill>
                <a:latin typeface="Arial"/>
              </a:rPr>
              <a:t>Run-Time Stack of </a:t>
            </a:r>
            <a:r>
              <a:rPr lang="en-US" sz="4400" b="0" strike="noStrike" spc="-1" dirty="0" smtClean="0">
                <a:solidFill>
                  <a:srgbClr val="000000"/>
                </a:solidFill>
                <a:uFill>
                  <a:solidFill>
                    <a:srgbClr val="FFFFFF"/>
                  </a:solidFill>
                </a:uFill>
                <a:latin typeface="Arial"/>
              </a:rPr>
              <a:t/>
            </a:r>
            <a:br>
              <a:rPr lang="en-US" sz="4400" b="0" strike="noStrike" spc="-1" dirty="0" smtClean="0">
                <a:solidFill>
                  <a:srgbClr val="000000"/>
                </a:solidFill>
                <a:uFill>
                  <a:solidFill>
                    <a:srgbClr val="FFFFFF"/>
                  </a:solidFill>
                </a:uFill>
                <a:latin typeface="Arial"/>
              </a:rPr>
            </a:br>
            <a:r>
              <a:rPr lang="en-US" sz="4400" b="0" strike="noStrike" spc="-1" dirty="0" smtClean="0">
                <a:solidFill>
                  <a:srgbClr val="000000"/>
                </a:solidFill>
                <a:uFill>
                  <a:solidFill>
                    <a:srgbClr val="FFFFFF"/>
                  </a:solidFill>
                </a:uFill>
                <a:latin typeface="Arial"/>
              </a:rPr>
              <a:t>Factorial(4) (cont.)</a:t>
            </a:r>
            <a:endParaRPr lang="en-US" sz="1800" b="0" strike="noStrike" spc="-1" dirty="0">
              <a:solidFill>
                <a:srgbClr val="000000"/>
              </a:solidFill>
              <a:uFill>
                <a:solidFill>
                  <a:srgbClr val="FFFFFF"/>
                </a:solidFill>
              </a:uFill>
              <a:latin typeface="Arial"/>
            </a:endParaRPr>
          </a:p>
        </p:txBody>
      </p:sp>
      <p:graphicFrame>
        <p:nvGraphicFramePr>
          <p:cNvPr id="229" name="Table 2"/>
          <p:cNvGraphicFramePr/>
          <p:nvPr/>
        </p:nvGraphicFramePr>
        <p:xfrm>
          <a:off x="504000" y="1769040"/>
          <a:ext cx="9071280" cy="2383560"/>
        </p:xfrm>
        <a:graphic>
          <a:graphicData uri="http://schemas.openxmlformats.org/drawingml/2006/table">
            <a:tbl>
              <a:tblPr/>
              <a:tblGrid>
                <a:gridCol w="2267640"/>
                <a:gridCol w="2267640"/>
                <a:gridCol w="2267640"/>
                <a:gridCol w="2268360"/>
              </a:tblGrid>
              <a:tr h="348120">
                <a:tc>
                  <a:txBody>
                    <a:bodyPr/>
                    <a:lstStyle/>
                    <a:p>
                      <a:r>
                        <a:rPr lang="en-US" sz="1800" b="0" strike="noStrike" spc="-1" dirty="0">
                          <a:solidFill>
                            <a:srgbClr val="000000"/>
                          </a:solidFill>
                          <a:uFill>
                            <a:solidFill>
                              <a:srgbClr val="FFFFFF"/>
                            </a:solidFill>
                          </a:uFill>
                          <a:latin typeface="Arial"/>
                        </a:rPr>
                        <a:t>Call Number</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en-US" sz="1800" b="0" strike="noStrike" spc="-1" dirty="0">
                          <a:solidFill>
                            <a:srgbClr val="000000"/>
                          </a:solidFill>
                          <a:uFill>
                            <a:solidFill>
                              <a:srgbClr val="FFFFFF"/>
                            </a:solidFill>
                          </a:uFill>
                          <a:latin typeface="Arial"/>
                        </a:rPr>
                        <a:t>N</a:t>
                      </a:r>
                      <a:r>
                        <a:rPr lang="en-US" sz="1800" b="0" strike="noStrike" spc="-1" dirty="0" smtClean="0">
                          <a:solidFill>
                            <a:srgbClr val="000000"/>
                          </a:solidFill>
                          <a:uFill>
                            <a:solidFill>
                              <a:srgbClr val="FFFFFF"/>
                            </a:solidFill>
                          </a:uFill>
                          <a:latin typeface="Arial"/>
                        </a:rPr>
                        <a:t>umber</a:t>
                      </a:r>
                      <a:endParaRPr lang="en-US" sz="1800" b="0" strike="noStrike" spc="-1" dirty="0">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en-US" sz="1800" b="0" strike="noStrike" spc="-1" dirty="0">
                          <a:solidFill>
                            <a:srgbClr val="000000"/>
                          </a:solidFill>
                          <a:uFill>
                            <a:solidFill>
                              <a:srgbClr val="FFFFFF"/>
                            </a:solidFill>
                          </a:uFill>
                          <a:latin typeface="Arial"/>
                        </a:rPr>
                        <a:t>R</a:t>
                      </a:r>
                      <a:r>
                        <a:rPr lang="en-US" sz="1800" b="0" strike="noStrike" spc="-1" dirty="0" smtClean="0">
                          <a:solidFill>
                            <a:srgbClr val="000000"/>
                          </a:solidFill>
                          <a:uFill>
                            <a:solidFill>
                              <a:srgbClr val="FFFFFF"/>
                            </a:solidFill>
                          </a:uFill>
                          <a:latin typeface="Arial"/>
                        </a:rPr>
                        <a:t>esult</a:t>
                      </a:r>
                      <a:endParaRPr lang="en-US" sz="1800" b="0" strike="noStrike" spc="-1" dirty="0">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en-US" sz="1800" b="0" strike="noStrike" spc="-1">
                          <a:solidFill>
                            <a:srgbClr val="000000"/>
                          </a:solidFill>
                          <a:uFill>
                            <a:solidFill>
                              <a:srgbClr val="FFFFFF"/>
                            </a:solidFill>
                          </a:uFill>
                          <a:latin typeface="Arial"/>
                        </a:rPr>
                        <a:t>Return address</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348120">
                <a:tc>
                  <a:txBody>
                    <a:bodyPr/>
                    <a:lstStyle/>
                    <a:p>
                      <a:r>
                        <a:rPr lang="en-US" sz="1800" b="0" strike="noStrike" spc="-1">
                          <a:solidFill>
                            <a:srgbClr val="000000"/>
                          </a:solidFill>
                          <a:uFill>
                            <a:solidFill>
                              <a:srgbClr val="FFFFFF"/>
                            </a:solidFill>
                          </a:uFill>
                          <a:latin typeface="Arial"/>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4</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5200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48120">
                <a:tc>
                  <a:txBody>
                    <a:bodyPr/>
                    <a:lstStyle/>
                    <a:p>
                      <a:r>
                        <a:rPr lang="en-US" sz="1800" b="0" strike="noStrike" spc="-1">
                          <a:solidFill>
                            <a:srgbClr val="000000"/>
                          </a:solidFill>
                          <a:uFill>
                            <a:solidFill>
                              <a:srgbClr val="FFFFFF"/>
                            </a:solidFill>
                          </a:uFill>
                          <a:latin typeface="Arial"/>
                        </a:rPr>
                        <a:t>2</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800" b="0" strike="noStrike" spc="-1">
                          <a:solidFill>
                            <a:srgbClr val="000000"/>
                          </a:solidFill>
                          <a:uFill>
                            <a:solidFill>
                              <a:srgbClr val="FFFFFF"/>
                            </a:solidFill>
                          </a:uFill>
                          <a:latin typeface="Arial"/>
                        </a:rPr>
                        <a:t>3</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800" b="0" strike="noStrike" spc="-1">
                          <a:solidFill>
                            <a:srgbClr val="000000"/>
                          </a:solidFill>
                          <a:uFill>
                            <a:solidFill>
                              <a:srgbClr val="FFFFFF"/>
                            </a:solidFill>
                          </a:uFill>
                          <a:latin typeface="Arial"/>
                        </a:rPr>
                        <a:t>???</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800" b="0" strike="noStrike" spc="-1">
                          <a:solidFill>
                            <a:srgbClr val="000000"/>
                          </a:solidFill>
                          <a:uFill>
                            <a:solidFill>
                              <a:srgbClr val="FFFFFF"/>
                            </a:solidFill>
                          </a:uFill>
                          <a:latin typeface="Arial"/>
                        </a:rPr>
                        <a:t>1010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428760">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428760">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428760">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bl>
          </a:graphicData>
        </a:graphic>
      </p:graphicFrame>
      <p:sp>
        <p:nvSpPr>
          <p:cNvPr id="230" name="CustomShape 3"/>
          <p:cNvSpPr/>
          <p:nvPr/>
        </p:nvSpPr>
        <p:spPr>
          <a:xfrm>
            <a:off x="504000" y="4323704"/>
            <a:ext cx="9070920" cy="20905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The recursive calls continue, since the base case </a:t>
            </a:r>
            <a:r>
              <a:rPr lang="en-US" sz="3200" b="0" strike="noStrike" spc="-1" dirty="0" smtClean="0">
                <a:solidFill>
                  <a:srgbClr val="000000"/>
                </a:solidFill>
                <a:uFill>
                  <a:solidFill>
                    <a:srgbClr val="FFFFFF"/>
                  </a:solidFill>
                </a:uFill>
                <a:latin typeface="Arial"/>
              </a:rPr>
              <a:t>hasn’t </a:t>
            </a:r>
            <a:r>
              <a:rPr lang="en-US" sz="3200" b="0" strike="noStrike" spc="-1" dirty="0">
                <a:solidFill>
                  <a:srgbClr val="000000"/>
                </a:solidFill>
                <a:uFill>
                  <a:solidFill>
                    <a:srgbClr val="FFFFFF"/>
                  </a:solidFill>
                </a:uFill>
                <a:latin typeface="Arial"/>
              </a:rPr>
              <a:t>been reached (“number == 0”)</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dirty="0">
                <a:solidFill>
                  <a:srgbClr val="000000"/>
                </a:solidFill>
                <a:uFill>
                  <a:solidFill>
                    <a:srgbClr val="FFFFFF"/>
                  </a:solidFill>
                </a:uFill>
                <a:latin typeface="Arial"/>
              </a:rPr>
              <a:t>Run-Time Stack of </a:t>
            </a:r>
            <a:r>
              <a:rPr lang="en-US" sz="4400" b="0" strike="noStrike" spc="-1" dirty="0" smtClean="0">
                <a:solidFill>
                  <a:srgbClr val="000000"/>
                </a:solidFill>
                <a:uFill>
                  <a:solidFill>
                    <a:srgbClr val="FFFFFF"/>
                  </a:solidFill>
                </a:uFill>
                <a:latin typeface="Arial"/>
              </a:rPr>
              <a:t/>
            </a:r>
            <a:br>
              <a:rPr lang="en-US" sz="4400" b="0" strike="noStrike" spc="-1" dirty="0" smtClean="0">
                <a:solidFill>
                  <a:srgbClr val="000000"/>
                </a:solidFill>
                <a:uFill>
                  <a:solidFill>
                    <a:srgbClr val="FFFFFF"/>
                  </a:solidFill>
                </a:uFill>
                <a:latin typeface="Arial"/>
              </a:rPr>
            </a:br>
            <a:r>
              <a:rPr lang="en-US" sz="4400" b="0" strike="noStrike" spc="-1" dirty="0" smtClean="0">
                <a:solidFill>
                  <a:srgbClr val="000000"/>
                </a:solidFill>
                <a:uFill>
                  <a:solidFill>
                    <a:srgbClr val="FFFFFF"/>
                  </a:solidFill>
                </a:uFill>
                <a:latin typeface="Arial"/>
              </a:rPr>
              <a:t>Factorial(4) (cont.)</a:t>
            </a:r>
            <a:endParaRPr lang="en-US" sz="1800" b="0" strike="noStrike" spc="-1" dirty="0">
              <a:solidFill>
                <a:srgbClr val="000000"/>
              </a:solidFill>
              <a:uFill>
                <a:solidFill>
                  <a:srgbClr val="FFFFFF"/>
                </a:solidFill>
              </a:uFill>
              <a:latin typeface="Arial"/>
            </a:endParaRPr>
          </a:p>
        </p:txBody>
      </p:sp>
      <p:graphicFrame>
        <p:nvGraphicFramePr>
          <p:cNvPr id="232" name="Table 2"/>
          <p:cNvGraphicFramePr/>
          <p:nvPr/>
        </p:nvGraphicFramePr>
        <p:xfrm>
          <a:off x="504000" y="1769040"/>
          <a:ext cx="9071280" cy="2320560"/>
        </p:xfrm>
        <a:graphic>
          <a:graphicData uri="http://schemas.openxmlformats.org/drawingml/2006/table">
            <a:tbl>
              <a:tblPr/>
              <a:tblGrid>
                <a:gridCol w="2267640"/>
                <a:gridCol w="2267640"/>
                <a:gridCol w="2267640"/>
                <a:gridCol w="2268360"/>
              </a:tblGrid>
              <a:tr h="348120">
                <a:tc>
                  <a:txBody>
                    <a:bodyPr/>
                    <a:lstStyle/>
                    <a:p>
                      <a:r>
                        <a:rPr lang="en-US" sz="1800" b="0" strike="noStrike" spc="-1">
                          <a:solidFill>
                            <a:srgbClr val="000000"/>
                          </a:solidFill>
                          <a:uFill>
                            <a:solidFill>
                              <a:srgbClr val="FFFFFF"/>
                            </a:solidFill>
                          </a:uFill>
                          <a:latin typeface="Arial"/>
                        </a:rPr>
                        <a:t>Call Number</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en-US" sz="1800" b="0" strike="noStrike" spc="-1" dirty="0">
                          <a:solidFill>
                            <a:srgbClr val="000000"/>
                          </a:solidFill>
                          <a:uFill>
                            <a:solidFill>
                              <a:srgbClr val="FFFFFF"/>
                            </a:solidFill>
                          </a:uFill>
                          <a:latin typeface="Arial"/>
                        </a:rPr>
                        <a:t>N</a:t>
                      </a:r>
                      <a:r>
                        <a:rPr lang="en-US" sz="1800" b="0" strike="noStrike" spc="-1" dirty="0" smtClean="0">
                          <a:solidFill>
                            <a:srgbClr val="000000"/>
                          </a:solidFill>
                          <a:uFill>
                            <a:solidFill>
                              <a:srgbClr val="FFFFFF"/>
                            </a:solidFill>
                          </a:uFill>
                          <a:latin typeface="Arial"/>
                        </a:rPr>
                        <a:t>umber</a:t>
                      </a:r>
                      <a:endParaRPr lang="en-US" sz="1800" b="0" strike="noStrike" spc="-1" dirty="0">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en-US" sz="1800" b="0" strike="noStrike" spc="-1" dirty="0">
                          <a:solidFill>
                            <a:srgbClr val="000000"/>
                          </a:solidFill>
                          <a:uFill>
                            <a:solidFill>
                              <a:srgbClr val="FFFFFF"/>
                            </a:solidFill>
                          </a:uFill>
                          <a:latin typeface="Arial"/>
                        </a:rPr>
                        <a:t>R</a:t>
                      </a:r>
                      <a:r>
                        <a:rPr lang="en-US" sz="1800" b="0" strike="noStrike" spc="-1" dirty="0" smtClean="0">
                          <a:solidFill>
                            <a:srgbClr val="000000"/>
                          </a:solidFill>
                          <a:uFill>
                            <a:solidFill>
                              <a:srgbClr val="FFFFFF"/>
                            </a:solidFill>
                          </a:uFill>
                          <a:latin typeface="Arial"/>
                        </a:rPr>
                        <a:t>esult</a:t>
                      </a:r>
                      <a:endParaRPr lang="en-US" sz="1800" b="0" strike="noStrike" spc="-1" dirty="0">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en-US" sz="1800" b="0" strike="noStrike" spc="-1">
                          <a:solidFill>
                            <a:srgbClr val="000000"/>
                          </a:solidFill>
                          <a:uFill>
                            <a:solidFill>
                              <a:srgbClr val="FFFFFF"/>
                            </a:solidFill>
                          </a:uFill>
                          <a:latin typeface="Arial"/>
                        </a:rPr>
                        <a:t>Return address</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348120">
                <a:tc>
                  <a:txBody>
                    <a:bodyPr/>
                    <a:lstStyle/>
                    <a:p>
                      <a:r>
                        <a:rPr lang="en-US" sz="1800" b="0" strike="noStrike" spc="-1">
                          <a:solidFill>
                            <a:srgbClr val="000000"/>
                          </a:solidFill>
                          <a:uFill>
                            <a:solidFill>
                              <a:srgbClr val="FFFFFF"/>
                            </a:solidFill>
                          </a:uFill>
                          <a:latin typeface="Arial"/>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4</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5200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48120">
                <a:tc>
                  <a:txBody>
                    <a:bodyPr/>
                    <a:lstStyle/>
                    <a:p>
                      <a:r>
                        <a:rPr lang="en-US" sz="1800" b="0" strike="noStrike" spc="-1">
                          <a:solidFill>
                            <a:srgbClr val="000000"/>
                          </a:solidFill>
                          <a:uFill>
                            <a:solidFill>
                              <a:srgbClr val="FFFFFF"/>
                            </a:solidFill>
                          </a:uFill>
                          <a:latin typeface="Arial"/>
                        </a:rPr>
                        <a:t>2</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800" b="0" strike="noStrike" spc="-1">
                          <a:solidFill>
                            <a:srgbClr val="000000"/>
                          </a:solidFill>
                          <a:uFill>
                            <a:solidFill>
                              <a:srgbClr val="FFFFFF"/>
                            </a:solidFill>
                          </a:uFill>
                          <a:latin typeface="Arial"/>
                        </a:rPr>
                        <a:t>3</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800" b="0" strike="noStrike" spc="-1">
                          <a:solidFill>
                            <a:srgbClr val="000000"/>
                          </a:solidFill>
                          <a:uFill>
                            <a:solidFill>
                              <a:srgbClr val="FFFFFF"/>
                            </a:solidFill>
                          </a:uFill>
                          <a:latin typeface="Arial"/>
                        </a:rPr>
                        <a:t>???</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800" b="0" strike="noStrike" spc="-1">
                          <a:solidFill>
                            <a:srgbClr val="000000"/>
                          </a:solidFill>
                          <a:uFill>
                            <a:solidFill>
                              <a:srgbClr val="FFFFFF"/>
                            </a:solidFill>
                          </a:uFill>
                          <a:latin typeface="Arial"/>
                        </a:rPr>
                        <a:t>1010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348120">
                <a:tc>
                  <a:txBody>
                    <a:bodyPr/>
                    <a:lstStyle/>
                    <a:p>
                      <a:r>
                        <a:rPr lang="en-US" sz="1800" b="0" strike="noStrike" spc="-1">
                          <a:solidFill>
                            <a:srgbClr val="000000"/>
                          </a:solidFill>
                          <a:uFill>
                            <a:solidFill>
                              <a:srgbClr val="FFFFFF"/>
                            </a:solidFill>
                          </a:uFill>
                          <a:latin typeface="Arial"/>
                        </a:rPr>
                        <a:t>3</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2</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1010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428760">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428760">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bl>
          </a:graphicData>
        </a:graphic>
      </p:graphicFrame>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dirty="0">
                <a:solidFill>
                  <a:srgbClr val="000000"/>
                </a:solidFill>
                <a:uFill>
                  <a:solidFill>
                    <a:srgbClr val="FFFFFF"/>
                  </a:solidFill>
                </a:uFill>
                <a:latin typeface="Arial"/>
              </a:rPr>
              <a:t>Run-Time Stack of </a:t>
            </a:r>
            <a:r>
              <a:rPr lang="en-US" sz="4400" b="0" strike="noStrike" spc="-1" dirty="0" smtClean="0">
                <a:solidFill>
                  <a:srgbClr val="000000"/>
                </a:solidFill>
                <a:uFill>
                  <a:solidFill>
                    <a:srgbClr val="FFFFFF"/>
                  </a:solidFill>
                </a:uFill>
                <a:latin typeface="Arial"/>
              </a:rPr>
              <a:t/>
            </a:r>
            <a:br>
              <a:rPr lang="en-US" sz="4400" b="0" strike="noStrike" spc="-1" dirty="0" smtClean="0">
                <a:solidFill>
                  <a:srgbClr val="000000"/>
                </a:solidFill>
                <a:uFill>
                  <a:solidFill>
                    <a:srgbClr val="FFFFFF"/>
                  </a:solidFill>
                </a:uFill>
                <a:latin typeface="Arial"/>
              </a:rPr>
            </a:br>
            <a:r>
              <a:rPr lang="en-US" sz="4400" b="0" strike="noStrike" spc="-1" dirty="0" smtClean="0">
                <a:solidFill>
                  <a:srgbClr val="000000"/>
                </a:solidFill>
                <a:uFill>
                  <a:solidFill>
                    <a:srgbClr val="FFFFFF"/>
                  </a:solidFill>
                </a:uFill>
                <a:latin typeface="Arial"/>
              </a:rPr>
              <a:t>Factorial(4) (cont.)</a:t>
            </a:r>
            <a:endParaRPr lang="en-US" sz="1800" b="0" strike="noStrike" spc="-1" dirty="0">
              <a:solidFill>
                <a:srgbClr val="000000"/>
              </a:solidFill>
              <a:uFill>
                <a:solidFill>
                  <a:srgbClr val="FFFFFF"/>
                </a:solidFill>
              </a:uFill>
              <a:latin typeface="Arial"/>
            </a:endParaRPr>
          </a:p>
        </p:txBody>
      </p:sp>
      <p:graphicFrame>
        <p:nvGraphicFramePr>
          <p:cNvPr id="234" name="Table 2"/>
          <p:cNvGraphicFramePr/>
          <p:nvPr/>
        </p:nvGraphicFramePr>
        <p:xfrm>
          <a:off x="504000" y="1769040"/>
          <a:ext cx="9071280" cy="2257560"/>
        </p:xfrm>
        <a:graphic>
          <a:graphicData uri="http://schemas.openxmlformats.org/drawingml/2006/table">
            <a:tbl>
              <a:tblPr/>
              <a:tblGrid>
                <a:gridCol w="2267640"/>
                <a:gridCol w="2267640"/>
                <a:gridCol w="2267640"/>
                <a:gridCol w="2268360"/>
              </a:tblGrid>
              <a:tr h="348120">
                <a:tc>
                  <a:txBody>
                    <a:bodyPr/>
                    <a:lstStyle/>
                    <a:p>
                      <a:r>
                        <a:rPr lang="en-US" sz="1800" b="0" strike="noStrike" spc="-1">
                          <a:solidFill>
                            <a:srgbClr val="000000"/>
                          </a:solidFill>
                          <a:uFill>
                            <a:solidFill>
                              <a:srgbClr val="FFFFFF"/>
                            </a:solidFill>
                          </a:uFill>
                          <a:latin typeface="Arial"/>
                        </a:rPr>
                        <a:t>Call Number</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en-US" sz="1800" b="0" strike="noStrike" spc="-1" dirty="0">
                          <a:solidFill>
                            <a:srgbClr val="000000"/>
                          </a:solidFill>
                          <a:uFill>
                            <a:solidFill>
                              <a:srgbClr val="FFFFFF"/>
                            </a:solidFill>
                          </a:uFill>
                          <a:latin typeface="Arial"/>
                        </a:rPr>
                        <a:t>N</a:t>
                      </a:r>
                      <a:r>
                        <a:rPr lang="en-US" sz="1800" b="0" strike="noStrike" spc="-1" dirty="0" smtClean="0">
                          <a:solidFill>
                            <a:srgbClr val="000000"/>
                          </a:solidFill>
                          <a:uFill>
                            <a:solidFill>
                              <a:srgbClr val="FFFFFF"/>
                            </a:solidFill>
                          </a:uFill>
                          <a:latin typeface="Arial"/>
                        </a:rPr>
                        <a:t>umber</a:t>
                      </a:r>
                      <a:endParaRPr lang="en-US" sz="1800" b="0" strike="noStrike" spc="-1" dirty="0">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en-US" sz="1800" b="0" strike="noStrike" spc="-1" dirty="0">
                          <a:solidFill>
                            <a:srgbClr val="000000"/>
                          </a:solidFill>
                          <a:uFill>
                            <a:solidFill>
                              <a:srgbClr val="FFFFFF"/>
                            </a:solidFill>
                          </a:uFill>
                          <a:latin typeface="Arial"/>
                        </a:rPr>
                        <a:t>R</a:t>
                      </a:r>
                      <a:r>
                        <a:rPr lang="en-US" sz="1800" b="0" strike="noStrike" spc="-1" dirty="0" smtClean="0">
                          <a:solidFill>
                            <a:srgbClr val="000000"/>
                          </a:solidFill>
                          <a:uFill>
                            <a:solidFill>
                              <a:srgbClr val="FFFFFF"/>
                            </a:solidFill>
                          </a:uFill>
                          <a:latin typeface="Arial"/>
                        </a:rPr>
                        <a:t>esult</a:t>
                      </a:r>
                      <a:endParaRPr lang="en-US" sz="1800" b="0" strike="noStrike" spc="-1" dirty="0">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en-US" sz="1800" b="0" strike="noStrike" spc="-1">
                          <a:solidFill>
                            <a:srgbClr val="000000"/>
                          </a:solidFill>
                          <a:uFill>
                            <a:solidFill>
                              <a:srgbClr val="FFFFFF"/>
                            </a:solidFill>
                          </a:uFill>
                          <a:latin typeface="Arial"/>
                        </a:rPr>
                        <a:t>Return address</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348120">
                <a:tc>
                  <a:txBody>
                    <a:bodyPr/>
                    <a:lstStyle/>
                    <a:p>
                      <a:r>
                        <a:rPr lang="en-US" sz="1800" b="0" strike="noStrike" spc="-1">
                          <a:solidFill>
                            <a:srgbClr val="000000"/>
                          </a:solidFill>
                          <a:uFill>
                            <a:solidFill>
                              <a:srgbClr val="FFFFFF"/>
                            </a:solidFill>
                          </a:uFill>
                          <a:latin typeface="Arial"/>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4</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5200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48120">
                <a:tc>
                  <a:txBody>
                    <a:bodyPr/>
                    <a:lstStyle/>
                    <a:p>
                      <a:r>
                        <a:rPr lang="en-US" sz="1800" b="0" strike="noStrike" spc="-1">
                          <a:solidFill>
                            <a:srgbClr val="000000"/>
                          </a:solidFill>
                          <a:uFill>
                            <a:solidFill>
                              <a:srgbClr val="FFFFFF"/>
                            </a:solidFill>
                          </a:uFill>
                          <a:latin typeface="Arial"/>
                        </a:rPr>
                        <a:t>2</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800" b="0" strike="noStrike" spc="-1">
                          <a:solidFill>
                            <a:srgbClr val="000000"/>
                          </a:solidFill>
                          <a:uFill>
                            <a:solidFill>
                              <a:srgbClr val="FFFFFF"/>
                            </a:solidFill>
                          </a:uFill>
                          <a:latin typeface="Arial"/>
                        </a:rPr>
                        <a:t>3</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800" b="0" strike="noStrike" spc="-1">
                          <a:solidFill>
                            <a:srgbClr val="000000"/>
                          </a:solidFill>
                          <a:uFill>
                            <a:solidFill>
                              <a:srgbClr val="FFFFFF"/>
                            </a:solidFill>
                          </a:uFill>
                          <a:latin typeface="Arial"/>
                        </a:rPr>
                        <a:t>???</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800" b="0" strike="noStrike" spc="-1">
                          <a:solidFill>
                            <a:srgbClr val="000000"/>
                          </a:solidFill>
                          <a:uFill>
                            <a:solidFill>
                              <a:srgbClr val="FFFFFF"/>
                            </a:solidFill>
                          </a:uFill>
                          <a:latin typeface="Arial"/>
                        </a:rPr>
                        <a:t>1010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348120">
                <a:tc>
                  <a:txBody>
                    <a:bodyPr/>
                    <a:lstStyle/>
                    <a:p>
                      <a:r>
                        <a:rPr lang="en-US" sz="1800" b="0" strike="noStrike" spc="-1">
                          <a:solidFill>
                            <a:srgbClr val="000000"/>
                          </a:solidFill>
                          <a:uFill>
                            <a:solidFill>
                              <a:srgbClr val="FFFFFF"/>
                            </a:solidFill>
                          </a:uFill>
                          <a:latin typeface="Arial"/>
                        </a:rPr>
                        <a:t>3</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2</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1010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48120">
                <a:tc>
                  <a:txBody>
                    <a:bodyPr/>
                    <a:lstStyle/>
                    <a:p>
                      <a:r>
                        <a:rPr lang="en-US" sz="1800" b="0" strike="noStrike" spc="-1">
                          <a:solidFill>
                            <a:srgbClr val="000000"/>
                          </a:solidFill>
                          <a:uFill>
                            <a:solidFill>
                              <a:srgbClr val="FFFFFF"/>
                            </a:solidFill>
                          </a:uFill>
                          <a:latin typeface="Arial"/>
                        </a:rPr>
                        <a:t>4</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800" b="0" strike="noStrike" spc="-1">
                          <a:solidFill>
                            <a:srgbClr val="000000"/>
                          </a:solidFill>
                          <a:uFill>
                            <a:solidFill>
                              <a:srgbClr val="FFFFFF"/>
                            </a:solidFill>
                          </a:uFill>
                          <a:latin typeface="Arial"/>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800" b="0" strike="noStrike" spc="-1">
                          <a:solidFill>
                            <a:srgbClr val="000000"/>
                          </a:solidFill>
                          <a:uFill>
                            <a:solidFill>
                              <a:srgbClr val="FFFFFF"/>
                            </a:solidFill>
                          </a:uFill>
                          <a:latin typeface="Arial"/>
                        </a:rPr>
                        <a:t>???</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800" b="0" strike="noStrike" spc="-1">
                          <a:solidFill>
                            <a:srgbClr val="000000"/>
                          </a:solidFill>
                          <a:uFill>
                            <a:solidFill>
                              <a:srgbClr val="FFFFFF"/>
                            </a:solidFill>
                          </a:uFill>
                          <a:latin typeface="Arial"/>
                        </a:rPr>
                        <a:t>1010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428760">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bl>
          </a:graphicData>
        </a:graphic>
      </p:graphicFrame>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dirty="0">
                <a:solidFill>
                  <a:srgbClr val="000000"/>
                </a:solidFill>
                <a:uFill>
                  <a:solidFill>
                    <a:srgbClr val="FFFFFF"/>
                  </a:solidFill>
                </a:uFill>
                <a:latin typeface="Arial"/>
              </a:rPr>
              <a:t>Run-Time Stack of </a:t>
            </a:r>
            <a:r>
              <a:rPr lang="en-US" sz="4400" b="0" strike="noStrike" spc="-1" dirty="0" smtClean="0">
                <a:solidFill>
                  <a:srgbClr val="000000"/>
                </a:solidFill>
                <a:uFill>
                  <a:solidFill>
                    <a:srgbClr val="FFFFFF"/>
                  </a:solidFill>
                </a:uFill>
                <a:latin typeface="Arial"/>
              </a:rPr>
              <a:t/>
            </a:r>
            <a:br>
              <a:rPr lang="en-US" sz="4400" b="0" strike="noStrike" spc="-1" dirty="0" smtClean="0">
                <a:solidFill>
                  <a:srgbClr val="000000"/>
                </a:solidFill>
                <a:uFill>
                  <a:solidFill>
                    <a:srgbClr val="FFFFFF"/>
                  </a:solidFill>
                </a:uFill>
                <a:latin typeface="Arial"/>
              </a:rPr>
            </a:br>
            <a:r>
              <a:rPr lang="en-US" sz="4400" b="0" strike="noStrike" spc="-1" dirty="0" smtClean="0">
                <a:solidFill>
                  <a:srgbClr val="000000"/>
                </a:solidFill>
                <a:uFill>
                  <a:solidFill>
                    <a:srgbClr val="FFFFFF"/>
                  </a:solidFill>
                </a:uFill>
                <a:latin typeface="Arial"/>
              </a:rPr>
              <a:t>Factorial(4) (cont.)</a:t>
            </a:r>
            <a:endParaRPr lang="en-US" sz="1800" b="0" strike="noStrike" spc="-1" dirty="0">
              <a:solidFill>
                <a:srgbClr val="000000"/>
              </a:solidFill>
              <a:uFill>
                <a:solidFill>
                  <a:srgbClr val="FFFFFF"/>
                </a:solidFill>
              </a:uFill>
              <a:latin typeface="Arial"/>
            </a:endParaRPr>
          </a:p>
        </p:txBody>
      </p:sp>
      <p:graphicFrame>
        <p:nvGraphicFramePr>
          <p:cNvPr id="236" name="Table 2"/>
          <p:cNvGraphicFramePr/>
          <p:nvPr/>
        </p:nvGraphicFramePr>
        <p:xfrm>
          <a:off x="504000" y="1769040"/>
          <a:ext cx="9071280" cy="2194560"/>
        </p:xfrm>
        <a:graphic>
          <a:graphicData uri="http://schemas.openxmlformats.org/drawingml/2006/table">
            <a:tbl>
              <a:tblPr/>
              <a:tblGrid>
                <a:gridCol w="2267640"/>
                <a:gridCol w="2267640"/>
                <a:gridCol w="2267640"/>
                <a:gridCol w="2268360"/>
              </a:tblGrid>
              <a:tr h="349920">
                <a:tc>
                  <a:txBody>
                    <a:bodyPr/>
                    <a:lstStyle/>
                    <a:p>
                      <a:r>
                        <a:rPr lang="en-US" sz="1800" b="0" strike="noStrike" spc="-1">
                          <a:solidFill>
                            <a:srgbClr val="000000"/>
                          </a:solidFill>
                          <a:uFill>
                            <a:solidFill>
                              <a:srgbClr val="FFFFFF"/>
                            </a:solidFill>
                          </a:uFill>
                          <a:latin typeface="Arial"/>
                        </a:rPr>
                        <a:t>Call Number</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en-US" sz="1800" b="0" strike="noStrike" spc="-1" dirty="0">
                          <a:solidFill>
                            <a:srgbClr val="000000"/>
                          </a:solidFill>
                          <a:uFill>
                            <a:solidFill>
                              <a:srgbClr val="FFFFFF"/>
                            </a:solidFill>
                          </a:uFill>
                          <a:latin typeface="Arial"/>
                        </a:rPr>
                        <a:t>N</a:t>
                      </a:r>
                      <a:r>
                        <a:rPr lang="en-US" sz="1800" b="0" strike="noStrike" spc="-1" dirty="0" smtClean="0">
                          <a:solidFill>
                            <a:srgbClr val="000000"/>
                          </a:solidFill>
                          <a:uFill>
                            <a:solidFill>
                              <a:srgbClr val="FFFFFF"/>
                            </a:solidFill>
                          </a:uFill>
                          <a:latin typeface="Arial"/>
                        </a:rPr>
                        <a:t>umber</a:t>
                      </a:r>
                      <a:endParaRPr lang="en-US" sz="1800" b="0" strike="noStrike" spc="-1" dirty="0">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en-US" sz="1800" b="0" strike="noStrike" spc="-1" dirty="0">
                          <a:solidFill>
                            <a:srgbClr val="000000"/>
                          </a:solidFill>
                          <a:uFill>
                            <a:solidFill>
                              <a:srgbClr val="FFFFFF"/>
                            </a:solidFill>
                          </a:uFill>
                          <a:latin typeface="Arial"/>
                        </a:rPr>
                        <a:t>R</a:t>
                      </a:r>
                      <a:r>
                        <a:rPr lang="en-US" sz="1800" b="0" strike="noStrike" spc="-1" dirty="0" smtClean="0">
                          <a:solidFill>
                            <a:srgbClr val="000000"/>
                          </a:solidFill>
                          <a:uFill>
                            <a:solidFill>
                              <a:srgbClr val="FFFFFF"/>
                            </a:solidFill>
                          </a:uFill>
                          <a:latin typeface="Arial"/>
                        </a:rPr>
                        <a:t>esult</a:t>
                      </a:r>
                      <a:endParaRPr lang="en-US" sz="1800" b="0" strike="noStrike" spc="-1" dirty="0">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en-US" sz="1800" b="0" strike="noStrike" spc="-1">
                          <a:solidFill>
                            <a:srgbClr val="000000"/>
                          </a:solidFill>
                          <a:uFill>
                            <a:solidFill>
                              <a:srgbClr val="FFFFFF"/>
                            </a:solidFill>
                          </a:uFill>
                          <a:latin typeface="Arial"/>
                        </a:rPr>
                        <a:t>Return address</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349920">
                <a:tc>
                  <a:txBody>
                    <a:bodyPr/>
                    <a:lstStyle/>
                    <a:p>
                      <a:r>
                        <a:rPr lang="en-US" sz="1800" b="0" strike="noStrike" spc="-1">
                          <a:solidFill>
                            <a:srgbClr val="000000"/>
                          </a:solidFill>
                          <a:uFill>
                            <a:solidFill>
                              <a:srgbClr val="FFFFFF"/>
                            </a:solidFill>
                          </a:uFill>
                          <a:latin typeface="Arial"/>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4</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5200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49920">
                <a:tc>
                  <a:txBody>
                    <a:bodyPr/>
                    <a:lstStyle/>
                    <a:p>
                      <a:r>
                        <a:rPr lang="en-US" sz="1800" b="0" strike="noStrike" spc="-1">
                          <a:solidFill>
                            <a:srgbClr val="000000"/>
                          </a:solidFill>
                          <a:uFill>
                            <a:solidFill>
                              <a:srgbClr val="FFFFFF"/>
                            </a:solidFill>
                          </a:uFill>
                          <a:latin typeface="Arial"/>
                        </a:rPr>
                        <a:t>2</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800" b="0" strike="noStrike" spc="-1">
                          <a:solidFill>
                            <a:srgbClr val="000000"/>
                          </a:solidFill>
                          <a:uFill>
                            <a:solidFill>
                              <a:srgbClr val="FFFFFF"/>
                            </a:solidFill>
                          </a:uFill>
                          <a:latin typeface="Arial"/>
                        </a:rPr>
                        <a:t>3</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800" b="0" strike="noStrike" spc="-1">
                          <a:solidFill>
                            <a:srgbClr val="000000"/>
                          </a:solidFill>
                          <a:uFill>
                            <a:solidFill>
                              <a:srgbClr val="FFFFFF"/>
                            </a:solidFill>
                          </a:uFill>
                          <a:latin typeface="Arial"/>
                        </a:rPr>
                        <a:t>???</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800" b="0" strike="noStrike" spc="-1">
                          <a:solidFill>
                            <a:srgbClr val="000000"/>
                          </a:solidFill>
                          <a:uFill>
                            <a:solidFill>
                              <a:srgbClr val="FFFFFF"/>
                            </a:solidFill>
                          </a:uFill>
                          <a:latin typeface="Arial"/>
                        </a:rPr>
                        <a:t>1010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349920">
                <a:tc>
                  <a:txBody>
                    <a:bodyPr/>
                    <a:lstStyle/>
                    <a:p>
                      <a:r>
                        <a:rPr lang="en-US" sz="1800" b="0" strike="noStrike" spc="-1">
                          <a:solidFill>
                            <a:srgbClr val="000000"/>
                          </a:solidFill>
                          <a:uFill>
                            <a:solidFill>
                              <a:srgbClr val="FFFFFF"/>
                            </a:solidFill>
                          </a:uFill>
                          <a:latin typeface="Arial"/>
                        </a:rPr>
                        <a:t>3</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2</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1010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49920">
                <a:tc>
                  <a:txBody>
                    <a:bodyPr/>
                    <a:lstStyle/>
                    <a:p>
                      <a:r>
                        <a:rPr lang="en-US" sz="1800" b="0" strike="noStrike" spc="-1">
                          <a:solidFill>
                            <a:srgbClr val="000000"/>
                          </a:solidFill>
                          <a:uFill>
                            <a:solidFill>
                              <a:srgbClr val="FFFFFF"/>
                            </a:solidFill>
                          </a:uFill>
                          <a:latin typeface="Arial"/>
                        </a:rPr>
                        <a:t>4</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800" b="0" strike="noStrike" spc="-1">
                          <a:solidFill>
                            <a:srgbClr val="000000"/>
                          </a:solidFill>
                          <a:uFill>
                            <a:solidFill>
                              <a:srgbClr val="FFFFFF"/>
                            </a:solidFill>
                          </a:uFill>
                          <a:latin typeface="Arial"/>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800" b="0" strike="noStrike" spc="-1">
                          <a:solidFill>
                            <a:srgbClr val="000000"/>
                          </a:solidFill>
                          <a:uFill>
                            <a:solidFill>
                              <a:srgbClr val="FFFFFF"/>
                            </a:solidFill>
                          </a:uFill>
                          <a:latin typeface="Arial"/>
                        </a:rPr>
                        <a:t>???</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800" b="0" strike="noStrike" spc="-1">
                          <a:solidFill>
                            <a:srgbClr val="000000"/>
                          </a:solidFill>
                          <a:uFill>
                            <a:solidFill>
                              <a:srgbClr val="FFFFFF"/>
                            </a:solidFill>
                          </a:uFill>
                          <a:latin typeface="Arial"/>
                        </a:rPr>
                        <a:t>1010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349560">
                <a:tc>
                  <a:txBody>
                    <a:bodyPr/>
                    <a:lstStyle/>
                    <a:p>
                      <a:r>
                        <a:rPr lang="en-US" sz="1800" b="0" strike="noStrike" spc="-1">
                          <a:solidFill>
                            <a:srgbClr val="000000"/>
                          </a:solidFill>
                          <a:uFill>
                            <a:solidFill>
                              <a:srgbClr val="FFFFFF"/>
                            </a:solidFill>
                          </a:uFill>
                          <a:latin typeface="Arial"/>
                        </a:rPr>
                        <a:t>5</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dirty="0">
                          <a:solidFill>
                            <a:srgbClr val="000000"/>
                          </a:solidFill>
                          <a:uFill>
                            <a:solidFill>
                              <a:srgbClr val="FFFFFF"/>
                            </a:solidFill>
                          </a:uFill>
                          <a:latin typeface="Arial"/>
                        </a:rPr>
                        <a:t>1010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bl>
          </a:graphicData>
        </a:graphic>
      </p:graphicFrame>
      <p:sp>
        <p:nvSpPr>
          <p:cNvPr id="237" name="CustomShape 3"/>
          <p:cNvSpPr/>
          <p:nvPr/>
        </p:nvSpPr>
        <p:spPr>
          <a:xfrm>
            <a:off x="504000" y="4169880"/>
            <a:ext cx="9070920" cy="1646304"/>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Here, the base case has been </a:t>
            </a:r>
            <a:r>
              <a:rPr lang="en-US" sz="3200" b="0" strike="noStrike" spc="-1" dirty="0" smtClean="0">
                <a:solidFill>
                  <a:srgbClr val="000000"/>
                </a:solidFill>
                <a:uFill>
                  <a:solidFill>
                    <a:srgbClr val="FFFFFF"/>
                  </a:solidFill>
                </a:uFill>
                <a:latin typeface="Arial"/>
              </a:rPr>
              <a:t>reached</a:t>
            </a:r>
            <a:endParaRPr lang="en-US" sz="1800" b="0" strike="noStrike" spc="-1" dirty="0" smtClean="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We start popping the run-time stack, propagating the result back to the original </a:t>
            </a:r>
            <a:r>
              <a:rPr lang="en-US" sz="3200" b="0" strike="noStrike" spc="-1" dirty="0" smtClean="0">
                <a:solidFill>
                  <a:srgbClr val="000000"/>
                </a:solidFill>
                <a:uFill>
                  <a:solidFill>
                    <a:srgbClr val="FFFFFF"/>
                  </a:solidFill>
                </a:uFill>
                <a:latin typeface="Arial"/>
              </a:rPr>
              <a:t>call</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dirty="0">
                <a:solidFill>
                  <a:srgbClr val="000000"/>
                </a:solidFill>
                <a:uFill>
                  <a:solidFill>
                    <a:srgbClr val="FFFFFF"/>
                  </a:solidFill>
                </a:uFill>
                <a:latin typeface="Arial"/>
              </a:rPr>
              <a:t>Run-Time Stack of </a:t>
            </a:r>
            <a:r>
              <a:rPr lang="en-US" sz="4400" b="0" strike="noStrike" spc="-1" dirty="0" smtClean="0">
                <a:solidFill>
                  <a:srgbClr val="000000"/>
                </a:solidFill>
                <a:uFill>
                  <a:solidFill>
                    <a:srgbClr val="FFFFFF"/>
                  </a:solidFill>
                </a:uFill>
                <a:latin typeface="Arial"/>
              </a:rPr>
              <a:t/>
            </a:r>
            <a:br>
              <a:rPr lang="en-US" sz="4400" b="0" strike="noStrike" spc="-1" dirty="0" smtClean="0">
                <a:solidFill>
                  <a:srgbClr val="000000"/>
                </a:solidFill>
                <a:uFill>
                  <a:solidFill>
                    <a:srgbClr val="FFFFFF"/>
                  </a:solidFill>
                </a:uFill>
                <a:latin typeface="Arial"/>
              </a:rPr>
            </a:br>
            <a:r>
              <a:rPr lang="en-US" sz="4400" b="0" strike="noStrike" spc="-1" dirty="0" smtClean="0">
                <a:solidFill>
                  <a:srgbClr val="000000"/>
                </a:solidFill>
                <a:uFill>
                  <a:solidFill>
                    <a:srgbClr val="FFFFFF"/>
                  </a:solidFill>
                </a:uFill>
                <a:latin typeface="Arial"/>
              </a:rPr>
              <a:t>Factorial(4) (cont.)</a:t>
            </a:r>
            <a:endParaRPr lang="en-US" sz="1800" b="0" strike="noStrike" spc="-1" dirty="0">
              <a:solidFill>
                <a:srgbClr val="000000"/>
              </a:solidFill>
              <a:uFill>
                <a:solidFill>
                  <a:srgbClr val="FFFFFF"/>
                </a:solidFill>
              </a:uFill>
              <a:latin typeface="Arial"/>
            </a:endParaRPr>
          </a:p>
        </p:txBody>
      </p:sp>
      <p:graphicFrame>
        <p:nvGraphicFramePr>
          <p:cNvPr id="239" name="Table 2"/>
          <p:cNvGraphicFramePr/>
          <p:nvPr/>
        </p:nvGraphicFramePr>
        <p:xfrm>
          <a:off x="504000" y="1769040"/>
          <a:ext cx="9071280" cy="2257560"/>
        </p:xfrm>
        <a:graphic>
          <a:graphicData uri="http://schemas.openxmlformats.org/drawingml/2006/table">
            <a:tbl>
              <a:tblPr/>
              <a:tblGrid>
                <a:gridCol w="2267640"/>
                <a:gridCol w="2267640"/>
                <a:gridCol w="2267640"/>
                <a:gridCol w="2268360"/>
              </a:tblGrid>
              <a:tr h="348120">
                <a:tc>
                  <a:txBody>
                    <a:bodyPr/>
                    <a:lstStyle/>
                    <a:p>
                      <a:r>
                        <a:rPr lang="en-US" sz="1800" b="0" strike="noStrike" spc="-1">
                          <a:solidFill>
                            <a:srgbClr val="000000"/>
                          </a:solidFill>
                          <a:uFill>
                            <a:solidFill>
                              <a:srgbClr val="FFFFFF"/>
                            </a:solidFill>
                          </a:uFill>
                          <a:latin typeface="Arial"/>
                        </a:rPr>
                        <a:t>Call Number</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en-US" sz="1800" b="0" strike="noStrike" spc="-1" dirty="0">
                          <a:solidFill>
                            <a:srgbClr val="000000"/>
                          </a:solidFill>
                          <a:uFill>
                            <a:solidFill>
                              <a:srgbClr val="FFFFFF"/>
                            </a:solidFill>
                          </a:uFill>
                          <a:latin typeface="Arial"/>
                        </a:rPr>
                        <a:t>N</a:t>
                      </a:r>
                      <a:r>
                        <a:rPr lang="en-US" sz="1800" b="0" strike="noStrike" spc="-1" dirty="0" smtClean="0">
                          <a:solidFill>
                            <a:srgbClr val="000000"/>
                          </a:solidFill>
                          <a:uFill>
                            <a:solidFill>
                              <a:srgbClr val="FFFFFF"/>
                            </a:solidFill>
                          </a:uFill>
                          <a:latin typeface="Arial"/>
                        </a:rPr>
                        <a:t>umber</a:t>
                      </a:r>
                      <a:endParaRPr lang="en-US" sz="1800" b="0" strike="noStrike" spc="-1" dirty="0">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en-US" sz="1800" b="0" strike="noStrike" spc="-1" dirty="0">
                          <a:solidFill>
                            <a:srgbClr val="000000"/>
                          </a:solidFill>
                          <a:uFill>
                            <a:solidFill>
                              <a:srgbClr val="FFFFFF"/>
                            </a:solidFill>
                          </a:uFill>
                          <a:latin typeface="Arial"/>
                        </a:rPr>
                        <a:t>R</a:t>
                      </a:r>
                      <a:r>
                        <a:rPr lang="en-US" sz="1800" b="0" strike="noStrike" spc="-1" dirty="0" smtClean="0">
                          <a:solidFill>
                            <a:srgbClr val="000000"/>
                          </a:solidFill>
                          <a:uFill>
                            <a:solidFill>
                              <a:srgbClr val="FFFFFF"/>
                            </a:solidFill>
                          </a:uFill>
                          <a:latin typeface="Arial"/>
                        </a:rPr>
                        <a:t>esult</a:t>
                      </a:r>
                      <a:endParaRPr lang="en-US" sz="1800" b="0" strike="noStrike" spc="-1" dirty="0">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en-US" sz="1800" b="0" strike="noStrike" spc="-1">
                          <a:solidFill>
                            <a:srgbClr val="000000"/>
                          </a:solidFill>
                          <a:uFill>
                            <a:solidFill>
                              <a:srgbClr val="FFFFFF"/>
                            </a:solidFill>
                          </a:uFill>
                          <a:latin typeface="Arial"/>
                        </a:rPr>
                        <a:t>Return address</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348120">
                <a:tc>
                  <a:txBody>
                    <a:bodyPr/>
                    <a:lstStyle/>
                    <a:p>
                      <a:r>
                        <a:rPr lang="en-US" sz="1800" b="0" strike="noStrike" spc="-1">
                          <a:solidFill>
                            <a:srgbClr val="000000"/>
                          </a:solidFill>
                          <a:uFill>
                            <a:solidFill>
                              <a:srgbClr val="FFFFFF"/>
                            </a:solidFill>
                          </a:uFill>
                          <a:latin typeface="Arial"/>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4</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5200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48120">
                <a:tc>
                  <a:txBody>
                    <a:bodyPr/>
                    <a:lstStyle/>
                    <a:p>
                      <a:r>
                        <a:rPr lang="en-US" sz="1800" b="0" strike="noStrike" spc="-1">
                          <a:solidFill>
                            <a:srgbClr val="000000"/>
                          </a:solidFill>
                          <a:uFill>
                            <a:solidFill>
                              <a:srgbClr val="FFFFFF"/>
                            </a:solidFill>
                          </a:uFill>
                          <a:latin typeface="Arial"/>
                        </a:rPr>
                        <a:t>2</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800" b="0" strike="noStrike" spc="-1">
                          <a:solidFill>
                            <a:srgbClr val="000000"/>
                          </a:solidFill>
                          <a:uFill>
                            <a:solidFill>
                              <a:srgbClr val="FFFFFF"/>
                            </a:solidFill>
                          </a:uFill>
                          <a:latin typeface="Arial"/>
                        </a:rPr>
                        <a:t>3</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800" b="0" strike="noStrike" spc="-1">
                          <a:solidFill>
                            <a:srgbClr val="000000"/>
                          </a:solidFill>
                          <a:uFill>
                            <a:solidFill>
                              <a:srgbClr val="FFFFFF"/>
                            </a:solidFill>
                          </a:uFill>
                          <a:latin typeface="Arial"/>
                        </a:rPr>
                        <a:t>???</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800" b="0" strike="noStrike" spc="-1">
                          <a:solidFill>
                            <a:srgbClr val="000000"/>
                          </a:solidFill>
                          <a:uFill>
                            <a:solidFill>
                              <a:srgbClr val="FFFFFF"/>
                            </a:solidFill>
                          </a:uFill>
                          <a:latin typeface="Arial"/>
                        </a:rPr>
                        <a:t>1010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348120">
                <a:tc>
                  <a:txBody>
                    <a:bodyPr/>
                    <a:lstStyle/>
                    <a:p>
                      <a:r>
                        <a:rPr lang="en-US" sz="1800" b="0" strike="noStrike" spc="-1">
                          <a:solidFill>
                            <a:srgbClr val="000000"/>
                          </a:solidFill>
                          <a:uFill>
                            <a:solidFill>
                              <a:srgbClr val="FFFFFF"/>
                            </a:solidFill>
                          </a:uFill>
                          <a:latin typeface="Arial"/>
                        </a:rPr>
                        <a:t>3</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2</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1010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48120">
                <a:tc>
                  <a:txBody>
                    <a:bodyPr/>
                    <a:lstStyle/>
                    <a:p>
                      <a:r>
                        <a:rPr lang="en-US" sz="1800" b="0" strike="noStrike" spc="-1">
                          <a:solidFill>
                            <a:srgbClr val="000000"/>
                          </a:solidFill>
                          <a:uFill>
                            <a:solidFill>
                              <a:srgbClr val="FFFFFF"/>
                            </a:solidFill>
                          </a:uFill>
                          <a:latin typeface="Arial"/>
                        </a:rPr>
                        <a:t>4</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800" b="0" strike="noStrike" spc="-1">
                          <a:solidFill>
                            <a:srgbClr val="000000"/>
                          </a:solidFill>
                          <a:uFill>
                            <a:solidFill>
                              <a:srgbClr val="FFFFFF"/>
                            </a:solidFill>
                          </a:uFill>
                          <a:latin typeface="Arial"/>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800" b="0" strike="noStrike" spc="-1">
                          <a:solidFill>
                            <a:srgbClr val="000000"/>
                          </a:solidFill>
                          <a:uFill>
                            <a:solidFill>
                              <a:srgbClr val="FFFFFF"/>
                            </a:solidFill>
                          </a:uFill>
                          <a:latin typeface="Arial"/>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800" b="0" strike="noStrike" spc="-1">
                          <a:solidFill>
                            <a:srgbClr val="000000"/>
                          </a:solidFill>
                          <a:uFill>
                            <a:solidFill>
                              <a:srgbClr val="FFFFFF"/>
                            </a:solidFill>
                          </a:uFill>
                          <a:latin typeface="Arial"/>
                        </a:rPr>
                        <a:t>1010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428760">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bl>
          </a:graphicData>
        </a:graphic>
      </p:graphicFrame>
      <p:sp>
        <p:nvSpPr>
          <p:cNvPr id="240" name="CustomShape 3"/>
          <p:cNvSpPr/>
          <p:nvPr/>
        </p:nvSpPr>
        <p:spPr>
          <a:xfrm>
            <a:off x="504000" y="4232880"/>
            <a:ext cx="9070920" cy="519002"/>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The result is calculated...</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dirty="0">
                <a:solidFill>
                  <a:srgbClr val="000000"/>
                </a:solidFill>
                <a:uFill>
                  <a:solidFill>
                    <a:srgbClr val="FFFFFF"/>
                  </a:solidFill>
                </a:uFill>
                <a:latin typeface="Arial"/>
              </a:rPr>
              <a:t>Run-Time Stack of </a:t>
            </a:r>
            <a:r>
              <a:rPr lang="en-US" sz="4400" b="0" strike="noStrike" spc="-1" dirty="0" smtClean="0">
                <a:solidFill>
                  <a:srgbClr val="000000"/>
                </a:solidFill>
                <a:uFill>
                  <a:solidFill>
                    <a:srgbClr val="FFFFFF"/>
                  </a:solidFill>
                </a:uFill>
                <a:latin typeface="Arial"/>
              </a:rPr>
              <a:t/>
            </a:r>
            <a:br>
              <a:rPr lang="en-US" sz="4400" b="0" strike="noStrike" spc="-1" dirty="0" smtClean="0">
                <a:solidFill>
                  <a:srgbClr val="000000"/>
                </a:solidFill>
                <a:uFill>
                  <a:solidFill>
                    <a:srgbClr val="FFFFFF"/>
                  </a:solidFill>
                </a:uFill>
                <a:latin typeface="Arial"/>
              </a:rPr>
            </a:br>
            <a:r>
              <a:rPr lang="en-US" sz="4400" b="0" strike="noStrike" spc="-1" dirty="0" smtClean="0">
                <a:solidFill>
                  <a:srgbClr val="000000"/>
                </a:solidFill>
                <a:uFill>
                  <a:solidFill>
                    <a:srgbClr val="FFFFFF"/>
                  </a:solidFill>
                </a:uFill>
                <a:latin typeface="Arial"/>
              </a:rPr>
              <a:t>Factorial(4) (cont.)</a:t>
            </a:r>
            <a:endParaRPr lang="en-US" sz="1800" b="0" strike="noStrike" spc="-1" dirty="0">
              <a:solidFill>
                <a:srgbClr val="000000"/>
              </a:solidFill>
              <a:uFill>
                <a:solidFill>
                  <a:srgbClr val="FFFFFF"/>
                </a:solidFill>
              </a:uFill>
              <a:latin typeface="Arial"/>
            </a:endParaRPr>
          </a:p>
        </p:txBody>
      </p:sp>
      <p:graphicFrame>
        <p:nvGraphicFramePr>
          <p:cNvPr id="242" name="Table 2"/>
          <p:cNvGraphicFramePr/>
          <p:nvPr/>
        </p:nvGraphicFramePr>
        <p:xfrm>
          <a:off x="504000" y="1769040"/>
          <a:ext cx="9071280" cy="2446560"/>
        </p:xfrm>
        <a:graphic>
          <a:graphicData uri="http://schemas.openxmlformats.org/drawingml/2006/table">
            <a:tbl>
              <a:tblPr/>
              <a:tblGrid>
                <a:gridCol w="2267640"/>
                <a:gridCol w="2267640"/>
                <a:gridCol w="2267640"/>
                <a:gridCol w="2268360"/>
              </a:tblGrid>
              <a:tr h="348120">
                <a:tc>
                  <a:txBody>
                    <a:bodyPr/>
                    <a:lstStyle/>
                    <a:p>
                      <a:pPr algn="ctr">
                        <a:lnSpc>
                          <a:spcPct val="100000"/>
                        </a:lnSpc>
                      </a:pPr>
                      <a:r>
                        <a:rPr lang="en-US" sz="1800" b="0" strike="noStrike" spc="-1">
                          <a:solidFill>
                            <a:srgbClr val="000000"/>
                          </a:solidFill>
                          <a:uFill>
                            <a:solidFill>
                              <a:srgbClr val="FFFFFF"/>
                            </a:solidFill>
                          </a:uFill>
                          <a:latin typeface="Arial"/>
                        </a:rPr>
                        <a:t>Call Number</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pPr algn="ctr">
                        <a:lnSpc>
                          <a:spcPct val="100000"/>
                        </a:lnSpc>
                      </a:pPr>
                      <a:r>
                        <a:rPr lang="en-US" sz="1800" b="0" strike="noStrike" spc="-1" dirty="0">
                          <a:solidFill>
                            <a:srgbClr val="000000"/>
                          </a:solidFill>
                          <a:uFill>
                            <a:solidFill>
                              <a:srgbClr val="FFFFFF"/>
                            </a:solidFill>
                          </a:uFill>
                          <a:latin typeface="Arial"/>
                        </a:rPr>
                        <a:t>N</a:t>
                      </a:r>
                      <a:r>
                        <a:rPr lang="en-US" sz="1800" b="0" strike="noStrike" spc="-1" dirty="0" smtClean="0">
                          <a:solidFill>
                            <a:srgbClr val="000000"/>
                          </a:solidFill>
                          <a:uFill>
                            <a:solidFill>
                              <a:srgbClr val="FFFFFF"/>
                            </a:solidFill>
                          </a:uFill>
                          <a:latin typeface="Arial"/>
                        </a:rPr>
                        <a:t>umber</a:t>
                      </a:r>
                      <a:endParaRPr lang="en-US" sz="1800" b="0" strike="noStrike" spc="-1" dirty="0">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pPr algn="ctr">
                        <a:lnSpc>
                          <a:spcPct val="100000"/>
                        </a:lnSpc>
                      </a:pPr>
                      <a:r>
                        <a:rPr lang="en-US" sz="1800" b="0" strike="noStrike" spc="-1" dirty="0">
                          <a:solidFill>
                            <a:srgbClr val="000000"/>
                          </a:solidFill>
                          <a:uFill>
                            <a:solidFill>
                              <a:srgbClr val="FFFFFF"/>
                            </a:solidFill>
                          </a:uFill>
                          <a:latin typeface="Arial"/>
                        </a:rPr>
                        <a:t>R</a:t>
                      </a:r>
                      <a:r>
                        <a:rPr lang="en-US" sz="1800" b="0" strike="noStrike" spc="-1" dirty="0" smtClean="0">
                          <a:solidFill>
                            <a:srgbClr val="000000"/>
                          </a:solidFill>
                          <a:uFill>
                            <a:solidFill>
                              <a:srgbClr val="FFFFFF"/>
                            </a:solidFill>
                          </a:uFill>
                          <a:latin typeface="Arial"/>
                        </a:rPr>
                        <a:t>esult</a:t>
                      </a:r>
                      <a:endParaRPr lang="en-US" sz="1800" b="0" strike="noStrike" spc="-1" dirty="0">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pPr algn="ctr">
                        <a:lnSpc>
                          <a:spcPct val="100000"/>
                        </a:lnSpc>
                      </a:pPr>
                      <a:r>
                        <a:rPr lang="en-US" sz="1800" b="0" strike="noStrike" spc="-1">
                          <a:solidFill>
                            <a:srgbClr val="000000"/>
                          </a:solidFill>
                          <a:uFill>
                            <a:solidFill>
                              <a:srgbClr val="FFFFFF"/>
                            </a:solidFill>
                          </a:uFill>
                          <a:latin typeface="Arial"/>
                        </a:rPr>
                        <a:t>Return address</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348120">
                <a:tc>
                  <a:txBody>
                    <a:bodyPr/>
                    <a:lstStyle/>
                    <a:p>
                      <a:pPr algn="ctr">
                        <a:lnSpc>
                          <a:spcPct val="100000"/>
                        </a:lnSpc>
                      </a:pPr>
                      <a:r>
                        <a:rPr lang="en-US" sz="1800" b="0" strike="noStrike" spc="-1">
                          <a:solidFill>
                            <a:srgbClr val="000000"/>
                          </a:solidFill>
                          <a:uFill>
                            <a:solidFill>
                              <a:srgbClr val="FFFFFF"/>
                            </a:solidFill>
                          </a:uFill>
                          <a:latin typeface="Arial"/>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pPr algn="ctr">
                        <a:lnSpc>
                          <a:spcPct val="100000"/>
                        </a:lnSpc>
                      </a:pPr>
                      <a:r>
                        <a:rPr lang="en-US" sz="1800" b="0" strike="noStrike" spc="-1">
                          <a:solidFill>
                            <a:srgbClr val="000000"/>
                          </a:solidFill>
                          <a:uFill>
                            <a:solidFill>
                              <a:srgbClr val="FFFFFF"/>
                            </a:solidFill>
                          </a:uFill>
                          <a:latin typeface="Arial"/>
                        </a:rPr>
                        <a:t>4</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pPr algn="ctr">
                        <a:lnSpc>
                          <a:spcPct val="100000"/>
                        </a:lnSpc>
                      </a:pPr>
                      <a:r>
                        <a:rPr lang="en-US" sz="1800" b="0" strike="noStrike" spc="-1">
                          <a:solidFill>
                            <a:srgbClr val="000000"/>
                          </a:solidFill>
                          <a:uFill>
                            <a:solidFill>
                              <a:srgbClr val="FFFFFF"/>
                            </a:solidFill>
                          </a:uFill>
                          <a:latin typeface="Arial"/>
                        </a:rPr>
                        <a:t>24</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pPr algn="ctr">
                        <a:lnSpc>
                          <a:spcPct val="100000"/>
                        </a:lnSpc>
                      </a:pPr>
                      <a:r>
                        <a:rPr lang="en-US" sz="1800" b="0" strike="noStrike" spc="-1">
                          <a:solidFill>
                            <a:srgbClr val="000000"/>
                          </a:solidFill>
                          <a:uFill>
                            <a:solidFill>
                              <a:srgbClr val="FFFFFF"/>
                            </a:solidFill>
                          </a:uFill>
                          <a:latin typeface="Arial"/>
                        </a:rPr>
                        <a:t>5200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428760">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428760">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428760">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428760">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bl>
          </a:graphicData>
        </a:graphic>
      </p:graphicFrame>
      <p:sp>
        <p:nvSpPr>
          <p:cNvPr id="243" name="CustomShape 3"/>
          <p:cNvSpPr/>
          <p:nvPr/>
        </p:nvSpPr>
        <p:spPr>
          <a:xfrm>
            <a:off x="504000" y="4421880"/>
            <a:ext cx="9070920" cy="1918958"/>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Until (skipping a few steps) the final result is calculated (24) and returned to address 5200</a:t>
            </a:r>
            <a:endParaRPr lang="en-US" sz="1800" b="0" strike="noStrike" spc="-1" dirty="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The result is stored at </a:t>
            </a:r>
            <a:r>
              <a:rPr lang="en-US" sz="2800" b="1" strike="noStrike" spc="-1" dirty="0">
                <a:solidFill>
                  <a:srgbClr val="000000"/>
                </a:solidFill>
                <a:uFill>
                  <a:solidFill>
                    <a:srgbClr val="FFFFFF"/>
                  </a:solidFill>
                </a:uFill>
                <a:latin typeface="Courier New"/>
              </a:rPr>
              <a:t>answer</a:t>
            </a:r>
            <a:r>
              <a:rPr lang="en-US" sz="2800" b="0" strike="noStrike" spc="-1" dirty="0">
                <a:solidFill>
                  <a:srgbClr val="000000"/>
                </a:solidFill>
                <a:uFill>
                  <a:solidFill>
                    <a:srgbClr val="FFFFFF"/>
                  </a:solidFill>
                </a:uFill>
                <a:latin typeface="Courier New"/>
              </a:rPr>
              <a:t> </a:t>
            </a:r>
            <a:r>
              <a:rPr lang="en-US" sz="3200" b="0" strike="noStrike" spc="-1" dirty="0">
                <a:solidFill>
                  <a:srgbClr val="000000"/>
                </a:solidFill>
                <a:uFill>
                  <a:solidFill>
                    <a:srgbClr val="FFFFFF"/>
                  </a:solidFill>
                </a:uFill>
                <a:latin typeface="Arial"/>
              </a:rPr>
              <a:t>and the main method continues executing</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rPr>
              <a:t>Recursion Depth</a:t>
            </a:r>
            <a:endParaRPr lang="en-US" sz="1800" b="0" strike="noStrike" spc="-1">
              <a:solidFill>
                <a:srgbClr val="000000"/>
              </a:solidFill>
              <a:uFill>
                <a:solidFill>
                  <a:srgbClr val="FFFFFF"/>
                </a:solidFill>
              </a:uFill>
              <a:latin typeface="Arial"/>
            </a:endParaRPr>
          </a:p>
        </p:txBody>
      </p:sp>
      <p:sp>
        <p:nvSpPr>
          <p:cNvPr id="245"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64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rPr>
              <a:t>The number of recursive calls constitutes the </a:t>
            </a:r>
            <a:r>
              <a:rPr lang="en-US" sz="3200" b="1" strike="noStrike" spc="-1">
                <a:solidFill>
                  <a:srgbClr val="000000"/>
                </a:solidFill>
                <a:uFill>
                  <a:solidFill>
                    <a:srgbClr val="FFFFFF"/>
                  </a:solidFill>
                </a:uFill>
                <a:latin typeface="Arial"/>
              </a:rPr>
              <a:t>depth of recursion</a:t>
            </a:r>
            <a:endParaRPr lang="en-US" sz="1800" b="0" strike="noStrike" spc="-1">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rPr>
              <a:t>Since recursion is another way of performing iterations, recursion depth can be thought of in terms of Big-O notation</a:t>
            </a:r>
            <a:endParaRPr lang="en-US" sz="1800" b="0" strike="noStrike" spc="-1">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rPr>
              <a:t>The number of iterations and the recursion depth are both based on the size of the problem</a:t>
            </a:r>
            <a:endParaRPr lang="en-US" sz="1800" b="0" strike="noStrike" spc="-1">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rPr>
              <a:t>Tracing Recursive Insert</a:t>
            </a:r>
            <a:endParaRPr lang="en-US" sz="1800" b="0" strike="noStrike" spc="-1">
              <a:solidFill>
                <a:srgbClr val="000000"/>
              </a:solidFill>
              <a:uFill>
                <a:solidFill>
                  <a:srgbClr val="FFFFFF"/>
                </a:solidFill>
              </a:uFill>
              <a:latin typeface="Arial"/>
            </a:endParaRPr>
          </a:p>
        </p:txBody>
      </p:sp>
      <p:sp>
        <p:nvSpPr>
          <p:cNvPr id="247" name="CustomShape 2"/>
          <p:cNvSpPr/>
          <p:nvPr/>
        </p:nvSpPr>
        <p:spPr>
          <a:xfrm>
            <a:off x="504000" y="1769040"/>
            <a:ext cx="9070920" cy="4383720"/>
          </a:xfrm>
          <a:prstGeom prst="rect">
            <a:avLst/>
          </a:prstGeom>
          <a:solidFill>
            <a:srgbClr val="FFFFFF"/>
          </a:solidFill>
          <a:ln>
            <a:noFill/>
          </a:ln>
        </p:spPr>
        <p:style>
          <a:lnRef idx="0">
            <a:scrgbClr r="0" g="0" b="0"/>
          </a:lnRef>
          <a:fillRef idx="0">
            <a:scrgbClr r="0" g="0" b="0"/>
          </a:fillRef>
          <a:effectRef idx="0">
            <a:scrgbClr r="0" g="0" b="0"/>
          </a:effectRef>
          <a:fontRef idx="minor"/>
        </p:style>
        <p:txBody>
          <a:bodyPr lIns="0" tIns="0" rIns="0" bIns="0"/>
          <a:lstStyle/>
          <a:p>
            <a:r>
              <a:rPr lang="en-US" sz="2000" b="1" strike="noStrike" spc="-1">
                <a:solidFill>
                  <a:srgbClr val="000000"/>
                </a:solidFill>
                <a:uFill>
                  <a:solidFill>
                    <a:srgbClr val="FFFFFF"/>
                  </a:solidFill>
                </a:uFill>
                <a:latin typeface="Courier New"/>
              </a:rPr>
              <a:t>template&lt;class ItemType&gt;</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void Insert(NodeType&lt;ItemType&gt;*&amp; listPtr, ItemType item)</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  if (listPtr == NULL || item &lt; listPtr-&gt;info)</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  {</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    </a:t>
            </a:r>
            <a:r>
              <a:rPr lang="en-US" sz="2000" b="1" strike="noStrike" spc="-1">
                <a:solidFill>
                  <a:srgbClr val="2300DC"/>
                </a:solidFill>
                <a:uFill>
                  <a:solidFill>
                    <a:srgbClr val="FFFFFF"/>
                  </a:solidFill>
                </a:uFill>
                <a:latin typeface="Courier New"/>
              </a:rPr>
              <a:t>// Save current pointer.</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    NodeType&lt;ItemType&gt;* tempPtr = listPtr;</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    </a:t>
            </a:r>
            <a:r>
              <a:rPr lang="en-US" sz="2000" b="1" strike="noStrike" spc="-1">
                <a:solidFill>
                  <a:srgbClr val="2300DC"/>
                </a:solidFill>
                <a:uFill>
                  <a:solidFill>
                    <a:srgbClr val="FFFFFF"/>
                  </a:solidFill>
                </a:uFill>
                <a:latin typeface="Courier New"/>
              </a:rPr>
              <a:t>// Get new node.</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    listPtr = new NodeType&lt;ItemType&gt;;</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    listPtr-&gt;info = item;</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    listPtr-&gt;next = tempPtr;</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  }</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  else Insert(listPtr-&gt;next, item);</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a:t>
            </a:r>
            <a:endParaRPr lang="en-US" sz="1800" b="0" strike="noStrike" spc="-1">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dirty="0">
                <a:solidFill>
                  <a:srgbClr val="000000"/>
                </a:solidFill>
                <a:uFill>
                  <a:solidFill>
                    <a:srgbClr val="FFFFFF"/>
                  </a:solidFill>
                </a:uFill>
                <a:latin typeface="Arial"/>
              </a:rPr>
              <a:t>Tracing Recursive </a:t>
            </a:r>
            <a:r>
              <a:rPr lang="en-US" sz="4400" b="0" strike="noStrike" spc="-1" dirty="0" smtClean="0">
                <a:solidFill>
                  <a:srgbClr val="000000"/>
                </a:solidFill>
                <a:uFill>
                  <a:solidFill>
                    <a:srgbClr val="FFFFFF"/>
                  </a:solidFill>
                </a:uFill>
                <a:latin typeface="Arial"/>
              </a:rPr>
              <a:t>Insert (cont.)</a:t>
            </a:r>
            <a:endParaRPr lang="en-US" sz="1800" b="0" strike="noStrike" spc="-1" dirty="0">
              <a:solidFill>
                <a:srgbClr val="000000"/>
              </a:solidFill>
              <a:uFill>
                <a:solidFill>
                  <a:srgbClr val="FFFFFF"/>
                </a:solidFill>
              </a:uFill>
              <a:latin typeface="Arial"/>
            </a:endParaRPr>
          </a:p>
        </p:txBody>
      </p:sp>
      <p:graphicFrame>
        <p:nvGraphicFramePr>
          <p:cNvPr id="249" name="Table 2"/>
          <p:cNvGraphicFramePr/>
          <p:nvPr/>
        </p:nvGraphicFramePr>
        <p:xfrm>
          <a:off x="504000" y="1769040"/>
          <a:ext cx="9071280" cy="1589040"/>
        </p:xfrm>
        <a:graphic>
          <a:graphicData uri="http://schemas.openxmlformats.org/drawingml/2006/table">
            <a:tbl>
              <a:tblPr/>
              <a:tblGrid>
                <a:gridCol w="1814040"/>
                <a:gridCol w="1814040"/>
                <a:gridCol w="1814040"/>
                <a:gridCol w="1814040"/>
                <a:gridCol w="1815120"/>
              </a:tblGrid>
              <a:tr h="348120">
                <a:tc>
                  <a:txBody>
                    <a:bodyPr/>
                    <a:lstStyle/>
                    <a:p>
                      <a:r>
                        <a:rPr lang="en-US" sz="1800" b="0" strike="noStrike" spc="-1">
                          <a:solidFill>
                            <a:srgbClr val="000000"/>
                          </a:solidFill>
                          <a:uFill>
                            <a:solidFill>
                              <a:srgbClr val="FFFFFF"/>
                            </a:solidFill>
                          </a:uFill>
                          <a:latin typeface="Arial"/>
                        </a:rPr>
                        <a:t>Call number</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en-US" sz="1800" b="0" strike="noStrike" spc="-1">
                          <a:solidFill>
                            <a:srgbClr val="000000"/>
                          </a:solidFill>
                          <a:uFill>
                            <a:solidFill>
                              <a:srgbClr val="FFFFFF"/>
                            </a:solidFill>
                          </a:uFill>
                          <a:latin typeface="Arial"/>
                        </a:rPr>
                        <a:t>listPtr</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en-US" sz="1800" b="0" strike="noStrike" spc="-1">
                          <a:solidFill>
                            <a:srgbClr val="000000"/>
                          </a:solidFill>
                          <a:uFill>
                            <a:solidFill>
                              <a:srgbClr val="FFFFFF"/>
                            </a:solidFill>
                          </a:uFill>
                          <a:latin typeface="Arial"/>
                        </a:rPr>
                        <a:t>item</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en-US" sz="1800" b="0" strike="noStrike" spc="-1">
                          <a:solidFill>
                            <a:srgbClr val="000000"/>
                          </a:solidFill>
                          <a:uFill>
                            <a:solidFill>
                              <a:srgbClr val="FFFFFF"/>
                            </a:solidFill>
                          </a:uFill>
                          <a:latin typeface="Arial"/>
                        </a:rPr>
                        <a:t>tempPtr</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en-US" sz="1800" b="0" strike="noStrike" spc="-1">
                          <a:solidFill>
                            <a:srgbClr val="000000"/>
                          </a:solidFill>
                          <a:uFill>
                            <a:solidFill>
                              <a:srgbClr val="FFFFFF"/>
                            </a:solidFill>
                          </a:uFill>
                          <a:latin typeface="Arial"/>
                        </a:rPr>
                        <a:t>returnAddr</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348120">
                <a:tc>
                  <a:txBody>
                    <a:bodyPr/>
                    <a:lstStyle/>
                    <a:p>
                      <a:r>
                        <a:rPr lang="en-US" sz="1800" b="0" strike="noStrike" spc="-1">
                          <a:solidFill>
                            <a:srgbClr val="000000"/>
                          </a:solidFill>
                          <a:uFill>
                            <a:solidFill>
                              <a:srgbClr val="FFFFFF"/>
                            </a:solidFill>
                          </a:uFill>
                          <a:latin typeface="Arial"/>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010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11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R0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428760">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428760">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bl>
          </a:graphicData>
        </a:graphic>
      </p:graphicFrame>
      <p:sp>
        <p:nvSpPr>
          <p:cNvPr id="250" name="CustomShape 3"/>
          <p:cNvSpPr/>
          <p:nvPr/>
        </p:nvSpPr>
        <p:spPr>
          <a:xfrm>
            <a:off x="504000" y="3564360"/>
            <a:ext cx="9070920" cy="1562276"/>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640">
              <a:lnSpc>
                <a:spcPct val="100000"/>
              </a:lnSpc>
              <a:buClr>
                <a:srgbClr val="000000"/>
              </a:buClr>
              <a:buSzPct val="45000"/>
              <a:buFont typeface="Wingdings" charset="2"/>
              <a:buChar char=""/>
            </a:pPr>
            <a:r>
              <a:rPr lang="en-US" sz="3200" b="0" strike="noStrike" spc="-1" dirty="0" err="1">
                <a:solidFill>
                  <a:srgbClr val="000000"/>
                </a:solidFill>
                <a:uFill>
                  <a:solidFill>
                    <a:srgbClr val="FFFFFF"/>
                  </a:solidFill>
                </a:uFill>
                <a:latin typeface="Arial"/>
              </a:rPr>
              <a:t>listPtr</a:t>
            </a:r>
            <a:r>
              <a:rPr lang="en-US" sz="3200" b="0" strike="noStrike" spc="-1" dirty="0">
                <a:solidFill>
                  <a:srgbClr val="000000"/>
                </a:solidFill>
                <a:uFill>
                  <a:solidFill>
                    <a:srgbClr val="FFFFFF"/>
                  </a:solidFill>
                </a:uFill>
                <a:latin typeface="Arial"/>
              </a:rPr>
              <a:t> points to the list [7, 9, 13, 20]</a:t>
            </a:r>
            <a:endParaRPr lang="en-US" sz="1800" b="0" strike="noStrike" spc="-1" dirty="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Call: Insert(</a:t>
            </a:r>
            <a:r>
              <a:rPr lang="en-US" sz="3200" b="0" strike="noStrike" spc="-1" dirty="0" err="1">
                <a:solidFill>
                  <a:srgbClr val="000000"/>
                </a:solidFill>
                <a:uFill>
                  <a:solidFill>
                    <a:srgbClr val="FFFFFF"/>
                  </a:solidFill>
                </a:uFill>
                <a:latin typeface="Arial"/>
              </a:rPr>
              <a:t>listPtr</a:t>
            </a:r>
            <a:r>
              <a:rPr lang="en-US" sz="3200" b="0" strike="noStrike" spc="-1" dirty="0">
                <a:solidFill>
                  <a:srgbClr val="000000"/>
                </a:solidFill>
                <a:uFill>
                  <a:solidFill>
                    <a:srgbClr val="FFFFFF"/>
                  </a:solidFill>
                </a:uFill>
                <a:latin typeface="Arial"/>
              </a:rPr>
              <a:t>, 11)</a:t>
            </a:r>
            <a:endParaRPr lang="en-US" sz="1800" b="0" strike="noStrike" spc="-1" dirty="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11 &gt; 7, so we drop into the else statement</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dirty="0">
                <a:solidFill>
                  <a:srgbClr val="000000"/>
                </a:solidFill>
                <a:uFill>
                  <a:solidFill>
                    <a:srgbClr val="FFFFFF"/>
                  </a:solidFill>
                </a:uFill>
                <a:latin typeface="Arial"/>
              </a:rPr>
              <a:t>Tracing Recursive </a:t>
            </a:r>
            <a:r>
              <a:rPr lang="en-US" sz="4400" b="0" strike="noStrike" spc="-1" dirty="0" smtClean="0">
                <a:solidFill>
                  <a:srgbClr val="000000"/>
                </a:solidFill>
                <a:uFill>
                  <a:solidFill>
                    <a:srgbClr val="FFFFFF"/>
                  </a:solidFill>
                </a:uFill>
                <a:latin typeface="Arial"/>
              </a:rPr>
              <a:t>Insert (cont.)</a:t>
            </a:r>
            <a:endParaRPr lang="en-US" sz="1800" b="0" strike="noStrike" spc="-1" dirty="0">
              <a:solidFill>
                <a:srgbClr val="000000"/>
              </a:solidFill>
              <a:uFill>
                <a:solidFill>
                  <a:srgbClr val="FFFFFF"/>
                </a:solidFill>
              </a:uFill>
              <a:latin typeface="Arial"/>
            </a:endParaRPr>
          </a:p>
        </p:txBody>
      </p:sp>
      <p:graphicFrame>
        <p:nvGraphicFramePr>
          <p:cNvPr id="252" name="Table 2"/>
          <p:cNvGraphicFramePr/>
          <p:nvPr/>
        </p:nvGraphicFramePr>
        <p:xfrm>
          <a:off x="504000" y="1769040"/>
          <a:ext cx="9071280" cy="1526040"/>
        </p:xfrm>
        <a:graphic>
          <a:graphicData uri="http://schemas.openxmlformats.org/drawingml/2006/table">
            <a:tbl>
              <a:tblPr/>
              <a:tblGrid>
                <a:gridCol w="1814040"/>
                <a:gridCol w="1814040"/>
                <a:gridCol w="1814040"/>
                <a:gridCol w="1814040"/>
                <a:gridCol w="1815120"/>
              </a:tblGrid>
              <a:tr h="348120">
                <a:tc>
                  <a:txBody>
                    <a:bodyPr/>
                    <a:lstStyle/>
                    <a:p>
                      <a:r>
                        <a:rPr lang="en-US" sz="1800" b="0" strike="noStrike" spc="-1" dirty="0">
                          <a:solidFill>
                            <a:srgbClr val="000000"/>
                          </a:solidFill>
                          <a:uFill>
                            <a:solidFill>
                              <a:srgbClr val="FFFFFF"/>
                            </a:solidFill>
                          </a:uFill>
                          <a:latin typeface="Arial"/>
                        </a:rPr>
                        <a:t>Call number</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en-US" sz="1800" b="0" strike="noStrike" spc="-1">
                          <a:solidFill>
                            <a:srgbClr val="000000"/>
                          </a:solidFill>
                          <a:uFill>
                            <a:solidFill>
                              <a:srgbClr val="FFFFFF"/>
                            </a:solidFill>
                          </a:uFill>
                          <a:latin typeface="Arial"/>
                        </a:rPr>
                        <a:t>listPtr</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en-US" sz="1800" b="0" strike="noStrike" spc="-1">
                          <a:solidFill>
                            <a:srgbClr val="000000"/>
                          </a:solidFill>
                          <a:uFill>
                            <a:solidFill>
                              <a:srgbClr val="FFFFFF"/>
                            </a:solidFill>
                          </a:uFill>
                          <a:latin typeface="Arial"/>
                        </a:rPr>
                        <a:t>item</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en-US" sz="1800" b="0" strike="noStrike" spc="-1">
                          <a:solidFill>
                            <a:srgbClr val="000000"/>
                          </a:solidFill>
                          <a:uFill>
                            <a:solidFill>
                              <a:srgbClr val="FFFFFF"/>
                            </a:solidFill>
                          </a:uFill>
                          <a:latin typeface="Arial"/>
                        </a:rPr>
                        <a:t>tempPtr</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en-US" sz="1800" b="0" strike="noStrike" spc="-1">
                          <a:solidFill>
                            <a:srgbClr val="000000"/>
                          </a:solidFill>
                          <a:uFill>
                            <a:solidFill>
                              <a:srgbClr val="FFFFFF"/>
                            </a:solidFill>
                          </a:uFill>
                          <a:latin typeface="Arial"/>
                        </a:rPr>
                        <a:t>returnAddr</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348120">
                <a:tc>
                  <a:txBody>
                    <a:bodyPr/>
                    <a:lstStyle/>
                    <a:p>
                      <a:r>
                        <a:rPr lang="en-US" sz="1800" b="0" strike="noStrike" spc="-1">
                          <a:solidFill>
                            <a:srgbClr val="000000"/>
                          </a:solidFill>
                          <a:uFill>
                            <a:solidFill>
                              <a:srgbClr val="FFFFFF"/>
                            </a:solidFill>
                          </a:uFill>
                          <a:latin typeface="Arial"/>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010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11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R0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48120">
                <a:tc>
                  <a:txBody>
                    <a:bodyPr/>
                    <a:lstStyle/>
                    <a:p>
                      <a:r>
                        <a:rPr lang="en-US" sz="1800" b="0" strike="noStrike" spc="-1">
                          <a:solidFill>
                            <a:srgbClr val="000000"/>
                          </a:solidFill>
                          <a:uFill>
                            <a:solidFill>
                              <a:srgbClr val="FFFFFF"/>
                            </a:solidFill>
                          </a:uFill>
                          <a:latin typeface="Arial"/>
                        </a:rPr>
                        <a:t>2</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800" b="0" strike="noStrike" spc="-1">
                          <a:solidFill>
                            <a:srgbClr val="000000"/>
                          </a:solidFill>
                          <a:uFill>
                            <a:solidFill>
                              <a:srgbClr val="FFFFFF"/>
                            </a:solidFill>
                          </a:uFill>
                          <a:latin typeface="Arial"/>
                        </a:rPr>
                        <a:t>014</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800" b="0" strike="noStrike" spc="-1">
                          <a:solidFill>
                            <a:srgbClr val="000000"/>
                          </a:solidFill>
                          <a:uFill>
                            <a:solidFill>
                              <a:srgbClr val="FFFFFF"/>
                            </a:solidFill>
                          </a:uFill>
                          <a:latin typeface="Arial"/>
                        </a:rPr>
                        <a:t>11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800" b="0" strike="noStrike" spc="-1">
                          <a:solidFill>
                            <a:srgbClr val="000000"/>
                          </a:solidFill>
                          <a:uFill>
                            <a:solidFill>
                              <a:srgbClr val="FFFFFF"/>
                            </a:solidFill>
                          </a:uFill>
                          <a:latin typeface="Arial"/>
                        </a:rPr>
                        <a:t>???</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800" b="0" strike="noStrike" spc="-1">
                          <a:solidFill>
                            <a:srgbClr val="000000"/>
                          </a:solidFill>
                          <a:uFill>
                            <a:solidFill>
                              <a:srgbClr val="FFFFFF"/>
                            </a:solidFill>
                          </a:uFill>
                          <a:latin typeface="Arial"/>
                        </a:rPr>
                        <a:t>R1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428760">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endParaRPr lang="en-US"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bl>
          </a:graphicData>
        </a:graphic>
      </p:graphicFrame>
      <p:sp>
        <p:nvSpPr>
          <p:cNvPr id="253" name="CustomShape 3"/>
          <p:cNvSpPr/>
          <p:nvPr/>
        </p:nvSpPr>
        <p:spPr>
          <a:xfrm>
            <a:off x="504000" y="3501360"/>
            <a:ext cx="8699961" cy="1415415"/>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640">
              <a:lnSpc>
                <a:spcPct val="100000"/>
              </a:lnSpc>
              <a:buClr>
                <a:srgbClr val="000000"/>
              </a:buClr>
              <a:buSzPct val="45000"/>
              <a:buFont typeface="Wingdings" charset="2"/>
              <a:buChar char=""/>
            </a:pPr>
            <a:r>
              <a:rPr lang="en-US" sz="3200" b="0" strike="noStrike" spc="-1" dirty="0" err="1">
                <a:solidFill>
                  <a:srgbClr val="000000"/>
                </a:solidFill>
                <a:uFill>
                  <a:solidFill>
                    <a:srgbClr val="FFFFFF"/>
                  </a:solidFill>
                </a:uFill>
                <a:latin typeface="Arial"/>
              </a:rPr>
              <a:t>listPtr</a:t>
            </a:r>
            <a:r>
              <a:rPr lang="en-US" sz="3200" b="0" strike="noStrike" spc="-1" dirty="0">
                <a:solidFill>
                  <a:srgbClr val="000000"/>
                </a:solidFill>
                <a:uFill>
                  <a:solidFill>
                    <a:srgbClr val="FFFFFF"/>
                  </a:solidFill>
                </a:uFill>
                <a:latin typeface="Arial"/>
              </a:rPr>
              <a:t> points to the list [9, 13, 20]</a:t>
            </a:r>
            <a:endParaRPr lang="en-US" sz="1800" b="0" strike="noStrike" spc="-1" dirty="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11 &gt; 9, so continue to the next call</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dirty="0">
                <a:solidFill>
                  <a:srgbClr val="000000"/>
                </a:solidFill>
                <a:uFill>
                  <a:solidFill>
                    <a:srgbClr val="FFFFFF"/>
                  </a:solidFill>
                </a:uFill>
                <a:latin typeface="Arial"/>
              </a:rPr>
              <a:t>Tracing Recursive </a:t>
            </a:r>
            <a:r>
              <a:rPr lang="en-US" sz="4400" b="0" strike="noStrike" spc="-1" dirty="0" smtClean="0">
                <a:solidFill>
                  <a:srgbClr val="000000"/>
                </a:solidFill>
                <a:uFill>
                  <a:solidFill>
                    <a:srgbClr val="FFFFFF"/>
                  </a:solidFill>
                </a:uFill>
                <a:latin typeface="Arial"/>
              </a:rPr>
              <a:t>Insert (cont.)</a:t>
            </a:r>
            <a:endParaRPr lang="en-US" sz="1800" b="0" strike="noStrike" spc="-1" dirty="0">
              <a:solidFill>
                <a:srgbClr val="000000"/>
              </a:solidFill>
              <a:uFill>
                <a:solidFill>
                  <a:srgbClr val="FFFFFF"/>
                </a:solidFill>
              </a:uFill>
              <a:latin typeface="Arial"/>
            </a:endParaRPr>
          </a:p>
        </p:txBody>
      </p:sp>
      <p:graphicFrame>
        <p:nvGraphicFramePr>
          <p:cNvPr id="255" name="Table 2"/>
          <p:cNvGraphicFramePr/>
          <p:nvPr/>
        </p:nvGraphicFramePr>
        <p:xfrm>
          <a:off x="504000" y="1769040"/>
          <a:ext cx="9071280" cy="1463040"/>
        </p:xfrm>
        <a:graphic>
          <a:graphicData uri="http://schemas.openxmlformats.org/drawingml/2006/table">
            <a:tbl>
              <a:tblPr/>
              <a:tblGrid>
                <a:gridCol w="1814040"/>
                <a:gridCol w="1814040"/>
                <a:gridCol w="1814040"/>
                <a:gridCol w="1814040"/>
                <a:gridCol w="1815120"/>
              </a:tblGrid>
              <a:tr h="348120">
                <a:tc>
                  <a:txBody>
                    <a:bodyPr/>
                    <a:lstStyle/>
                    <a:p>
                      <a:r>
                        <a:rPr lang="en-US" sz="1800" b="0" strike="noStrike" spc="-1">
                          <a:solidFill>
                            <a:srgbClr val="000000"/>
                          </a:solidFill>
                          <a:uFill>
                            <a:solidFill>
                              <a:srgbClr val="FFFFFF"/>
                            </a:solidFill>
                          </a:uFill>
                          <a:latin typeface="Arial"/>
                        </a:rPr>
                        <a:t>Call number</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en-US" sz="1800" b="0" strike="noStrike" spc="-1">
                          <a:solidFill>
                            <a:srgbClr val="000000"/>
                          </a:solidFill>
                          <a:uFill>
                            <a:solidFill>
                              <a:srgbClr val="FFFFFF"/>
                            </a:solidFill>
                          </a:uFill>
                          <a:latin typeface="Arial"/>
                        </a:rPr>
                        <a:t>listPtr</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en-US" sz="1800" b="0" strike="noStrike" spc="-1">
                          <a:solidFill>
                            <a:srgbClr val="000000"/>
                          </a:solidFill>
                          <a:uFill>
                            <a:solidFill>
                              <a:srgbClr val="FFFFFF"/>
                            </a:solidFill>
                          </a:uFill>
                          <a:latin typeface="Arial"/>
                        </a:rPr>
                        <a:t>item</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en-US" sz="1800" b="0" strike="noStrike" spc="-1">
                          <a:solidFill>
                            <a:srgbClr val="000000"/>
                          </a:solidFill>
                          <a:uFill>
                            <a:solidFill>
                              <a:srgbClr val="FFFFFF"/>
                            </a:solidFill>
                          </a:uFill>
                          <a:latin typeface="Arial"/>
                        </a:rPr>
                        <a:t>tempPtr</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en-US" sz="1800" b="0" strike="noStrike" spc="-1">
                          <a:solidFill>
                            <a:srgbClr val="000000"/>
                          </a:solidFill>
                          <a:uFill>
                            <a:solidFill>
                              <a:srgbClr val="FFFFFF"/>
                            </a:solidFill>
                          </a:uFill>
                          <a:latin typeface="Arial"/>
                        </a:rPr>
                        <a:t>returnAddr</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348120">
                <a:tc>
                  <a:txBody>
                    <a:bodyPr/>
                    <a:lstStyle/>
                    <a:p>
                      <a:r>
                        <a:rPr lang="en-US" sz="1800" b="0" strike="noStrike" spc="-1">
                          <a:solidFill>
                            <a:srgbClr val="000000"/>
                          </a:solidFill>
                          <a:uFill>
                            <a:solidFill>
                              <a:srgbClr val="FFFFFF"/>
                            </a:solidFill>
                          </a:uFill>
                          <a:latin typeface="Arial"/>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010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11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R0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48120">
                <a:tc>
                  <a:txBody>
                    <a:bodyPr/>
                    <a:lstStyle/>
                    <a:p>
                      <a:r>
                        <a:rPr lang="en-US" sz="1800" b="0" strike="noStrike" spc="-1">
                          <a:solidFill>
                            <a:srgbClr val="000000"/>
                          </a:solidFill>
                          <a:uFill>
                            <a:solidFill>
                              <a:srgbClr val="FFFFFF"/>
                            </a:solidFill>
                          </a:uFill>
                          <a:latin typeface="Arial"/>
                        </a:rPr>
                        <a:t>2</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800" b="0" strike="noStrike" spc="-1">
                          <a:solidFill>
                            <a:srgbClr val="000000"/>
                          </a:solidFill>
                          <a:uFill>
                            <a:solidFill>
                              <a:srgbClr val="FFFFFF"/>
                            </a:solidFill>
                          </a:uFill>
                          <a:latin typeface="Arial"/>
                        </a:rPr>
                        <a:t>014</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800" b="0" strike="noStrike" spc="-1">
                          <a:solidFill>
                            <a:srgbClr val="000000"/>
                          </a:solidFill>
                          <a:uFill>
                            <a:solidFill>
                              <a:srgbClr val="FFFFFF"/>
                            </a:solidFill>
                          </a:uFill>
                          <a:latin typeface="Arial"/>
                        </a:rPr>
                        <a:t>11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800" b="0" strike="noStrike" spc="-1">
                          <a:solidFill>
                            <a:srgbClr val="000000"/>
                          </a:solidFill>
                          <a:uFill>
                            <a:solidFill>
                              <a:srgbClr val="FFFFFF"/>
                            </a:solidFill>
                          </a:uFill>
                          <a:latin typeface="Arial"/>
                        </a:rPr>
                        <a:t>???</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800" b="0" strike="noStrike" spc="-1">
                          <a:solidFill>
                            <a:srgbClr val="000000"/>
                          </a:solidFill>
                          <a:uFill>
                            <a:solidFill>
                              <a:srgbClr val="FFFFFF"/>
                            </a:solidFill>
                          </a:uFill>
                          <a:latin typeface="Arial"/>
                        </a:rPr>
                        <a:t>R1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348120">
                <a:tc>
                  <a:txBody>
                    <a:bodyPr/>
                    <a:lstStyle/>
                    <a:p>
                      <a:r>
                        <a:rPr lang="en-US" sz="1800" b="0" strike="noStrike" spc="-1">
                          <a:solidFill>
                            <a:srgbClr val="000000"/>
                          </a:solidFill>
                          <a:uFill>
                            <a:solidFill>
                              <a:srgbClr val="FFFFFF"/>
                            </a:solidFill>
                          </a:uFill>
                          <a:latin typeface="Arial"/>
                        </a:rPr>
                        <a:t>3</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018</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11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020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800" b="0" strike="noStrike" spc="-1">
                          <a:solidFill>
                            <a:srgbClr val="000000"/>
                          </a:solidFill>
                          <a:uFill>
                            <a:solidFill>
                              <a:srgbClr val="FFFFFF"/>
                            </a:solidFill>
                          </a:uFill>
                          <a:latin typeface="Arial"/>
                        </a:rPr>
                        <a:t>R2</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bl>
          </a:graphicData>
        </a:graphic>
      </p:graphicFrame>
      <p:sp>
        <p:nvSpPr>
          <p:cNvPr id="256" name="CustomShape 3"/>
          <p:cNvSpPr/>
          <p:nvPr/>
        </p:nvSpPr>
        <p:spPr>
          <a:xfrm>
            <a:off x="504000" y="3438360"/>
            <a:ext cx="9070920" cy="2152971"/>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640">
              <a:lnSpc>
                <a:spcPct val="100000"/>
              </a:lnSpc>
              <a:buClr>
                <a:srgbClr val="000000"/>
              </a:buClr>
              <a:buSzPct val="45000"/>
              <a:buFont typeface="Wingdings" charset="2"/>
              <a:buChar char=""/>
            </a:pPr>
            <a:r>
              <a:rPr lang="en-US" sz="3200" b="0" strike="noStrike" spc="-1" dirty="0" err="1">
                <a:solidFill>
                  <a:srgbClr val="000000"/>
                </a:solidFill>
                <a:uFill>
                  <a:solidFill>
                    <a:srgbClr val="FFFFFF"/>
                  </a:solidFill>
                </a:uFill>
                <a:latin typeface="Arial"/>
              </a:rPr>
              <a:t>listPtr</a:t>
            </a:r>
            <a:r>
              <a:rPr lang="en-US" sz="3200" b="0" strike="noStrike" spc="-1" dirty="0">
                <a:solidFill>
                  <a:srgbClr val="000000"/>
                </a:solidFill>
                <a:uFill>
                  <a:solidFill>
                    <a:srgbClr val="FFFFFF"/>
                  </a:solidFill>
                </a:uFill>
                <a:latin typeface="Arial"/>
              </a:rPr>
              <a:t> points to the list [9, 13, 20]</a:t>
            </a:r>
            <a:endParaRPr lang="en-US" sz="1800" b="0" strike="noStrike" spc="-1" dirty="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11 &lt; 13, so the element is inserted</a:t>
            </a:r>
            <a:endParaRPr lang="en-US" sz="1800" b="0" strike="noStrike" spc="-1" dirty="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The stack will then unwind and return to the original caller</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dirty="0">
                <a:solidFill>
                  <a:srgbClr val="000000"/>
                </a:solidFill>
                <a:uFill>
                  <a:solidFill>
                    <a:srgbClr val="FFFFFF"/>
                  </a:solidFill>
                </a:uFill>
                <a:latin typeface="Arial"/>
              </a:rPr>
              <a:t>Tracing Recursive </a:t>
            </a:r>
            <a:r>
              <a:rPr lang="en-US" sz="4400" b="0" strike="noStrike" spc="-1" dirty="0" smtClean="0">
                <a:solidFill>
                  <a:srgbClr val="000000"/>
                </a:solidFill>
                <a:uFill>
                  <a:solidFill>
                    <a:srgbClr val="FFFFFF"/>
                  </a:solidFill>
                </a:uFill>
                <a:latin typeface="Arial"/>
              </a:rPr>
              <a:t>Insert (cont.)</a:t>
            </a:r>
            <a:endParaRPr lang="en-US" sz="1800" b="0" strike="noStrike" spc="-1" dirty="0">
              <a:solidFill>
                <a:srgbClr val="000000"/>
              </a:solidFill>
              <a:uFill>
                <a:solidFill>
                  <a:srgbClr val="FFFFFF"/>
                </a:solidFill>
              </a:uFill>
              <a:latin typeface="Arial"/>
            </a:endParaRPr>
          </a:p>
        </p:txBody>
      </p:sp>
      <p:sp>
        <p:nvSpPr>
          <p:cNvPr id="258"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r>
              <a:rPr lang="en-US" sz="3200" b="0" strike="noStrike" spc="-1" dirty="0">
                <a:solidFill>
                  <a:srgbClr val="000000"/>
                </a:solidFill>
                <a:uFill>
                  <a:solidFill>
                    <a:srgbClr val="FFFFFF"/>
                  </a:solidFill>
                </a:uFill>
                <a:latin typeface="Arial"/>
              </a:rPr>
              <a:t>Before the recursive call, the list looked like:</a:t>
            </a:r>
            <a:endParaRPr lang="en-US" sz="1800" b="0" strike="noStrike" spc="-1" dirty="0">
              <a:solidFill>
                <a:srgbClr val="000000"/>
              </a:solidFill>
              <a:uFill>
                <a:solidFill>
                  <a:srgbClr val="FFFFFF"/>
                </a:solidFill>
              </a:uFill>
              <a:latin typeface="Arial"/>
            </a:endParaRPr>
          </a:p>
          <a:p>
            <a:r>
              <a:rPr lang="en-US" sz="3200" b="0" strike="noStrike" spc="-1" dirty="0">
                <a:solidFill>
                  <a:srgbClr val="000000"/>
                </a:solidFill>
                <a:uFill>
                  <a:solidFill>
                    <a:srgbClr val="FFFFFF"/>
                  </a:solidFill>
                </a:uFill>
                <a:latin typeface="Arial"/>
              </a:rPr>
              <a:t>Insert the image of the list at the bottom of page 465 </a:t>
            </a:r>
            <a:r>
              <a:rPr lang="en-US" sz="3200" b="0" strike="noStrike" spc="-1" dirty="0" smtClean="0">
                <a:solidFill>
                  <a:srgbClr val="000000"/>
                </a:solidFill>
                <a:uFill>
                  <a:solidFill>
                    <a:srgbClr val="FFFFFF"/>
                  </a:solidFill>
                </a:uFill>
                <a:latin typeface="Arial"/>
              </a:rPr>
              <a:t>here</a:t>
            </a:r>
          </a:p>
          <a:p>
            <a:endParaRPr lang="en-US" sz="1800" b="0" strike="noStrike" spc="-1" dirty="0" smtClean="0">
              <a:solidFill>
                <a:srgbClr val="000000"/>
              </a:solidFill>
              <a:uFill>
                <a:solidFill>
                  <a:srgbClr val="FFFFFF"/>
                </a:solidFill>
              </a:uFill>
              <a:latin typeface="Arial"/>
            </a:endParaRPr>
          </a:p>
          <a:p>
            <a:r>
              <a:rPr lang="en-US" sz="3200" b="0" strike="noStrike" spc="-1" dirty="0">
                <a:solidFill>
                  <a:srgbClr val="000000"/>
                </a:solidFill>
                <a:uFill>
                  <a:solidFill>
                    <a:srgbClr val="FFFFFF"/>
                  </a:solidFill>
                </a:uFill>
                <a:latin typeface="Arial"/>
              </a:rPr>
              <a:t>During call 3, </a:t>
            </a:r>
            <a:r>
              <a:rPr lang="en-US" sz="3200" b="0" strike="noStrike" spc="-1" dirty="0" err="1">
                <a:solidFill>
                  <a:srgbClr val="000000"/>
                </a:solidFill>
                <a:uFill>
                  <a:solidFill>
                    <a:srgbClr val="FFFFFF"/>
                  </a:solidFill>
                </a:uFill>
                <a:latin typeface="Arial"/>
              </a:rPr>
              <a:t>listPtr</a:t>
            </a:r>
            <a:r>
              <a:rPr lang="en-US" sz="3200" b="0" strike="noStrike" spc="-1" dirty="0">
                <a:solidFill>
                  <a:srgbClr val="000000"/>
                </a:solidFill>
                <a:uFill>
                  <a:solidFill>
                    <a:srgbClr val="FFFFFF"/>
                  </a:solidFill>
                </a:uFill>
                <a:latin typeface="Arial"/>
              </a:rPr>
              <a:t> and </a:t>
            </a:r>
            <a:r>
              <a:rPr lang="en-US" sz="3200" b="0" strike="noStrike" spc="-1" dirty="0" err="1">
                <a:solidFill>
                  <a:srgbClr val="000000"/>
                </a:solidFill>
                <a:uFill>
                  <a:solidFill>
                    <a:srgbClr val="FFFFFF"/>
                  </a:solidFill>
                </a:uFill>
                <a:latin typeface="Arial"/>
              </a:rPr>
              <a:t>tempPtr</a:t>
            </a:r>
            <a:r>
              <a:rPr lang="en-US" sz="3200" b="0" strike="noStrike" spc="-1" dirty="0">
                <a:solidFill>
                  <a:srgbClr val="000000"/>
                </a:solidFill>
                <a:uFill>
                  <a:solidFill>
                    <a:srgbClr val="FFFFFF"/>
                  </a:solidFill>
                </a:uFill>
                <a:latin typeface="Arial"/>
              </a:rPr>
              <a:t> point to:</a:t>
            </a:r>
            <a:endParaRPr lang="en-US" sz="1800" b="0" strike="noStrike" spc="-1" dirty="0">
              <a:solidFill>
                <a:srgbClr val="000000"/>
              </a:solidFill>
              <a:uFill>
                <a:solidFill>
                  <a:srgbClr val="FFFFFF"/>
                </a:solidFill>
              </a:uFill>
              <a:latin typeface="Arial"/>
            </a:endParaRPr>
          </a:p>
          <a:p>
            <a:r>
              <a:rPr lang="en-US" sz="3200" b="0" strike="noStrike" spc="-1" dirty="0">
                <a:solidFill>
                  <a:srgbClr val="000000"/>
                </a:solidFill>
                <a:uFill>
                  <a:solidFill>
                    <a:srgbClr val="FFFFFF"/>
                  </a:solidFill>
                </a:uFill>
                <a:latin typeface="Arial"/>
              </a:rPr>
              <a:t>Insert the image in the middle of page 467 here</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rPr>
              <a:t>Recursive Quick Sort</a:t>
            </a:r>
            <a:endParaRPr lang="en-US" sz="1800" b="0" strike="noStrike" spc="-1">
              <a:solidFill>
                <a:srgbClr val="000000"/>
              </a:solidFill>
              <a:uFill>
                <a:solidFill>
                  <a:srgbClr val="FFFFFF"/>
                </a:solidFill>
              </a:uFill>
              <a:latin typeface="Arial"/>
            </a:endParaRPr>
          </a:p>
        </p:txBody>
      </p:sp>
      <p:sp>
        <p:nvSpPr>
          <p:cNvPr id="260"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Quick Sort is an algorithm inspired by the idea that it is easier to sort two smaller lists than one large one: “divide and </a:t>
            </a:r>
            <a:r>
              <a:rPr lang="en-US" sz="3200" b="0" strike="noStrike" spc="-1" dirty="0" smtClean="0">
                <a:solidFill>
                  <a:srgbClr val="000000"/>
                </a:solidFill>
                <a:uFill>
                  <a:solidFill>
                    <a:srgbClr val="FFFFFF"/>
                  </a:solidFill>
                </a:uFill>
                <a:latin typeface="Arial"/>
              </a:rPr>
              <a:t>conquer.”</a:t>
            </a:r>
            <a:endParaRPr lang="en-US" sz="1800" b="0" strike="noStrike" spc="-1" dirty="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This is a recursive strategy. The list is continually split into smaller lists, which are then passed to Quick Sort again.</a:t>
            </a:r>
            <a:endParaRPr lang="en-US" sz="1800" b="0" strike="noStrike" spc="-1" dirty="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Recursion stops when the lists cannot be split, i.e</a:t>
            </a:r>
            <a:r>
              <a:rPr lang="en-US" sz="3200" b="0" strike="noStrike" spc="-1" dirty="0" smtClean="0">
                <a:solidFill>
                  <a:srgbClr val="000000"/>
                </a:solidFill>
                <a:uFill>
                  <a:solidFill>
                    <a:srgbClr val="FFFFFF"/>
                  </a:solidFill>
                </a:uFill>
                <a:latin typeface="Arial"/>
              </a:rPr>
              <a:t>., </a:t>
            </a:r>
            <a:r>
              <a:rPr lang="en-US" sz="3200" b="0" strike="noStrike" spc="-1" dirty="0">
                <a:solidFill>
                  <a:srgbClr val="000000"/>
                </a:solidFill>
                <a:uFill>
                  <a:solidFill>
                    <a:srgbClr val="FFFFFF"/>
                  </a:solidFill>
                </a:uFill>
                <a:latin typeface="Arial"/>
              </a:rPr>
              <a:t>there is only one or zero elements left.</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rPr>
              <a:t>Quick Sort Algorithm</a:t>
            </a:r>
            <a:endParaRPr lang="en-US" sz="1800" b="0" strike="noStrike" spc="-1">
              <a:solidFill>
                <a:srgbClr val="000000"/>
              </a:solidFill>
              <a:uFill>
                <a:solidFill>
                  <a:srgbClr val="FFFFFF"/>
                </a:solidFill>
              </a:uFill>
              <a:latin typeface="Arial"/>
            </a:endParaRPr>
          </a:p>
        </p:txBody>
      </p:sp>
      <p:sp>
        <p:nvSpPr>
          <p:cNvPr id="262"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64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rPr>
              <a:t>If there is more than one element in the list:</a:t>
            </a:r>
            <a:endParaRPr lang="en-US" sz="1800" b="0" strike="noStrike" spc="-1">
              <a:solidFill>
                <a:srgbClr val="000000"/>
              </a:solidFill>
              <a:uFill>
                <a:solidFill>
                  <a:srgbClr val="FFFFFF"/>
                </a:solidFill>
              </a:uFill>
              <a:latin typeface="Arial"/>
            </a:endParaRPr>
          </a:p>
          <a:p>
            <a:pPr marL="864000" lvl="1" indent="-323640">
              <a:lnSpc>
                <a:spcPct val="100000"/>
              </a:lnSpc>
              <a:buClr>
                <a:srgbClr val="000000"/>
              </a:buClr>
              <a:buSzPct val="75000"/>
              <a:buFont typeface="Symbol"/>
              <a:buChar char=""/>
            </a:pPr>
            <a:r>
              <a:rPr lang="en-US" sz="2800" b="0" strike="noStrike" spc="-1">
                <a:solidFill>
                  <a:srgbClr val="000000"/>
                </a:solidFill>
                <a:uFill>
                  <a:solidFill>
                    <a:srgbClr val="FFFFFF"/>
                  </a:solidFill>
                </a:uFill>
                <a:latin typeface="Arial"/>
              </a:rPr>
              <a:t>Select a value to split the list on (splitVal)</a:t>
            </a:r>
            <a:endParaRPr lang="en-US" sz="1800" b="0" strike="noStrike" spc="-1">
              <a:solidFill>
                <a:srgbClr val="000000"/>
              </a:solidFill>
              <a:uFill>
                <a:solidFill>
                  <a:srgbClr val="FFFFFF"/>
                </a:solidFill>
              </a:uFill>
              <a:latin typeface="Arial"/>
            </a:endParaRPr>
          </a:p>
          <a:p>
            <a:pPr marL="864000" lvl="1" indent="-323640">
              <a:lnSpc>
                <a:spcPct val="100000"/>
              </a:lnSpc>
              <a:buClr>
                <a:srgbClr val="000000"/>
              </a:buClr>
              <a:buSzPct val="75000"/>
              <a:buFont typeface="Symbol"/>
              <a:buChar char=""/>
            </a:pPr>
            <a:r>
              <a:rPr lang="en-US" sz="2800" b="0" strike="noStrike" spc="-1">
                <a:solidFill>
                  <a:srgbClr val="000000"/>
                </a:solidFill>
                <a:uFill>
                  <a:solidFill>
                    <a:srgbClr val="FFFFFF"/>
                  </a:solidFill>
                </a:uFill>
                <a:latin typeface="Arial"/>
              </a:rPr>
              <a:t>Split the list such that:</a:t>
            </a:r>
            <a:endParaRPr lang="en-US" sz="1800" b="0" strike="noStrike" spc="-1">
              <a:solidFill>
                <a:srgbClr val="000000"/>
              </a:solidFill>
              <a:uFill>
                <a:solidFill>
                  <a:srgbClr val="FFFFFF"/>
                </a:solidFill>
              </a:uFill>
              <a:latin typeface="Arial"/>
            </a:endParaRPr>
          </a:p>
          <a:p>
            <a:pPr marL="1296000" lvl="2" indent="-287640">
              <a:lnSpc>
                <a:spcPct val="100000"/>
              </a:lnSpc>
              <a:buClr>
                <a:srgbClr val="000000"/>
              </a:buClr>
              <a:buSzPct val="45000"/>
              <a:buFont typeface="Wingdings" charset="2"/>
              <a:buChar char=""/>
            </a:pPr>
            <a:r>
              <a:rPr lang="en-US" sz="2600" b="0" strike="noStrike" spc="-1">
                <a:solidFill>
                  <a:srgbClr val="000000"/>
                </a:solidFill>
                <a:uFill>
                  <a:solidFill>
                    <a:srgbClr val="FFFFFF"/>
                  </a:solidFill>
                </a:uFill>
                <a:latin typeface="Arial"/>
              </a:rPr>
              <a:t>values[first] to values[splitPoint-1] &lt;= splitVal</a:t>
            </a:r>
            <a:endParaRPr lang="en-US" sz="1800" b="0" strike="noStrike" spc="-1">
              <a:solidFill>
                <a:srgbClr val="000000"/>
              </a:solidFill>
              <a:uFill>
                <a:solidFill>
                  <a:srgbClr val="FFFFFF"/>
                </a:solidFill>
              </a:uFill>
              <a:latin typeface="Arial"/>
            </a:endParaRPr>
          </a:p>
          <a:p>
            <a:pPr marL="1296000" lvl="2" indent="-287640">
              <a:lnSpc>
                <a:spcPct val="100000"/>
              </a:lnSpc>
              <a:buClr>
                <a:srgbClr val="000000"/>
              </a:buClr>
              <a:buSzPct val="45000"/>
              <a:buFont typeface="Wingdings" charset="2"/>
              <a:buChar char=""/>
            </a:pPr>
            <a:r>
              <a:rPr lang="en-US" sz="2600" b="0" strike="noStrike" spc="-1">
                <a:solidFill>
                  <a:srgbClr val="000000"/>
                </a:solidFill>
                <a:uFill>
                  <a:solidFill>
                    <a:srgbClr val="FFFFFF"/>
                  </a:solidFill>
                </a:uFill>
                <a:latin typeface="Arial"/>
              </a:rPr>
              <a:t>values[splitPoint] = splitVal</a:t>
            </a:r>
            <a:endParaRPr lang="en-US" sz="1800" b="0" strike="noStrike" spc="-1">
              <a:solidFill>
                <a:srgbClr val="000000"/>
              </a:solidFill>
              <a:uFill>
                <a:solidFill>
                  <a:srgbClr val="FFFFFF"/>
                </a:solidFill>
              </a:uFill>
              <a:latin typeface="Arial"/>
            </a:endParaRPr>
          </a:p>
          <a:p>
            <a:pPr marL="1296000" lvl="2" indent="-287640">
              <a:lnSpc>
                <a:spcPct val="100000"/>
              </a:lnSpc>
              <a:buClr>
                <a:srgbClr val="000000"/>
              </a:buClr>
              <a:buSzPct val="45000"/>
              <a:buFont typeface="Wingdings" charset="2"/>
              <a:buChar char=""/>
            </a:pPr>
            <a:r>
              <a:rPr lang="en-US" sz="2600" b="0" strike="noStrike" spc="-1">
                <a:solidFill>
                  <a:srgbClr val="000000"/>
                </a:solidFill>
                <a:uFill>
                  <a:solidFill>
                    <a:srgbClr val="FFFFFF"/>
                  </a:solidFill>
                </a:uFill>
                <a:latin typeface="Arial"/>
              </a:rPr>
              <a:t>values[splitPoint+1] to values[last] &gt; splitVal</a:t>
            </a:r>
            <a:endParaRPr lang="en-US" sz="1800" b="0" strike="noStrike" spc="-1">
              <a:solidFill>
                <a:srgbClr val="000000"/>
              </a:solidFill>
              <a:uFill>
                <a:solidFill>
                  <a:srgbClr val="FFFFFF"/>
                </a:solidFill>
              </a:uFill>
              <a:latin typeface="Arial"/>
            </a:endParaRPr>
          </a:p>
          <a:p>
            <a:pPr marL="864000" lvl="1" indent="-323640">
              <a:lnSpc>
                <a:spcPct val="100000"/>
              </a:lnSpc>
              <a:buClr>
                <a:srgbClr val="000000"/>
              </a:buClr>
              <a:buSzPct val="75000"/>
              <a:buFont typeface="Symbol"/>
              <a:buChar char=""/>
            </a:pPr>
            <a:r>
              <a:rPr lang="en-US" sz="2800" b="0" strike="noStrike" spc="-1">
                <a:solidFill>
                  <a:srgbClr val="000000"/>
                </a:solidFill>
                <a:uFill>
                  <a:solidFill>
                    <a:srgbClr val="FFFFFF"/>
                  </a:solidFill>
                </a:uFill>
                <a:latin typeface="Arial"/>
              </a:rPr>
              <a:t>Quick sort the left half (the lower half)</a:t>
            </a:r>
            <a:endParaRPr lang="en-US" sz="1800" b="0" strike="noStrike" spc="-1">
              <a:solidFill>
                <a:srgbClr val="000000"/>
              </a:solidFill>
              <a:uFill>
                <a:solidFill>
                  <a:srgbClr val="FFFFFF"/>
                </a:solidFill>
              </a:uFill>
              <a:latin typeface="Arial"/>
            </a:endParaRPr>
          </a:p>
          <a:p>
            <a:pPr marL="864000" lvl="1" indent="-323640">
              <a:lnSpc>
                <a:spcPct val="100000"/>
              </a:lnSpc>
              <a:buClr>
                <a:srgbClr val="000000"/>
              </a:buClr>
              <a:buSzPct val="75000"/>
              <a:buFont typeface="Symbol"/>
              <a:buChar char=""/>
            </a:pPr>
            <a:r>
              <a:rPr lang="en-US" sz="2800" b="0" strike="noStrike" spc="-1">
                <a:solidFill>
                  <a:srgbClr val="000000"/>
                </a:solidFill>
                <a:uFill>
                  <a:solidFill>
                    <a:srgbClr val="FFFFFF"/>
                  </a:solidFill>
                </a:uFill>
                <a:latin typeface="Arial"/>
              </a:rPr>
              <a:t>Quick sort the right half (the higher half)</a:t>
            </a:r>
            <a:endParaRPr lang="en-US" sz="1800" b="0" strike="noStrike" spc="-1">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rPr>
              <a:t>Recursive Quick Sort</a:t>
            </a:r>
            <a:endParaRPr lang="en-US" sz="1800" b="0" strike="noStrike" spc="-1">
              <a:solidFill>
                <a:srgbClr val="000000"/>
              </a:solidFill>
              <a:uFill>
                <a:solidFill>
                  <a:srgbClr val="FFFFFF"/>
                </a:solidFill>
              </a:uFill>
              <a:latin typeface="Arial"/>
            </a:endParaRPr>
          </a:p>
        </p:txBody>
      </p:sp>
      <p:sp>
        <p:nvSpPr>
          <p:cNvPr id="264"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64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rPr>
              <a:t>Problem: Sort an array-based list of values</a:t>
            </a:r>
            <a:endParaRPr lang="en-US" sz="1800" b="0" strike="noStrike" spc="-1">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rPr>
              <a:t>Size: values[first] to values[last]</a:t>
            </a:r>
            <a:endParaRPr lang="en-US" sz="1800" b="0" strike="noStrike" spc="-1">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rPr>
              <a:t>Base Case: If there are fewer than 2 items in values[first] to values[last], do nothing</a:t>
            </a:r>
            <a:endParaRPr lang="en-US" sz="1800" b="0" strike="noStrike" spc="-1">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rPr>
              <a:t>General Case: Split the array and quick sort the two halves</a:t>
            </a:r>
            <a:endParaRPr lang="en-US" sz="1800" b="0" strike="noStrike" spc="-1">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rPr>
              <a:t>Quick Sort Code</a:t>
            </a:r>
            <a:endParaRPr lang="en-US" sz="1800" b="0" strike="noStrike" spc="-1">
              <a:solidFill>
                <a:srgbClr val="000000"/>
              </a:solidFill>
              <a:uFill>
                <a:solidFill>
                  <a:srgbClr val="FFFFFF"/>
                </a:solidFill>
              </a:uFill>
              <a:latin typeface="Arial"/>
            </a:endParaRPr>
          </a:p>
        </p:txBody>
      </p:sp>
      <p:sp>
        <p:nvSpPr>
          <p:cNvPr id="266" name="CustomShape 2"/>
          <p:cNvSpPr/>
          <p:nvPr/>
        </p:nvSpPr>
        <p:spPr>
          <a:xfrm>
            <a:off x="504000" y="1769040"/>
            <a:ext cx="9070920" cy="4383720"/>
          </a:xfrm>
          <a:prstGeom prst="rect">
            <a:avLst/>
          </a:prstGeom>
          <a:solidFill>
            <a:srgbClr val="FFFFFF"/>
          </a:solidFill>
          <a:ln>
            <a:noFill/>
          </a:ln>
        </p:spPr>
        <p:style>
          <a:lnRef idx="0">
            <a:scrgbClr r="0" g="0" b="0"/>
          </a:lnRef>
          <a:fillRef idx="0">
            <a:scrgbClr r="0" g="0" b="0"/>
          </a:fillRef>
          <a:effectRef idx="0">
            <a:scrgbClr r="0" g="0" b="0"/>
          </a:effectRef>
          <a:fontRef idx="minor"/>
        </p:style>
        <p:txBody>
          <a:bodyPr lIns="0" tIns="0" rIns="0" bIns="0"/>
          <a:lstStyle/>
          <a:p>
            <a:r>
              <a:rPr lang="en-US" sz="2000" b="1" strike="noStrike" spc="-1">
                <a:solidFill>
                  <a:srgbClr val="000000"/>
                </a:solidFill>
                <a:uFill>
                  <a:solidFill>
                    <a:srgbClr val="FFFFFF"/>
                  </a:solidFill>
                </a:uFill>
                <a:latin typeface="Courier New"/>
              </a:rPr>
              <a:t>template&lt;class ItemType&gt;</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void QuickSort(ItemType values[], int first, int last)</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  if (first &lt; last)</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  {</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    int splitPoint;</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    Split(values, first, last, splitPoint);</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    </a:t>
            </a:r>
            <a:r>
              <a:rPr lang="en-US" sz="2000" b="1" strike="noStrike" spc="-1">
                <a:solidFill>
                  <a:srgbClr val="2300DC"/>
                </a:solidFill>
                <a:uFill>
                  <a:solidFill>
                    <a:srgbClr val="FFFFFF"/>
                  </a:solidFill>
                </a:uFill>
                <a:latin typeface="Courier New"/>
              </a:rPr>
              <a:t>// values[first]..values[splitPoint-1] &lt;= splitVal</a:t>
            </a:r>
            <a:endParaRPr lang="en-US" sz="1800" b="0" strike="noStrike" spc="-1">
              <a:solidFill>
                <a:srgbClr val="000000"/>
              </a:solidFill>
              <a:uFill>
                <a:solidFill>
                  <a:srgbClr val="FFFFFF"/>
                </a:solidFill>
              </a:uFill>
              <a:latin typeface="Arial"/>
            </a:endParaRPr>
          </a:p>
          <a:p>
            <a:r>
              <a:rPr lang="en-US" sz="2000" b="1" strike="noStrike" spc="-1">
                <a:solidFill>
                  <a:srgbClr val="2300DC"/>
                </a:solidFill>
                <a:uFill>
                  <a:solidFill>
                    <a:srgbClr val="FFFFFF"/>
                  </a:solidFill>
                </a:uFill>
                <a:latin typeface="Courier New"/>
              </a:rPr>
              <a:t>    // values[splitPoint] = splitVal</a:t>
            </a:r>
            <a:endParaRPr lang="en-US" sz="1800" b="0" strike="noStrike" spc="-1">
              <a:solidFill>
                <a:srgbClr val="000000"/>
              </a:solidFill>
              <a:uFill>
                <a:solidFill>
                  <a:srgbClr val="FFFFFF"/>
                </a:solidFill>
              </a:uFill>
              <a:latin typeface="Arial"/>
            </a:endParaRPr>
          </a:p>
          <a:p>
            <a:r>
              <a:rPr lang="en-US" sz="2000" b="1" strike="noStrike" spc="-1">
                <a:solidFill>
                  <a:srgbClr val="2300DC"/>
                </a:solidFill>
                <a:uFill>
                  <a:solidFill>
                    <a:srgbClr val="FFFFFF"/>
                  </a:solidFill>
                </a:uFill>
                <a:latin typeface="Courier New"/>
              </a:rPr>
              <a:t>    // values[splitPoint+1]..values[last] &gt; splitVal</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    QuickSort(values, first, splitPoint-1);</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    QuickSort(values, splitPoint+1, last);</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  }</a:t>
            </a:r>
            <a:endParaRPr lang="en-US" sz="1800" b="0" strike="noStrike" spc="-1">
              <a:solidFill>
                <a:srgbClr val="000000"/>
              </a:solidFill>
              <a:uFill>
                <a:solidFill>
                  <a:srgbClr val="FFFFFF"/>
                </a:solidFill>
              </a:uFill>
              <a:latin typeface="Arial"/>
            </a:endParaRPr>
          </a:p>
          <a:p>
            <a:r>
              <a:rPr lang="en-US" sz="2000" b="1" strike="noStrike" spc="-1">
                <a:solidFill>
                  <a:srgbClr val="000000"/>
                </a:solidFill>
                <a:uFill>
                  <a:solidFill>
                    <a:srgbClr val="FFFFFF"/>
                  </a:solidFill>
                </a:uFill>
                <a:latin typeface="Courier New"/>
              </a:rPr>
              <a:t>}</a:t>
            </a:r>
            <a:endParaRPr lang="en-US" sz="1800" b="0" strike="noStrike" spc="-1">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rPr>
              <a:t>Quick Sort: Three Questions</a:t>
            </a:r>
            <a:endParaRPr lang="en-US" sz="1800" b="0" strike="noStrike" spc="-1">
              <a:solidFill>
                <a:srgbClr val="000000"/>
              </a:solidFill>
              <a:uFill>
                <a:solidFill>
                  <a:srgbClr val="FFFFFF"/>
                </a:solidFill>
              </a:uFill>
              <a:latin typeface="Arial"/>
            </a:endParaRPr>
          </a:p>
        </p:txBody>
      </p:sp>
      <p:sp>
        <p:nvSpPr>
          <p:cNvPr id="268"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Base Case: Yes, when </a:t>
            </a:r>
            <a:r>
              <a:rPr lang="en-US" sz="3200" b="0" strike="noStrike" spc="-1" dirty="0" smtClean="0">
                <a:solidFill>
                  <a:srgbClr val="000000"/>
                </a:solidFill>
                <a:uFill>
                  <a:solidFill>
                    <a:srgbClr val="FFFFFF"/>
                  </a:solidFill>
                </a:uFill>
                <a:latin typeface="Arial"/>
              </a:rPr>
              <a:t>there’s </a:t>
            </a:r>
            <a:r>
              <a:rPr lang="en-US" sz="3200" b="0" strike="noStrike" spc="-1" dirty="0">
                <a:solidFill>
                  <a:srgbClr val="000000"/>
                </a:solidFill>
                <a:uFill>
                  <a:solidFill>
                    <a:srgbClr val="FFFFFF"/>
                  </a:solidFill>
                </a:uFill>
                <a:latin typeface="Arial"/>
              </a:rPr>
              <a:t>at most one element left (first &gt;= last) the function does nothing</a:t>
            </a:r>
            <a:endParaRPr lang="en-US" sz="1800" b="0" strike="noStrike" spc="-1" dirty="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Smaller-Caller: Yes,</a:t>
            </a:r>
            <a:r>
              <a:rPr lang="en-US" sz="3200" b="0" strike="noStrike" spc="-1" dirty="0" smtClean="0">
                <a:solidFill>
                  <a:srgbClr val="000000"/>
                </a:solidFill>
                <a:uFill>
                  <a:solidFill>
                    <a:srgbClr val="FFFFFF"/>
                  </a:solidFill>
                </a:uFill>
                <a:latin typeface="Arial"/>
              </a:rPr>
              <a:t> Split </a:t>
            </a:r>
            <a:r>
              <a:rPr lang="en-US" sz="3200" b="0" strike="noStrike" spc="-1" dirty="0">
                <a:solidFill>
                  <a:srgbClr val="000000"/>
                </a:solidFill>
                <a:uFill>
                  <a:solidFill>
                    <a:srgbClr val="FFFFFF"/>
                  </a:solidFill>
                </a:uFill>
                <a:latin typeface="Arial"/>
              </a:rPr>
              <a:t>divides the array into smaller segments, and those segments are then sorted</a:t>
            </a:r>
            <a:endParaRPr lang="en-US" sz="1800" b="0" strike="noStrike" spc="-1" dirty="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General Case: Yes, assuming Split works, eventually the base case will be reached</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rPr>
              <a:t>Quick Sort: Splitting</a:t>
            </a:r>
            <a:endParaRPr lang="en-US" sz="1800" b="0" strike="noStrike" spc="-1">
              <a:solidFill>
                <a:srgbClr val="000000"/>
              </a:solidFill>
              <a:uFill>
                <a:solidFill>
                  <a:srgbClr val="FFFFFF"/>
                </a:solidFill>
              </a:uFill>
              <a:latin typeface="Arial"/>
            </a:endParaRPr>
          </a:p>
        </p:txBody>
      </p:sp>
      <p:sp>
        <p:nvSpPr>
          <p:cNvPr id="270"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A simple splitting algorithm walks through the array and swaps values that are out of place</a:t>
            </a:r>
            <a:endParaRPr lang="en-US" sz="1800" b="0" strike="noStrike" spc="-1" dirty="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This is accomplished by using two indices, first and last, that start at front and back of the list</a:t>
            </a:r>
            <a:endParaRPr lang="en-US" sz="1800" b="0" strike="noStrike" spc="-1" dirty="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Remember, we </a:t>
            </a:r>
            <a:r>
              <a:rPr lang="en-US" sz="3200" b="0" strike="noStrike" spc="-1" dirty="0" smtClean="0">
                <a:solidFill>
                  <a:srgbClr val="000000"/>
                </a:solidFill>
                <a:uFill>
                  <a:solidFill>
                    <a:srgbClr val="FFFFFF"/>
                  </a:solidFill>
                </a:uFill>
                <a:latin typeface="Arial"/>
              </a:rPr>
              <a:t>aren’t </a:t>
            </a:r>
            <a:r>
              <a:rPr lang="en-US" sz="3200" b="0" strike="noStrike" spc="-1" dirty="0">
                <a:solidFill>
                  <a:srgbClr val="000000"/>
                </a:solidFill>
                <a:uFill>
                  <a:solidFill>
                    <a:srgbClr val="FFFFFF"/>
                  </a:solidFill>
                </a:uFill>
                <a:latin typeface="Arial"/>
              </a:rPr>
              <a:t>sorting, just making sure the values are on the correct side of the split</a:t>
            </a:r>
            <a:endParaRPr lang="en-US" sz="1800" b="0" strike="noStrike" spc="-1" dirty="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This algorithm is correct, but may be slow</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rPr>
              <a:t>Quick Sort Splitting Algorithm</a:t>
            </a:r>
            <a:endParaRPr lang="en-US" sz="1800" b="0" strike="noStrike" spc="-1">
              <a:solidFill>
                <a:srgbClr val="000000"/>
              </a:solidFill>
              <a:uFill>
                <a:solidFill>
                  <a:srgbClr val="FFFFFF"/>
                </a:solidFill>
              </a:uFill>
              <a:latin typeface="Arial"/>
            </a:endParaRPr>
          </a:p>
        </p:txBody>
      </p:sp>
      <p:sp>
        <p:nvSpPr>
          <p:cNvPr id="272"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Choose the split value.</a:t>
            </a:r>
            <a:endParaRPr lang="en-US" sz="1800" b="0" strike="noStrike" spc="-1" dirty="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Advance first until it reaches a value that is greater than the split value.</a:t>
            </a:r>
            <a:endParaRPr lang="en-US" sz="1800" b="0" strike="noStrike" spc="-1" dirty="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Move last backward through the list until it reaches a value that is less than the split </a:t>
            </a:r>
            <a:r>
              <a:rPr lang="en-US" sz="3200" b="0" strike="noStrike" spc="-1" dirty="0" smtClean="0">
                <a:solidFill>
                  <a:srgbClr val="000000"/>
                </a:solidFill>
                <a:uFill>
                  <a:solidFill>
                    <a:srgbClr val="FFFFFF"/>
                  </a:solidFill>
                </a:uFill>
                <a:latin typeface="Arial"/>
              </a:rPr>
              <a:t>value.</a:t>
            </a:r>
            <a:endParaRPr lang="en-US" sz="1800" b="0" strike="noStrike" spc="-1" dirty="0" smtClean="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Swap these two values and advance the two indices one </a:t>
            </a:r>
            <a:r>
              <a:rPr lang="en-US" sz="3200" b="0" strike="noStrike" spc="-1" dirty="0" smtClean="0">
                <a:solidFill>
                  <a:srgbClr val="000000"/>
                </a:solidFill>
                <a:uFill>
                  <a:solidFill>
                    <a:srgbClr val="FFFFFF"/>
                  </a:solidFill>
                </a:uFill>
                <a:latin typeface="Arial"/>
              </a:rPr>
              <a:t>space.</a:t>
            </a:r>
            <a:endParaRPr lang="en-US" sz="1800" b="0" strike="noStrike" spc="-1" dirty="0" smtClean="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Repeat until first and last </a:t>
            </a:r>
            <a:r>
              <a:rPr lang="en-US" sz="3200" b="0" strike="noStrike" spc="-1" dirty="0" smtClean="0">
                <a:solidFill>
                  <a:srgbClr val="000000"/>
                </a:solidFill>
                <a:uFill>
                  <a:solidFill>
                    <a:srgbClr val="FFFFFF"/>
                  </a:solidFill>
                </a:uFill>
                <a:latin typeface="Arial"/>
              </a:rPr>
              <a:t>meet.</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Shape 2"/>
          <p:cNvSpPr txBox="1"/>
          <p:nvPr/>
        </p:nvSpPr>
        <p:spPr>
          <a:xfrm>
            <a:off x="197554" y="341663"/>
            <a:ext cx="4219224" cy="2127666"/>
          </a:xfrm>
          <a:prstGeom prst="rect">
            <a:avLst/>
          </a:prstGeom>
          <a:noFill/>
          <a:ln>
            <a:noFill/>
          </a:ln>
        </p:spPr>
        <p:txBody>
          <a:bodyPr lIns="0" tIns="0" rIns="0" bIns="0"/>
          <a:lstStyle/>
          <a:p>
            <a:pPr>
              <a:buClr>
                <a:srgbClr val="000000"/>
              </a:buClr>
              <a:buSzPct val="45000"/>
            </a:pPr>
            <a:r>
              <a:rPr lang="en-US" b="1" spc="-1" dirty="0">
                <a:solidFill>
                  <a:srgbClr val="000000"/>
                </a:solidFill>
                <a:uFill>
                  <a:solidFill>
                    <a:srgbClr val="FFFFFF"/>
                  </a:solidFill>
                </a:uFill>
                <a:latin typeface="+mj-lt"/>
              </a:rPr>
              <a:t>	</a:t>
            </a:r>
            <a:r>
              <a:rPr lang="en-US" b="1" strike="noStrike" spc="-1" dirty="0" smtClean="0">
                <a:solidFill>
                  <a:srgbClr val="000000"/>
                </a:solidFill>
                <a:uFill>
                  <a:solidFill>
                    <a:srgbClr val="FFFFFF"/>
                  </a:solidFill>
                </a:uFill>
                <a:latin typeface="+mj-lt"/>
              </a:rPr>
              <a:t>Figure 7</a:t>
            </a:r>
            <a:r>
              <a:rPr lang="en-US" b="1" spc="-1" dirty="0" smtClean="0">
                <a:solidFill>
                  <a:srgbClr val="000000"/>
                </a:solidFill>
                <a:uFill>
                  <a:solidFill>
                    <a:srgbClr val="FFFFFF"/>
                  </a:solidFill>
                </a:uFill>
                <a:latin typeface="+mj-lt"/>
              </a:rPr>
              <a:t>.7</a:t>
            </a:r>
            <a:r>
              <a:rPr lang="en-US" spc="-1" dirty="0" smtClean="0">
                <a:solidFill>
                  <a:srgbClr val="000000"/>
                </a:solidFill>
                <a:uFill>
                  <a:solidFill>
                    <a:srgbClr val="FFFFFF"/>
                  </a:solidFill>
                </a:uFill>
                <a:latin typeface="+mj-lt"/>
              </a:rPr>
              <a:t>  </a:t>
            </a:r>
            <a:r>
              <a:rPr lang="en-IN" spc="-1" dirty="0">
                <a:solidFill>
                  <a:srgbClr val="000000"/>
                </a:solidFill>
                <a:uFill>
                  <a:solidFill>
                    <a:srgbClr val="FFFFFF"/>
                  </a:solidFill>
                </a:uFill>
                <a:latin typeface="+mj-lt"/>
              </a:rPr>
              <a:t>Function split (a) </a:t>
            </a:r>
            <a:r>
              <a:rPr lang="en-IN" spc="-1" dirty="0" smtClean="0">
                <a:solidFill>
                  <a:srgbClr val="000000"/>
                </a:solidFill>
                <a:uFill>
                  <a:solidFill>
                    <a:srgbClr val="FFFFFF"/>
                  </a:solidFill>
                </a:uFill>
                <a:latin typeface="+mj-lt"/>
              </a:rPr>
              <a:t>Initialization </a:t>
            </a:r>
            <a:r>
              <a:rPr lang="en-IN" spc="-1" dirty="0">
                <a:solidFill>
                  <a:srgbClr val="000000"/>
                </a:solidFill>
                <a:uFill>
                  <a:solidFill>
                    <a:srgbClr val="FFFFFF"/>
                  </a:solidFill>
                </a:uFill>
                <a:latin typeface="+mj-lt"/>
              </a:rPr>
              <a:t>(b) Increment first until values[first]&gt;</a:t>
            </a:r>
            <a:r>
              <a:rPr lang="en-IN" spc="-1" dirty="0" smtClean="0">
                <a:solidFill>
                  <a:srgbClr val="000000"/>
                </a:solidFill>
                <a:uFill>
                  <a:solidFill>
                    <a:srgbClr val="FFFFFF"/>
                  </a:solidFill>
                </a:uFill>
                <a:latin typeface="+mj-lt"/>
              </a:rPr>
              <a:t>splitVal (c) Decrement </a:t>
            </a:r>
            <a:r>
              <a:rPr lang="en-IN" spc="-1" dirty="0">
                <a:solidFill>
                  <a:srgbClr val="000000"/>
                </a:solidFill>
                <a:uFill>
                  <a:solidFill>
                    <a:srgbClr val="FFFFFF"/>
                  </a:solidFill>
                </a:uFill>
                <a:latin typeface="+mj-lt"/>
              </a:rPr>
              <a:t>last until values[last]&lt;= splitVal (d) Swap values[first] and values[last</a:t>
            </a:r>
            <a:r>
              <a:rPr lang="en-IN" spc="-1" dirty="0" smtClean="0">
                <a:solidFill>
                  <a:srgbClr val="000000"/>
                </a:solidFill>
                <a:uFill>
                  <a:solidFill>
                    <a:srgbClr val="FFFFFF"/>
                  </a:solidFill>
                </a:uFill>
                <a:latin typeface="+mj-lt"/>
              </a:rPr>
              <a:t>]; move first and </a:t>
            </a:r>
            <a:r>
              <a:rPr lang="en-IN" spc="-1" dirty="0">
                <a:solidFill>
                  <a:srgbClr val="000000"/>
                </a:solidFill>
                <a:uFill>
                  <a:solidFill>
                    <a:srgbClr val="FFFFFF"/>
                  </a:solidFill>
                </a:uFill>
                <a:latin typeface="+mj-lt"/>
              </a:rPr>
              <a:t>last toward each other </a:t>
            </a:r>
            <a:r>
              <a:rPr lang="en-IN" spc="-1" dirty="0" smtClean="0">
                <a:solidFill>
                  <a:srgbClr val="000000"/>
                </a:solidFill>
                <a:uFill>
                  <a:solidFill>
                    <a:srgbClr val="FFFFFF"/>
                  </a:solidFill>
                </a:uFill>
                <a:latin typeface="+mj-lt"/>
              </a:rPr>
              <a:t>(e) </a:t>
            </a:r>
            <a:r>
              <a:rPr lang="en-IN" spc="-1" dirty="0">
                <a:solidFill>
                  <a:srgbClr val="000000"/>
                </a:solidFill>
                <a:uFill>
                  <a:solidFill>
                    <a:srgbClr val="FFFFFF"/>
                  </a:solidFill>
                </a:uFill>
                <a:latin typeface="+mj-lt"/>
              </a:rPr>
              <a:t>Increment first until values[first]&gt;splitVal </a:t>
            </a:r>
            <a:r>
              <a:rPr lang="en-IN" spc="-1" dirty="0" smtClean="0">
                <a:solidFill>
                  <a:srgbClr val="000000"/>
                </a:solidFill>
                <a:uFill>
                  <a:solidFill>
                    <a:srgbClr val="FFFFFF"/>
                  </a:solidFill>
                </a:uFill>
                <a:latin typeface="+mj-lt"/>
              </a:rPr>
              <a:t>or</a:t>
            </a:r>
            <a:r>
              <a:rPr lang="en-IN" spc="-1" dirty="0">
                <a:solidFill>
                  <a:srgbClr val="000000"/>
                </a:solidFill>
                <a:uFill>
                  <a:solidFill>
                    <a:srgbClr val="FFFFFF"/>
                  </a:solidFill>
                </a:uFill>
                <a:latin typeface="+mj-lt"/>
              </a:rPr>
              <a:t> </a:t>
            </a:r>
            <a:r>
              <a:rPr lang="en-IN" spc="-1" dirty="0" smtClean="0">
                <a:solidFill>
                  <a:srgbClr val="000000"/>
                </a:solidFill>
                <a:uFill>
                  <a:solidFill>
                    <a:srgbClr val="FFFFFF"/>
                  </a:solidFill>
                </a:uFill>
                <a:latin typeface="+mj-lt"/>
              </a:rPr>
              <a:t>first&gt;last</a:t>
            </a:r>
            <a:r>
              <a:rPr lang="en-IN" spc="-1" dirty="0">
                <a:solidFill>
                  <a:srgbClr val="000000"/>
                </a:solidFill>
                <a:uFill>
                  <a:solidFill>
                    <a:srgbClr val="FFFFFF"/>
                  </a:solidFill>
                </a:uFill>
                <a:latin typeface="+mj-lt"/>
              </a:rPr>
              <a:t> </a:t>
            </a:r>
            <a:r>
              <a:rPr lang="en-IN" spc="-1" dirty="0" smtClean="0">
                <a:solidFill>
                  <a:srgbClr val="000000"/>
                </a:solidFill>
                <a:uFill>
                  <a:solidFill>
                    <a:srgbClr val="FFFFFF"/>
                  </a:solidFill>
                </a:uFill>
                <a:latin typeface="+mj-lt"/>
              </a:rPr>
              <a:t>Decrement  last until values</a:t>
            </a:r>
            <a:r>
              <a:rPr lang="en-IN" spc="-1" dirty="0">
                <a:solidFill>
                  <a:srgbClr val="000000"/>
                </a:solidFill>
                <a:uFill>
                  <a:solidFill>
                    <a:srgbClr val="FFFFFF"/>
                  </a:solidFill>
                </a:uFill>
                <a:latin typeface="+mj-lt"/>
              </a:rPr>
              <a:t>[last]&lt;=splitVal or first&gt;last (f) first&gt;last so </a:t>
            </a:r>
            <a:r>
              <a:rPr lang="en-IN" spc="-1" dirty="0" smtClean="0">
                <a:solidFill>
                  <a:srgbClr val="000000"/>
                </a:solidFill>
                <a:uFill>
                  <a:solidFill>
                    <a:srgbClr val="FFFFFF"/>
                  </a:solidFill>
                </a:uFill>
                <a:latin typeface="+mj-lt"/>
              </a:rPr>
              <a:t>no swap occurs within the loop Swap </a:t>
            </a:r>
            <a:r>
              <a:rPr lang="en-IN" spc="-1" dirty="0">
                <a:solidFill>
                  <a:srgbClr val="000000"/>
                </a:solidFill>
                <a:uFill>
                  <a:solidFill>
                    <a:srgbClr val="FFFFFF"/>
                  </a:solidFill>
                </a:uFill>
                <a:latin typeface="+mj-lt"/>
              </a:rPr>
              <a:t>values[saveFirst] and values[last]</a:t>
            </a:r>
            <a:endParaRPr lang="en-US" b="0" strike="noStrike" spc="-1" dirty="0">
              <a:solidFill>
                <a:srgbClr val="000000"/>
              </a:solidFill>
              <a:uFill>
                <a:solidFill>
                  <a:srgbClr val="FFFFFF"/>
                </a:solidFill>
              </a:uFill>
              <a:latin typeface="+mj-lt"/>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8929" y="65809"/>
            <a:ext cx="5260622" cy="6940033"/>
          </a:xfrm>
          <a:prstGeom prst="rect">
            <a:avLst/>
          </a:prstGeom>
        </p:spPr>
      </p:pic>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rPr>
              <a:t>Choosing a Split Value</a:t>
            </a:r>
            <a:endParaRPr lang="en-US" sz="1800" b="0" strike="noStrike" spc="-1">
              <a:solidFill>
                <a:srgbClr val="000000"/>
              </a:solidFill>
              <a:uFill>
                <a:solidFill>
                  <a:srgbClr val="FFFFFF"/>
                </a:solidFill>
              </a:uFill>
              <a:latin typeface="Arial"/>
            </a:endParaRPr>
          </a:p>
        </p:txBody>
      </p:sp>
      <p:sp>
        <p:nvSpPr>
          <p:cNvPr id="275"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64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rPr>
              <a:t>The first value in the list is straightforward and typically works well</a:t>
            </a:r>
            <a:endParaRPr lang="en-US" sz="1800" b="0" strike="noStrike" spc="-1">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rPr>
              <a:t>Sometimes the list is already partially sorted, in which case choosing the middle value of the list is a better choice</a:t>
            </a:r>
            <a:endParaRPr lang="en-US" sz="1800" b="0" strike="noStrike" spc="-1">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rPr>
              <a:t>Different splitting strategies may benefit from different split values</a:t>
            </a:r>
            <a:endParaRPr lang="en-US" sz="1800" b="0" strike="noStrike" spc="-1">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rPr>
              <a:t>Debugging Recursive Routines</a:t>
            </a:r>
            <a:endParaRPr lang="en-US" sz="1800" b="0" strike="noStrike" spc="-1">
              <a:solidFill>
                <a:srgbClr val="000000"/>
              </a:solidFill>
              <a:uFill>
                <a:solidFill>
                  <a:srgbClr val="FFFFFF"/>
                </a:solidFill>
              </a:uFill>
              <a:latin typeface="Arial"/>
            </a:endParaRPr>
          </a:p>
        </p:txBody>
      </p:sp>
      <p:sp>
        <p:nvSpPr>
          <p:cNvPr id="277"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64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rPr>
              <a:t>Recursive methods can have confusing and unique errors</a:t>
            </a:r>
            <a:endParaRPr lang="en-US" sz="1800" b="0" strike="noStrike" spc="-1">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rPr>
              <a:t>For example, it may recurse forever, causing the run-time stack to run out of space</a:t>
            </a:r>
            <a:endParaRPr lang="en-US" sz="1800" b="0" strike="noStrike" spc="-1">
              <a:solidFill>
                <a:srgbClr val="000000"/>
              </a:solidFill>
              <a:uFill>
                <a:solidFill>
                  <a:srgbClr val="FFFFFF"/>
                </a:solidFill>
              </a:uFill>
              <a:latin typeface="Arial"/>
            </a:endParaRPr>
          </a:p>
          <a:p>
            <a:pPr marL="864000" lvl="1" indent="-323640">
              <a:lnSpc>
                <a:spcPct val="100000"/>
              </a:lnSpc>
              <a:buClr>
                <a:srgbClr val="000000"/>
              </a:buClr>
              <a:buSzPct val="75000"/>
              <a:buFont typeface="Symbol"/>
              <a:buChar char=""/>
            </a:pPr>
            <a:r>
              <a:rPr lang="en-US" sz="2800" b="0" strike="noStrike" spc="-1">
                <a:solidFill>
                  <a:srgbClr val="000000"/>
                </a:solidFill>
                <a:uFill>
                  <a:solidFill>
                    <a:srgbClr val="FFFFFF"/>
                  </a:solidFill>
                </a:uFill>
                <a:latin typeface="Arial"/>
              </a:rPr>
              <a:t>This can also happen just from a method needing to recurse more times than the system can handle</a:t>
            </a:r>
            <a:endParaRPr lang="en-US" sz="1800" b="0" strike="noStrike" spc="-1">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rPr>
              <a:t>The Three-Question method is a helpful tool for thinking about and verifying recursive routines</a:t>
            </a:r>
            <a:endParaRPr lang="en-US" sz="1800" b="0" strike="noStrike" spc="-1">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rPr>
              <a:t>Removing Recursion</a:t>
            </a:r>
            <a:endParaRPr lang="en-US" sz="1800" b="0" strike="noStrike" spc="-1">
              <a:solidFill>
                <a:srgbClr val="000000"/>
              </a:solidFill>
              <a:uFill>
                <a:solidFill>
                  <a:srgbClr val="FFFFFF"/>
                </a:solidFill>
              </a:uFill>
              <a:latin typeface="Arial"/>
            </a:endParaRPr>
          </a:p>
        </p:txBody>
      </p:sp>
      <p:sp>
        <p:nvSpPr>
          <p:cNvPr id="279"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Sometimes recursion </a:t>
            </a:r>
            <a:r>
              <a:rPr lang="en-US" sz="3200" b="0" strike="noStrike" spc="-1" dirty="0" smtClean="0">
                <a:solidFill>
                  <a:srgbClr val="000000"/>
                </a:solidFill>
                <a:uFill>
                  <a:solidFill>
                    <a:srgbClr val="FFFFFF"/>
                  </a:solidFill>
                </a:uFill>
                <a:latin typeface="Arial"/>
              </a:rPr>
              <a:t>isn’t </a:t>
            </a:r>
            <a:r>
              <a:rPr lang="en-US" sz="3200" b="0" strike="noStrike" spc="-1" dirty="0">
                <a:solidFill>
                  <a:srgbClr val="000000"/>
                </a:solidFill>
                <a:uFill>
                  <a:solidFill>
                    <a:srgbClr val="FFFFFF"/>
                  </a:solidFill>
                </a:uFill>
                <a:latin typeface="Arial"/>
              </a:rPr>
              <a:t>the best method</a:t>
            </a:r>
            <a:endParaRPr lang="en-US" sz="1800" b="0" strike="noStrike" spc="-1" dirty="0">
              <a:solidFill>
                <a:srgbClr val="000000"/>
              </a:solidFill>
              <a:uFill>
                <a:solidFill>
                  <a:srgbClr val="FFFFFF"/>
                </a:solidFill>
              </a:uFill>
              <a:latin typeface="Arial"/>
            </a:endParaRPr>
          </a:p>
          <a:p>
            <a:pPr marL="864000" lvl="1" indent="-323640">
              <a:lnSpc>
                <a:spcPct val="100000"/>
              </a:lnSpc>
              <a:buClr>
                <a:srgbClr val="000000"/>
              </a:buClr>
              <a:buSzPct val="75000"/>
              <a:buFont typeface="Symbol"/>
              <a:buChar char=""/>
            </a:pPr>
            <a:r>
              <a:rPr lang="en-US" sz="2800" b="0" strike="noStrike" spc="-1" dirty="0">
                <a:solidFill>
                  <a:srgbClr val="000000"/>
                </a:solidFill>
                <a:uFill>
                  <a:solidFill>
                    <a:srgbClr val="FFFFFF"/>
                  </a:solidFill>
                </a:uFill>
                <a:latin typeface="Arial"/>
              </a:rPr>
              <a:t>The language </a:t>
            </a:r>
            <a:r>
              <a:rPr lang="en-US" sz="2800" b="0" strike="noStrike" spc="-1" dirty="0" smtClean="0">
                <a:solidFill>
                  <a:srgbClr val="000000"/>
                </a:solidFill>
                <a:uFill>
                  <a:solidFill>
                    <a:srgbClr val="FFFFFF"/>
                  </a:solidFill>
                </a:uFill>
                <a:latin typeface="Arial"/>
              </a:rPr>
              <a:t>doesn’t </a:t>
            </a:r>
            <a:r>
              <a:rPr lang="en-US" sz="2800" b="0" strike="noStrike" spc="-1" dirty="0">
                <a:solidFill>
                  <a:srgbClr val="000000"/>
                </a:solidFill>
                <a:uFill>
                  <a:solidFill>
                    <a:srgbClr val="FFFFFF"/>
                  </a:solidFill>
                </a:uFill>
                <a:latin typeface="Arial"/>
              </a:rPr>
              <a:t>support it</a:t>
            </a:r>
            <a:endParaRPr lang="en-US" sz="1800" b="0" strike="noStrike" spc="-1" dirty="0">
              <a:solidFill>
                <a:srgbClr val="000000"/>
              </a:solidFill>
              <a:uFill>
                <a:solidFill>
                  <a:srgbClr val="FFFFFF"/>
                </a:solidFill>
              </a:uFill>
              <a:latin typeface="Arial"/>
            </a:endParaRPr>
          </a:p>
          <a:p>
            <a:pPr marL="864000" lvl="1" indent="-323640">
              <a:lnSpc>
                <a:spcPct val="100000"/>
              </a:lnSpc>
              <a:buClr>
                <a:srgbClr val="000000"/>
              </a:buClr>
              <a:buSzPct val="75000"/>
              <a:buFont typeface="Symbol"/>
              <a:buChar char=""/>
            </a:pPr>
            <a:r>
              <a:rPr lang="en-US" sz="2800" b="0" strike="noStrike" spc="-1" dirty="0">
                <a:solidFill>
                  <a:srgbClr val="000000"/>
                </a:solidFill>
                <a:uFill>
                  <a:solidFill>
                    <a:srgbClr val="FFFFFF"/>
                  </a:solidFill>
                </a:uFill>
                <a:latin typeface="Arial"/>
              </a:rPr>
              <a:t>It uses too much space or time</a:t>
            </a:r>
            <a:endParaRPr lang="en-US" sz="1800" b="0" strike="noStrike" spc="-1" dirty="0">
              <a:solidFill>
                <a:srgbClr val="000000"/>
              </a:solidFill>
              <a:uFill>
                <a:solidFill>
                  <a:srgbClr val="FFFFFF"/>
                </a:solidFill>
              </a:uFill>
              <a:latin typeface="Arial"/>
            </a:endParaRPr>
          </a:p>
          <a:p>
            <a:pPr marL="864000" lvl="1" indent="-323640">
              <a:lnSpc>
                <a:spcPct val="100000"/>
              </a:lnSpc>
              <a:buClr>
                <a:srgbClr val="000000"/>
              </a:buClr>
              <a:buSzPct val="75000"/>
              <a:buFont typeface="Symbol"/>
              <a:buChar char=""/>
            </a:pPr>
            <a:r>
              <a:rPr lang="en-US" sz="2800" b="0" strike="noStrike" spc="-1" dirty="0">
                <a:solidFill>
                  <a:srgbClr val="000000"/>
                </a:solidFill>
                <a:uFill>
                  <a:solidFill>
                    <a:srgbClr val="FFFFFF"/>
                  </a:solidFill>
                </a:uFill>
                <a:latin typeface="Arial"/>
              </a:rPr>
              <a:t>An iterative solution is simpler (unusual but not impossible)</a:t>
            </a:r>
            <a:endParaRPr lang="en-US" sz="1800" b="0" strike="noStrike" spc="-1" dirty="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Two techniques can be used to turn a recursive algorithm into a non-recursive one: iteration and stacking</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rPr>
              <a:t>Iteration</a:t>
            </a:r>
            <a:endParaRPr lang="en-US" sz="1800" b="0" strike="noStrike" spc="-1">
              <a:solidFill>
                <a:srgbClr val="000000"/>
              </a:solidFill>
              <a:uFill>
                <a:solidFill>
                  <a:srgbClr val="FFFFFF"/>
                </a:solidFill>
              </a:uFill>
              <a:latin typeface="Arial"/>
            </a:endParaRPr>
          </a:p>
        </p:txBody>
      </p:sp>
      <p:sp>
        <p:nvSpPr>
          <p:cNvPr id="281"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640">
              <a:lnSpc>
                <a:spcPct val="100000"/>
              </a:lnSpc>
              <a:buClr>
                <a:srgbClr val="000000"/>
              </a:buClr>
              <a:buSzPct val="45000"/>
              <a:buFont typeface="Wingdings" charset="2"/>
              <a:buChar char=""/>
            </a:pPr>
            <a:r>
              <a:rPr lang="en-US" sz="3200" b="1" strike="noStrike" spc="-1">
                <a:solidFill>
                  <a:srgbClr val="000000"/>
                </a:solidFill>
                <a:uFill>
                  <a:solidFill>
                    <a:srgbClr val="FFFFFF"/>
                  </a:solidFill>
                </a:uFill>
                <a:latin typeface="Arial"/>
              </a:rPr>
              <a:t>Tail Recursion:</a:t>
            </a:r>
            <a:r>
              <a:rPr lang="en-US" sz="3200" b="0" strike="noStrike" spc="-1">
                <a:solidFill>
                  <a:srgbClr val="000000"/>
                </a:solidFill>
                <a:uFill>
                  <a:solidFill>
                    <a:srgbClr val="FFFFFF"/>
                  </a:solidFill>
                </a:uFill>
                <a:latin typeface="Arial"/>
              </a:rPr>
              <a:t> When the recursive call is the last statement to be executed in a function</a:t>
            </a:r>
            <a:endParaRPr lang="en-US" sz="1800" b="0" strike="noStrike" spc="-1">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rPr>
              <a:t>When the recursive call returns, the calling function immediately returns the value</a:t>
            </a:r>
            <a:endParaRPr lang="en-US" sz="1800" b="0" strike="noStrike" spc="-1">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rPr>
              <a:t>This can be easily turned into a loop by using the base case conditions as loop conditions</a:t>
            </a:r>
            <a:endParaRPr lang="en-US" sz="1800" b="0" strike="noStrike" spc="-1">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rPr>
              <a:t>Some compilers automatically optimize tail recursion in this way</a:t>
            </a:r>
            <a:endParaRPr lang="en-US" sz="1800" b="0" strike="noStrike" spc="-1">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rPr>
              <a:t>Stacking</a:t>
            </a:r>
            <a:endParaRPr lang="en-US" sz="1800" b="0" strike="noStrike" spc="-1">
              <a:solidFill>
                <a:srgbClr val="000000"/>
              </a:solidFill>
              <a:uFill>
                <a:solidFill>
                  <a:srgbClr val="FFFFFF"/>
                </a:solidFill>
              </a:uFill>
              <a:latin typeface="Arial"/>
            </a:endParaRPr>
          </a:p>
        </p:txBody>
      </p:sp>
      <p:sp>
        <p:nvSpPr>
          <p:cNvPr id="283"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Recursive methods that </a:t>
            </a:r>
            <a:r>
              <a:rPr lang="en-US" sz="3200" b="0" strike="noStrike" spc="-1" dirty="0" smtClean="0">
                <a:solidFill>
                  <a:srgbClr val="000000"/>
                </a:solidFill>
                <a:uFill>
                  <a:solidFill>
                    <a:srgbClr val="FFFFFF"/>
                  </a:solidFill>
                </a:uFill>
                <a:latin typeface="Arial"/>
              </a:rPr>
              <a:t>aren’t </a:t>
            </a:r>
            <a:r>
              <a:rPr lang="en-US" sz="3200" b="0" strike="noStrike" spc="-1" dirty="0">
                <a:solidFill>
                  <a:srgbClr val="000000"/>
                </a:solidFill>
                <a:uFill>
                  <a:solidFill>
                    <a:srgbClr val="FFFFFF"/>
                  </a:solidFill>
                </a:uFill>
                <a:latin typeface="Arial"/>
              </a:rPr>
              <a:t>tail recursive perform an action after receiving the result of the recursive calls</a:t>
            </a:r>
            <a:endParaRPr lang="en-US" sz="1800" b="0" strike="noStrike" spc="-1" dirty="0">
              <a:solidFill>
                <a:srgbClr val="000000"/>
              </a:solidFill>
              <a:uFill>
                <a:solidFill>
                  <a:srgbClr val="FFFFFF"/>
                </a:solidFill>
              </a:uFill>
              <a:latin typeface="Arial"/>
            </a:endParaRPr>
          </a:p>
          <a:p>
            <a:pPr marL="864000" lvl="1" indent="-323640">
              <a:lnSpc>
                <a:spcPct val="100000"/>
              </a:lnSpc>
              <a:buClr>
                <a:srgbClr val="000000"/>
              </a:buClr>
              <a:buSzPct val="75000"/>
              <a:buFont typeface="Symbol"/>
              <a:buChar char=""/>
            </a:pPr>
            <a:r>
              <a:rPr lang="en-US" sz="2800" b="0" strike="noStrike" spc="-1" dirty="0">
                <a:solidFill>
                  <a:srgbClr val="000000"/>
                </a:solidFill>
                <a:uFill>
                  <a:solidFill>
                    <a:srgbClr val="FFFFFF"/>
                  </a:solidFill>
                </a:uFill>
                <a:latin typeface="Arial"/>
              </a:rPr>
              <a:t>e.g</a:t>
            </a:r>
            <a:r>
              <a:rPr lang="en-US" sz="2800" b="0" strike="noStrike" spc="-1" dirty="0" smtClean="0">
                <a:solidFill>
                  <a:srgbClr val="000000"/>
                </a:solidFill>
                <a:uFill>
                  <a:solidFill>
                    <a:srgbClr val="FFFFFF"/>
                  </a:solidFill>
                </a:uFill>
                <a:latin typeface="Arial"/>
              </a:rPr>
              <a:t>., </a:t>
            </a:r>
            <a:r>
              <a:rPr lang="en-US" sz="2800" b="0" strike="noStrike" spc="-1" dirty="0" err="1">
                <a:solidFill>
                  <a:srgbClr val="000000"/>
                </a:solidFill>
                <a:uFill>
                  <a:solidFill>
                    <a:srgbClr val="FFFFFF"/>
                  </a:solidFill>
                </a:uFill>
                <a:latin typeface="Arial"/>
              </a:rPr>
              <a:t>RevPrint</a:t>
            </a:r>
            <a:r>
              <a:rPr lang="en-US" sz="2800" b="0" strike="noStrike" spc="-1" dirty="0">
                <a:solidFill>
                  <a:srgbClr val="000000"/>
                </a:solidFill>
                <a:uFill>
                  <a:solidFill>
                    <a:srgbClr val="FFFFFF"/>
                  </a:solidFill>
                </a:uFill>
                <a:latin typeface="Arial"/>
              </a:rPr>
              <a:t> prints the item after the rest of the list has been printed</a:t>
            </a:r>
            <a:endParaRPr lang="en-US" sz="1800" b="0" strike="noStrike" spc="-1" dirty="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This can be emulated by using a stack as intermediate storage for results</a:t>
            </a:r>
            <a:endParaRPr lang="en-US" sz="1800" b="0" strike="noStrike" spc="-1" dirty="0">
              <a:solidFill>
                <a:srgbClr val="000000"/>
              </a:solidFill>
              <a:uFill>
                <a:solidFill>
                  <a:srgbClr val="FFFFFF"/>
                </a:solidFill>
              </a:uFill>
              <a:latin typeface="Arial"/>
            </a:endParaRPr>
          </a:p>
          <a:p>
            <a:pPr marL="864000" lvl="1" indent="-323640">
              <a:lnSpc>
                <a:spcPct val="100000"/>
              </a:lnSpc>
              <a:buClr>
                <a:srgbClr val="000000"/>
              </a:buClr>
              <a:buSzPct val="75000"/>
              <a:buFont typeface="Symbol"/>
              <a:buChar char=""/>
            </a:pPr>
            <a:r>
              <a:rPr lang="en-US" sz="2800" b="0" strike="noStrike" spc="-1" dirty="0">
                <a:solidFill>
                  <a:srgbClr val="000000"/>
                </a:solidFill>
                <a:uFill>
                  <a:solidFill>
                    <a:srgbClr val="FFFFFF"/>
                  </a:solidFill>
                </a:uFill>
                <a:latin typeface="Arial"/>
              </a:rPr>
              <a:t>e.g</a:t>
            </a:r>
            <a:r>
              <a:rPr lang="en-US" sz="2800" b="0" strike="noStrike" spc="-1" dirty="0" smtClean="0">
                <a:solidFill>
                  <a:srgbClr val="000000"/>
                </a:solidFill>
                <a:uFill>
                  <a:solidFill>
                    <a:srgbClr val="FFFFFF"/>
                  </a:solidFill>
                </a:uFill>
                <a:latin typeface="Arial"/>
              </a:rPr>
              <a:t>., </a:t>
            </a:r>
            <a:r>
              <a:rPr lang="en-US" sz="2800" spc="-1" dirty="0">
                <a:solidFill>
                  <a:srgbClr val="000000"/>
                </a:solidFill>
                <a:uFill>
                  <a:solidFill>
                    <a:srgbClr val="FFFFFF"/>
                  </a:solidFill>
                </a:uFill>
                <a:latin typeface="Arial"/>
              </a:rPr>
              <a:t>P</a:t>
            </a:r>
            <a:r>
              <a:rPr lang="en-US" sz="2800" b="0" strike="noStrike" spc="-1" dirty="0" smtClean="0">
                <a:solidFill>
                  <a:srgbClr val="000000"/>
                </a:solidFill>
                <a:uFill>
                  <a:solidFill>
                    <a:srgbClr val="FFFFFF"/>
                  </a:solidFill>
                </a:uFill>
                <a:latin typeface="Arial"/>
              </a:rPr>
              <a:t>ush </a:t>
            </a:r>
            <a:r>
              <a:rPr lang="en-US" sz="2800" b="0" strike="noStrike" spc="-1" dirty="0">
                <a:solidFill>
                  <a:srgbClr val="000000"/>
                </a:solidFill>
                <a:uFill>
                  <a:solidFill>
                    <a:srgbClr val="FFFFFF"/>
                  </a:solidFill>
                </a:uFill>
                <a:latin typeface="Arial"/>
              </a:rPr>
              <a:t>each list value to a stack, then pop and print them until the stack is empty</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a:solidFill>
                  <a:srgbClr val="000000"/>
                </a:solidFill>
                <a:uFill>
                  <a:solidFill>
                    <a:srgbClr val="FFFFFF"/>
                  </a:solidFill>
                </a:uFill>
                <a:latin typeface="Arial"/>
              </a:rPr>
              <a:t>Deciding When to Use Recursion</a:t>
            </a:r>
            <a:endParaRPr lang="en-US" sz="1800" b="0" strike="noStrike" spc="-1">
              <a:solidFill>
                <a:srgbClr val="000000"/>
              </a:solidFill>
              <a:uFill>
                <a:solidFill>
                  <a:srgbClr val="FFFFFF"/>
                </a:solidFill>
              </a:uFill>
              <a:latin typeface="Arial"/>
            </a:endParaRPr>
          </a:p>
        </p:txBody>
      </p:sp>
      <p:sp>
        <p:nvSpPr>
          <p:cNvPr id="285"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640">
              <a:lnSpc>
                <a:spcPct val="100000"/>
              </a:lnSpc>
              <a:buClr>
                <a:srgbClr val="000000"/>
              </a:buClr>
              <a:buSzPct val="45000"/>
              <a:buFont typeface="Wingdings" charset="2"/>
              <a:buChar char=""/>
            </a:pPr>
            <a:r>
              <a:rPr lang="en-US" sz="3200" b="1" strike="noStrike" spc="-1" dirty="0">
                <a:solidFill>
                  <a:srgbClr val="000000"/>
                </a:solidFill>
                <a:uFill>
                  <a:solidFill>
                    <a:srgbClr val="FFFFFF"/>
                  </a:solidFill>
                </a:uFill>
                <a:latin typeface="Arial"/>
              </a:rPr>
              <a:t>Efficiency:</a:t>
            </a:r>
            <a:r>
              <a:rPr lang="en-US" sz="3200" b="0" strike="noStrike" spc="-1" dirty="0">
                <a:solidFill>
                  <a:srgbClr val="000000"/>
                </a:solidFill>
                <a:uFill>
                  <a:solidFill>
                    <a:srgbClr val="FFFFFF"/>
                  </a:solidFill>
                </a:uFill>
                <a:latin typeface="Arial"/>
              </a:rPr>
              <a:t> Generally, recursive solutions need more computation time, </a:t>
            </a:r>
            <a:r>
              <a:rPr lang="en-US" sz="3200" b="0" strike="noStrike" spc="-1" dirty="0" smtClean="0">
                <a:solidFill>
                  <a:srgbClr val="000000"/>
                </a:solidFill>
                <a:uFill>
                  <a:solidFill>
                    <a:srgbClr val="FFFFFF"/>
                  </a:solidFill>
                </a:uFill>
                <a:latin typeface="Arial"/>
              </a:rPr>
              <a:t>memory, </a:t>
            </a:r>
            <a:r>
              <a:rPr lang="en-US" sz="3200" b="0" strike="noStrike" spc="-1" dirty="0">
                <a:solidFill>
                  <a:srgbClr val="000000"/>
                </a:solidFill>
                <a:uFill>
                  <a:solidFill>
                    <a:srgbClr val="FFFFFF"/>
                  </a:solidFill>
                </a:uFill>
                <a:latin typeface="Arial"/>
              </a:rPr>
              <a:t>and overhead</a:t>
            </a:r>
            <a:endParaRPr lang="en-US" sz="1800" b="0" strike="noStrike" spc="-1" dirty="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Each recursive call copies value parameters to the stack, for example</a:t>
            </a:r>
            <a:endParaRPr lang="en-US" sz="1800" b="0" strike="noStrike" spc="-1" dirty="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Some recursive algorithms are inherently computationally inefficient, such as the Combinations algorithm earlier in this chapter</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dirty="0">
                <a:solidFill>
                  <a:srgbClr val="000000"/>
                </a:solidFill>
                <a:uFill>
                  <a:solidFill>
                    <a:srgbClr val="FFFFFF"/>
                  </a:solidFill>
                </a:uFill>
                <a:latin typeface="Arial"/>
              </a:rPr>
              <a:t>Deciding When to Use </a:t>
            </a:r>
            <a:r>
              <a:rPr lang="en-US" sz="4400" b="0" strike="noStrike" spc="-1" dirty="0" smtClean="0">
                <a:solidFill>
                  <a:srgbClr val="000000"/>
                </a:solidFill>
                <a:uFill>
                  <a:solidFill>
                    <a:srgbClr val="FFFFFF"/>
                  </a:solidFill>
                </a:uFill>
                <a:latin typeface="Arial"/>
              </a:rPr>
              <a:t>Recursion (cont.)</a:t>
            </a:r>
            <a:endParaRPr lang="en-US" sz="1800" b="0" strike="noStrike" spc="-1" dirty="0">
              <a:solidFill>
                <a:srgbClr val="000000"/>
              </a:solidFill>
              <a:uFill>
                <a:solidFill>
                  <a:srgbClr val="FFFFFF"/>
                </a:solidFill>
              </a:uFill>
              <a:latin typeface="Arial"/>
            </a:endParaRPr>
          </a:p>
        </p:txBody>
      </p:sp>
      <p:sp>
        <p:nvSpPr>
          <p:cNvPr id="287"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640">
              <a:lnSpc>
                <a:spcPct val="100000"/>
              </a:lnSpc>
              <a:buClr>
                <a:srgbClr val="000000"/>
              </a:buClr>
              <a:buSzPct val="45000"/>
              <a:buFont typeface="Wingdings" charset="2"/>
              <a:buChar char=""/>
            </a:pPr>
            <a:r>
              <a:rPr lang="en-US" sz="3200" b="1" strike="noStrike" spc="-1">
                <a:solidFill>
                  <a:srgbClr val="000000"/>
                </a:solidFill>
                <a:uFill>
                  <a:solidFill>
                    <a:srgbClr val="FFFFFF"/>
                  </a:solidFill>
                </a:uFill>
                <a:latin typeface="Arial"/>
              </a:rPr>
              <a:t>Clarity:</a:t>
            </a:r>
            <a:r>
              <a:rPr lang="en-US" sz="3200" b="0" strike="noStrike" spc="-1">
                <a:solidFill>
                  <a:srgbClr val="000000"/>
                </a:solidFill>
                <a:uFill>
                  <a:solidFill>
                    <a:srgbClr val="FFFFFF"/>
                  </a:solidFill>
                </a:uFill>
                <a:latin typeface="Arial"/>
              </a:rPr>
              <a:t> For many problems, the recursive solution is simpler and easier to write</a:t>
            </a:r>
            <a:endParaRPr lang="en-US" sz="1800" b="0" strike="noStrike" spc="-1">
              <a:solidFill>
                <a:srgbClr val="000000"/>
              </a:solidFill>
              <a:uFill>
                <a:solidFill>
                  <a:srgbClr val="FFFFFF"/>
                </a:solidFill>
              </a:uFill>
              <a:latin typeface="Arial"/>
            </a:endParaRPr>
          </a:p>
          <a:p>
            <a:pPr marL="864000" lvl="1" indent="-323640">
              <a:lnSpc>
                <a:spcPct val="100000"/>
              </a:lnSpc>
              <a:buClr>
                <a:srgbClr val="000000"/>
              </a:buClr>
              <a:buSzPct val="75000"/>
              <a:buFont typeface="Symbol"/>
              <a:buChar char=""/>
            </a:pPr>
            <a:r>
              <a:rPr lang="en-US" sz="2800" b="0" strike="noStrike" spc="-1">
                <a:solidFill>
                  <a:srgbClr val="000000"/>
                </a:solidFill>
                <a:uFill>
                  <a:solidFill>
                    <a:srgbClr val="FFFFFF"/>
                  </a:solidFill>
                </a:uFill>
                <a:latin typeface="Arial"/>
              </a:rPr>
              <a:t>Compare the two versions of RevPrint, for example</a:t>
            </a:r>
            <a:endParaRPr lang="en-US" sz="1800" b="0" strike="noStrike" spc="-1">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rPr>
              <a:t>Programmer efficiency should not be ignored</a:t>
            </a:r>
            <a:endParaRPr lang="en-US" sz="1800" b="0" strike="noStrike" spc="-1">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a:solidFill>
                  <a:srgbClr val="000000"/>
                </a:solidFill>
                <a:uFill>
                  <a:solidFill>
                    <a:srgbClr val="FFFFFF"/>
                  </a:solidFill>
                </a:uFill>
                <a:latin typeface="Arial"/>
              </a:rPr>
              <a:t>Sometimes a tradeoff between development time and execution time is well worth it, especially in a team setting</a:t>
            </a:r>
            <a:endParaRPr lang="en-US" sz="1800" b="0" strike="noStrike" spc="-1">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CustomShape 1"/>
          <p:cNvSpPr/>
          <p:nvPr/>
        </p:nvSpPr>
        <p:spPr>
          <a:xfrm>
            <a:off x="504000" y="301320"/>
            <a:ext cx="9070920" cy="1261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US" sz="4400" b="0" strike="noStrike" spc="-1" dirty="0">
                <a:solidFill>
                  <a:srgbClr val="000000"/>
                </a:solidFill>
                <a:uFill>
                  <a:solidFill>
                    <a:srgbClr val="FFFFFF"/>
                  </a:solidFill>
                </a:uFill>
                <a:latin typeface="Arial"/>
              </a:rPr>
              <a:t>When to Use Recursion</a:t>
            </a:r>
            <a:endParaRPr lang="en-US" sz="1800" b="0" strike="noStrike" spc="-1" dirty="0">
              <a:solidFill>
                <a:srgbClr val="000000"/>
              </a:solidFill>
              <a:uFill>
                <a:solidFill>
                  <a:srgbClr val="FFFFFF"/>
                </a:solidFill>
              </a:uFill>
              <a:latin typeface="Arial"/>
            </a:endParaRPr>
          </a:p>
        </p:txBody>
      </p:sp>
      <p:sp>
        <p:nvSpPr>
          <p:cNvPr id="289" name="CustomShape 2"/>
          <p:cNvSpPr/>
          <p:nvPr/>
        </p:nvSpPr>
        <p:spPr>
          <a:xfrm>
            <a:off x="504000" y="1769040"/>
            <a:ext cx="9070920" cy="4383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The depth of recursion is relatively shallow: </a:t>
            </a:r>
            <a:r>
              <a:rPr lang="en-US" sz="3200" b="0" strike="noStrike" spc="-1" dirty="0" err="1">
                <a:solidFill>
                  <a:srgbClr val="000000"/>
                </a:solidFill>
                <a:uFill>
                  <a:solidFill>
                    <a:srgbClr val="FFFFFF"/>
                  </a:solidFill>
                </a:uFill>
                <a:latin typeface="Arial"/>
              </a:rPr>
              <a:t>O(log</a:t>
            </a:r>
            <a:r>
              <a:rPr lang="en-US" sz="3200" b="0" i="1" strike="noStrike" spc="-1" dirty="0" err="1">
                <a:solidFill>
                  <a:srgbClr val="000000"/>
                </a:solidFill>
                <a:uFill>
                  <a:solidFill>
                    <a:srgbClr val="FFFFFF"/>
                  </a:solidFill>
                </a:uFill>
                <a:latin typeface="Arial"/>
              </a:rPr>
              <a:t>N</a:t>
            </a:r>
            <a:r>
              <a:rPr lang="en-US" sz="3200" b="0" strike="noStrike" spc="-1" dirty="0">
                <a:solidFill>
                  <a:srgbClr val="000000"/>
                </a:solidFill>
                <a:uFill>
                  <a:solidFill>
                    <a:srgbClr val="FFFFFF"/>
                  </a:solidFill>
                </a:uFill>
                <a:latin typeface="Arial"/>
              </a:rPr>
              <a:t>) is great, and even O(</a:t>
            </a:r>
            <a:r>
              <a:rPr lang="en-US" sz="3200" b="0" i="1" strike="noStrike" spc="-1" dirty="0">
                <a:solidFill>
                  <a:srgbClr val="000000"/>
                </a:solidFill>
                <a:uFill>
                  <a:solidFill>
                    <a:srgbClr val="FFFFFF"/>
                  </a:solidFill>
                </a:uFill>
                <a:latin typeface="Arial"/>
              </a:rPr>
              <a:t>N</a:t>
            </a:r>
            <a:r>
              <a:rPr lang="en-US" sz="3200" b="0" strike="noStrike" spc="-1" dirty="0">
                <a:solidFill>
                  <a:srgbClr val="000000"/>
                </a:solidFill>
                <a:uFill>
                  <a:solidFill>
                    <a:srgbClr val="FFFFFF"/>
                  </a:solidFill>
                </a:uFill>
                <a:latin typeface="Arial"/>
              </a:rPr>
              <a:t>) can be fine.</a:t>
            </a:r>
            <a:endParaRPr lang="en-US" sz="1800" b="0" strike="noStrike" spc="-1" dirty="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The recursive version does about as much work as the non-recursive </a:t>
            </a:r>
            <a:r>
              <a:rPr lang="en-US" sz="3200" b="0" strike="noStrike" spc="-1" dirty="0" smtClean="0">
                <a:solidFill>
                  <a:srgbClr val="000000"/>
                </a:solidFill>
                <a:uFill>
                  <a:solidFill>
                    <a:srgbClr val="FFFFFF"/>
                  </a:solidFill>
                </a:uFill>
                <a:latin typeface="Arial"/>
              </a:rPr>
              <a:t>version.</a:t>
            </a:r>
            <a:endParaRPr lang="en-US" sz="1800" b="0" strike="noStrike" spc="-1" dirty="0" smtClean="0">
              <a:solidFill>
                <a:srgbClr val="000000"/>
              </a:solidFill>
              <a:uFill>
                <a:solidFill>
                  <a:srgbClr val="FFFFFF"/>
                </a:solidFill>
              </a:uFill>
              <a:latin typeface="Arial"/>
            </a:endParaRPr>
          </a:p>
          <a:p>
            <a:pPr marL="864000" lvl="1" indent="-323640">
              <a:lnSpc>
                <a:spcPct val="100000"/>
              </a:lnSpc>
              <a:buClr>
                <a:srgbClr val="000000"/>
              </a:buClr>
              <a:buSzPct val="75000"/>
              <a:buFont typeface="Symbol"/>
              <a:buChar char=""/>
            </a:pPr>
            <a:r>
              <a:rPr lang="en-US" sz="2800" b="0" strike="noStrike" spc="-1" dirty="0">
                <a:solidFill>
                  <a:srgbClr val="000000"/>
                </a:solidFill>
                <a:uFill>
                  <a:solidFill>
                    <a:srgbClr val="FFFFFF"/>
                  </a:solidFill>
                </a:uFill>
                <a:latin typeface="Arial"/>
              </a:rPr>
              <a:t>e.g</a:t>
            </a:r>
            <a:r>
              <a:rPr lang="en-US" sz="2800" b="0" strike="noStrike" spc="-1" dirty="0" smtClean="0">
                <a:solidFill>
                  <a:srgbClr val="000000"/>
                </a:solidFill>
                <a:uFill>
                  <a:solidFill>
                    <a:srgbClr val="FFFFFF"/>
                  </a:solidFill>
                </a:uFill>
                <a:latin typeface="Arial"/>
              </a:rPr>
              <a:t>., </a:t>
            </a:r>
            <a:r>
              <a:rPr lang="en-US" sz="2800" spc="-1" dirty="0">
                <a:solidFill>
                  <a:srgbClr val="000000"/>
                </a:solidFill>
                <a:uFill>
                  <a:solidFill>
                    <a:srgbClr val="FFFFFF"/>
                  </a:solidFill>
                </a:uFill>
                <a:latin typeface="Arial"/>
              </a:rPr>
              <a:t>B</a:t>
            </a:r>
            <a:r>
              <a:rPr lang="en-US" sz="2800" b="0" strike="noStrike" spc="-1" dirty="0" smtClean="0">
                <a:solidFill>
                  <a:srgbClr val="000000"/>
                </a:solidFill>
                <a:uFill>
                  <a:solidFill>
                    <a:srgbClr val="FFFFFF"/>
                  </a:solidFill>
                </a:uFill>
                <a:latin typeface="Arial"/>
              </a:rPr>
              <a:t>oth </a:t>
            </a:r>
            <a:r>
              <a:rPr lang="en-US" sz="2800" b="0" strike="noStrike" spc="-1" dirty="0">
                <a:solidFill>
                  <a:srgbClr val="000000"/>
                </a:solidFill>
                <a:uFill>
                  <a:solidFill>
                    <a:srgbClr val="FFFFFF"/>
                  </a:solidFill>
                </a:uFill>
                <a:latin typeface="Arial"/>
              </a:rPr>
              <a:t>versions of Binary Search are </a:t>
            </a:r>
            <a:r>
              <a:rPr lang="en-US" sz="2800" b="0" strike="noStrike" spc="-1" dirty="0" err="1">
                <a:solidFill>
                  <a:srgbClr val="000000"/>
                </a:solidFill>
                <a:uFill>
                  <a:solidFill>
                    <a:srgbClr val="FFFFFF"/>
                  </a:solidFill>
                </a:uFill>
                <a:latin typeface="Arial"/>
              </a:rPr>
              <a:t>O(log</a:t>
            </a:r>
            <a:r>
              <a:rPr lang="en-US" sz="2800" b="0" i="1" strike="noStrike" spc="-1" dirty="0" err="1">
                <a:solidFill>
                  <a:srgbClr val="000000"/>
                </a:solidFill>
                <a:uFill>
                  <a:solidFill>
                    <a:srgbClr val="FFFFFF"/>
                  </a:solidFill>
                </a:uFill>
                <a:latin typeface="Arial"/>
              </a:rPr>
              <a:t>N</a:t>
            </a:r>
            <a:r>
              <a:rPr lang="en-US" sz="2800" b="0" strike="noStrike" spc="-1" dirty="0">
                <a:solidFill>
                  <a:srgbClr val="000000"/>
                </a:solidFill>
                <a:uFill>
                  <a:solidFill>
                    <a:srgbClr val="FFFFFF"/>
                  </a:solidFill>
                </a:uFill>
                <a:latin typeface="Arial"/>
              </a:rPr>
              <a:t>), while Combinations is O(2</a:t>
            </a:r>
            <a:r>
              <a:rPr lang="en-US" sz="2800" b="0" i="1" strike="noStrike" spc="-1" dirty="0">
                <a:solidFill>
                  <a:srgbClr val="000000"/>
                </a:solidFill>
                <a:uFill>
                  <a:solidFill>
                    <a:srgbClr val="FFFFFF"/>
                  </a:solidFill>
                </a:uFill>
                <a:latin typeface="Arial"/>
              </a:rPr>
              <a:t>N</a:t>
            </a:r>
            <a:r>
              <a:rPr lang="en-US" sz="2800" b="0" strike="noStrike" spc="-1" dirty="0">
                <a:solidFill>
                  <a:srgbClr val="000000"/>
                </a:solidFill>
                <a:uFill>
                  <a:solidFill>
                    <a:srgbClr val="FFFFFF"/>
                  </a:solidFill>
                </a:uFill>
                <a:latin typeface="Arial"/>
              </a:rPr>
              <a:t>) recursively vs. O(</a:t>
            </a:r>
            <a:r>
              <a:rPr lang="en-US" sz="2800" b="0" i="1" strike="noStrike" spc="-1" dirty="0">
                <a:solidFill>
                  <a:srgbClr val="000000"/>
                </a:solidFill>
                <a:uFill>
                  <a:solidFill>
                    <a:srgbClr val="FFFFFF"/>
                  </a:solidFill>
                </a:uFill>
                <a:latin typeface="Arial"/>
              </a:rPr>
              <a:t>N</a:t>
            </a:r>
            <a:r>
              <a:rPr lang="en-US" sz="2800" b="0" strike="noStrike" spc="-1" dirty="0">
                <a:solidFill>
                  <a:srgbClr val="000000"/>
                </a:solidFill>
                <a:uFill>
                  <a:solidFill>
                    <a:srgbClr val="FFFFFF"/>
                  </a:solidFill>
                </a:uFill>
                <a:latin typeface="Arial"/>
              </a:rPr>
              <a:t>) </a:t>
            </a:r>
            <a:r>
              <a:rPr lang="en-US" sz="2800" b="0" strike="noStrike" spc="-1" dirty="0" smtClean="0">
                <a:solidFill>
                  <a:srgbClr val="000000"/>
                </a:solidFill>
                <a:uFill>
                  <a:solidFill>
                    <a:srgbClr val="FFFFFF"/>
                  </a:solidFill>
                </a:uFill>
                <a:latin typeface="Arial"/>
              </a:rPr>
              <a:t>iteratively.</a:t>
            </a:r>
            <a:endParaRPr lang="en-US" sz="1800" b="0" strike="noStrike" spc="-1" dirty="0" smtClean="0">
              <a:solidFill>
                <a:srgbClr val="000000"/>
              </a:solidFill>
              <a:uFill>
                <a:solidFill>
                  <a:srgbClr val="FFFFFF"/>
                </a:solidFill>
              </a:uFill>
              <a:latin typeface="Arial"/>
            </a:endParaRPr>
          </a:p>
          <a:p>
            <a:pPr marL="432000" indent="-323640">
              <a:lnSpc>
                <a:spcPct val="100000"/>
              </a:lnSpc>
              <a:buClr>
                <a:srgbClr val="000000"/>
              </a:buClr>
              <a:buSzPct val="45000"/>
              <a:buFont typeface="Wingdings" charset="2"/>
              <a:buChar char=""/>
            </a:pPr>
            <a:r>
              <a:rPr lang="en-US" sz="3200" b="0" strike="noStrike" spc="-1" dirty="0">
                <a:solidFill>
                  <a:srgbClr val="000000"/>
                </a:solidFill>
                <a:uFill>
                  <a:solidFill>
                    <a:srgbClr val="FFFFFF"/>
                  </a:solidFill>
                </a:uFill>
                <a:latin typeface="Arial"/>
              </a:rPr>
              <a:t>The recursive version is shorter </a:t>
            </a:r>
            <a:r>
              <a:rPr lang="en-US" sz="3200" b="0" strike="noStrike" spc="-1">
                <a:solidFill>
                  <a:srgbClr val="000000"/>
                </a:solidFill>
                <a:uFill>
                  <a:solidFill>
                    <a:srgbClr val="FFFFFF"/>
                  </a:solidFill>
                </a:uFill>
                <a:latin typeface="Arial"/>
              </a:rPr>
              <a:t>and </a:t>
            </a:r>
            <a:r>
              <a:rPr lang="en-US" sz="3200" b="0" strike="noStrike" spc="-1" smtClean="0">
                <a:solidFill>
                  <a:srgbClr val="000000"/>
                </a:solidFill>
                <a:uFill>
                  <a:solidFill>
                    <a:srgbClr val="FFFFFF"/>
                  </a:solidFill>
                </a:uFill>
                <a:latin typeface="Arial"/>
              </a:rPr>
              <a:t>simpler.</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xmlns:p14="http://schemas.microsoft.com/office/powerpoint/2010/mai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635</TotalTime>
  <Words>3991</Words>
  <Application>Microsoft Macintosh PowerPoint</Application>
  <PresentationFormat>Custom</PresentationFormat>
  <Paragraphs>513</Paragraphs>
  <Slides>69</Slides>
  <Notes>0</Notes>
  <HiddenSlides>0</HiddenSlides>
  <MMClips>0</MMClips>
  <ScaleCrop>false</ScaleCrop>
  <HeadingPairs>
    <vt:vector size="4" baseType="variant">
      <vt:variant>
        <vt:lpstr>Theme</vt:lpstr>
      </vt:variant>
      <vt:variant>
        <vt:i4>4</vt:i4>
      </vt:variant>
      <vt:variant>
        <vt:lpstr>Slide Titles</vt:lpstr>
      </vt:variant>
      <vt:variant>
        <vt:i4>69</vt:i4>
      </vt:variant>
    </vt:vector>
  </HeadingPairs>
  <TitlesOfParts>
    <vt:vector size="73" baseType="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Abithraj Nagarajan</dc:creator>
  <cp:lastModifiedBy>Julie Bolduc</cp:lastModifiedBy>
  <cp:revision>65</cp:revision>
  <dcterms:created xsi:type="dcterms:W3CDTF">2016-08-21T16:34:54Z</dcterms:created>
  <dcterms:modified xsi:type="dcterms:W3CDTF">2016-09-02T19:23:08Z</dcterms:modified>
  <dc:language>en-US</dc:language>
</cp:coreProperties>
</file>